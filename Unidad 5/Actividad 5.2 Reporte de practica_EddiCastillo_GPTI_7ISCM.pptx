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7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520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64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59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275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365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08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291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36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77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91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9946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273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1107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35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881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417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69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651760" cy="548945"/>
          </a:xfrm>
          <a:prstGeom prst="rect">
            <a:avLst/>
          </a:prstGeom>
        </p:spPr>
      </p:pic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18872"/>
            <a:ext cx="1965960" cy="964292"/>
          </a:xfrm>
          <a:prstGeom prst="rect">
            <a:avLst/>
          </a:prstGeom>
        </p:spPr>
      </p:pic>
      <p:pic>
        <p:nvPicPr>
          <p:cNvPr id="6" name="Picture 5" descr="image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91440"/>
            <a:ext cx="1115568" cy="7760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03165" y="1005840"/>
            <a:ext cx="5263749" cy="52322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dirty="0">
                <a:solidFill>
                  <a:srgbClr val="181818"/>
                </a:solidFill>
                <a:latin typeface="Arial"/>
              </a:rPr>
              <a:t>TECNOLÓGICO NACIONAL DE MÉXICO</a:t>
            </a:r>
          </a:p>
          <a:p>
            <a:pPr algn="ctr"/>
            <a:r>
              <a:rPr sz="1500" b="1" dirty="0">
                <a:solidFill>
                  <a:srgbClr val="181818"/>
                </a:solidFill>
                <a:latin typeface="Arial"/>
              </a:rPr>
              <a:t>INSTITUTO TECNOLÓGICO DE FRONTERA COMALAPA</a:t>
            </a:r>
          </a:p>
          <a:p>
            <a:pPr algn="ctr"/>
            <a:endParaRPr sz="1500" b="1" dirty="0">
              <a:solidFill>
                <a:srgbClr val="181818"/>
              </a:solidFill>
              <a:latin typeface="Arial"/>
            </a:endParaRPr>
          </a:p>
          <a:p>
            <a:pPr algn="ctr"/>
            <a:r>
              <a:rPr sz="1300" b="1" dirty="0">
                <a:solidFill>
                  <a:srgbClr val="181818"/>
                </a:solidFill>
                <a:latin typeface="Arial"/>
              </a:rPr>
              <a:t>NOMBRE DE LA MATERIA</a:t>
            </a:r>
          </a:p>
          <a:p>
            <a:pPr algn="ctr"/>
            <a:r>
              <a:rPr sz="1500" b="0" dirty="0" err="1">
                <a:solidFill>
                  <a:srgbClr val="181818"/>
                </a:solidFill>
                <a:latin typeface="Arial"/>
              </a:rPr>
              <a:t>Gestión</a:t>
            </a:r>
            <a:r>
              <a:rPr sz="1500" b="0" dirty="0">
                <a:solidFill>
                  <a:srgbClr val="181818"/>
                </a:solidFill>
                <a:latin typeface="Arial"/>
              </a:rPr>
              <a:t> de </a:t>
            </a:r>
            <a:r>
              <a:rPr sz="1500" b="0" dirty="0" err="1">
                <a:solidFill>
                  <a:srgbClr val="181818"/>
                </a:solidFill>
                <a:latin typeface="Arial"/>
              </a:rPr>
              <a:t>proyectos</a:t>
            </a:r>
            <a:r>
              <a:rPr sz="1500" b="0" dirty="0">
                <a:solidFill>
                  <a:srgbClr val="181818"/>
                </a:solidFill>
                <a:latin typeface="Arial"/>
              </a:rPr>
              <a:t> de TI</a:t>
            </a:r>
          </a:p>
          <a:p>
            <a:pPr algn="ctr"/>
            <a:endParaRPr sz="1500" b="0" dirty="0">
              <a:solidFill>
                <a:srgbClr val="181818"/>
              </a:solidFill>
              <a:latin typeface="Arial"/>
            </a:endParaRPr>
          </a:p>
          <a:p>
            <a:pPr algn="ctr"/>
            <a:r>
              <a:rPr sz="1300" b="1" dirty="0">
                <a:solidFill>
                  <a:srgbClr val="181818"/>
                </a:solidFill>
                <a:latin typeface="Arial"/>
              </a:rPr>
              <a:t>NOMBRE DEL ESTUDIANTE</a:t>
            </a:r>
          </a:p>
          <a:p>
            <a:pPr algn="ctr"/>
            <a:r>
              <a:rPr sz="1500" b="0" dirty="0">
                <a:solidFill>
                  <a:srgbClr val="181818"/>
                </a:solidFill>
                <a:latin typeface="Arial"/>
              </a:rPr>
              <a:t>EDDI URIEL CASTILLO SÁNCHEZ</a:t>
            </a:r>
          </a:p>
          <a:p>
            <a:pPr algn="ctr"/>
            <a:endParaRPr sz="1500" b="0" dirty="0">
              <a:solidFill>
                <a:srgbClr val="181818"/>
              </a:solidFill>
              <a:latin typeface="Arial"/>
            </a:endParaRPr>
          </a:p>
          <a:p>
            <a:pPr algn="ctr"/>
            <a:r>
              <a:rPr sz="1300" b="1" dirty="0">
                <a:solidFill>
                  <a:srgbClr val="181818"/>
                </a:solidFill>
                <a:latin typeface="Arial"/>
              </a:rPr>
              <a:t>CARRERA</a:t>
            </a:r>
          </a:p>
          <a:p>
            <a:pPr algn="ctr"/>
            <a:r>
              <a:rPr sz="1500" b="0" dirty="0">
                <a:solidFill>
                  <a:srgbClr val="181818"/>
                </a:solidFill>
                <a:latin typeface="Arial"/>
              </a:rPr>
              <a:t>INGENIERÍA EN SISTEMAS COMPUTACIONALES</a:t>
            </a:r>
          </a:p>
          <a:p>
            <a:pPr algn="ctr"/>
            <a:endParaRPr sz="1500" b="0" dirty="0">
              <a:solidFill>
                <a:srgbClr val="181818"/>
              </a:solidFill>
              <a:latin typeface="Arial"/>
            </a:endParaRPr>
          </a:p>
          <a:p>
            <a:pPr algn="ctr"/>
            <a:r>
              <a:rPr sz="1300" b="1" dirty="0">
                <a:solidFill>
                  <a:srgbClr val="181818"/>
                </a:solidFill>
                <a:latin typeface="Arial"/>
              </a:rPr>
              <a:t>SEMESTRE</a:t>
            </a:r>
          </a:p>
          <a:p>
            <a:pPr algn="ctr"/>
            <a:r>
              <a:rPr sz="1500" b="0" dirty="0">
                <a:solidFill>
                  <a:srgbClr val="181818"/>
                </a:solidFill>
                <a:latin typeface="Arial"/>
              </a:rPr>
              <a:t>SÉPTIMO SEMESTRE</a:t>
            </a:r>
          </a:p>
          <a:p>
            <a:pPr algn="ctr"/>
            <a:endParaRPr sz="1500" b="0" dirty="0">
              <a:solidFill>
                <a:srgbClr val="181818"/>
              </a:solidFill>
              <a:latin typeface="Arial"/>
            </a:endParaRPr>
          </a:p>
          <a:p>
            <a:pPr algn="ctr"/>
            <a:r>
              <a:rPr sz="1300" b="1" dirty="0">
                <a:solidFill>
                  <a:srgbClr val="181818"/>
                </a:solidFill>
                <a:latin typeface="Arial"/>
              </a:rPr>
              <a:t>NOMBRE DEL DOCENTE</a:t>
            </a:r>
          </a:p>
          <a:p>
            <a:pPr algn="ctr"/>
            <a:r>
              <a:rPr sz="1500" b="0" dirty="0">
                <a:solidFill>
                  <a:srgbClr val="181818"/>
                </a:solidFill>
                <a:latin typeface="Arial"/>
              </a:rPr>
              <a:t>Ing. Javier Francisco Mingo Velázquez</a:t>
            </a:r>
          </a:p>
          <a:p>
            <a:pPr algn="ctr"/>
            <a:endParaRPr sz="1500" b="0" dirty="0">
              <a:solidFill>
                <a:srgbClr val="181818"/>
              </a:solidFill>
              <a:latin typeface="Arial"/>
            </a:endParaRPr>
          </a:p>
          <a:p>
            <a:pPr algn="ctr"/>
            <a:r>
              <a:rPr sz="1300" b="1" dirty="0">
                <a:solidFill>
                  <a:srgbClr val="181818"/>
                </a:solidFill>
                <a:latin typeface="Arial"/>
              </a:rPr>
              <a:t>NOMBRE DEL TRABAJO</a:t>
            </a:r>
          </a:p>
          <a:p>
            <a:pPr algn="ctr"/>
            <a:r>
              <a:rPr sz="1500" b="0" dirty="0" err="1">
                <a:solidFill>
                  <a:srgbClr val="181818"/>
                </a:solidFill>
                <a:latin typeface="Arial"/>
              </a:rPr>
              <a:t>Actividad</a:t>
            </a:r>
            <a:r>
              <a:rPr sz="1500" b="0" dirty="0">
                <a:solidFill>
                  <a:srgbClr val="181818"/>
                </a:solidFill>
                <a:latin typeface="Arial"/>
              </a:rPr>
              <a:t> </a:t>
            </a:r>
            <a:r>
              <a:rPr lang="es-MX" sz="1500" b="0" dirty="0">
                <a:solidFill>
                  <a:srgbClr val="181818"/>
                </a:solidFill>
                <a:latin typeface="Arial"/>
              </a:rPr>
              <a:t>5</a:t>
            </a:r>
            <a:r>
              <a:rPr lang="es-MX" sz="1500" dirty="0">
                <a:solidFill>
                  <a:srgbClr val="181818"/>
                </a:solidFill>
                <a:latin typeface="Arial"/>
              </a:rPr>
              <a:t>.2</a:t>
            </a:r>
            <a:r>
              <a:rPr sz="1500" b="0" dirty="0">
                <a:solidFill>
                  <a:srgbClr val="181818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81818"/>
                </a:solidFill>
                <a:latin typeface="Arial"/>
              </a:rPr>
              <a:t>Reporte</a:t>
            </a:r>
            <a:r>
              <a:rPr sz="1500" b="0" dirty="0">
                <a:solidFill>
                  <a:srgbClr val="181818"/>
                </a:solidFill>
                <a:latin typeface="Arial"/>
              </a:rPr>
              <a:t> de </a:t>
            </a:r>
            <a:r>
              <a:rPr sz="1500" b="0" dirty="0" err="1">
                <a:solidFill>
                  <a:srgbClr val="181818"/>
                </a:solidFill>
                <a:latin typeface="Arial"/>
              </a:rPr>
              <a:t>práctica</a:t>
            </a:r>
            <a:endParaRPr sz="1500" b="0" dirty="0">
              <a:solidFill>
                <a:srgbClr val="181818"/>
              </a:solidFill>
              <a:latin typeface="Arial"/>
            </a:endParaRPr>
          </a:p>
          <a:p>
            <a:pPr algn="ctr"/>
            <a:endParaRPr sz="1500" b="0" dirty="0">
              <a:solidFill>
                <a:srgbClr val="181818"/>
              </a:solidFill>
              <a:latin typeface="Arial"/>
            </a:endParaRPr>
          </a:p>
          <a:p>
            <a:pPr algn="ctr"/>
            <a:r>
              <a:rPr sz="1300" b="1" dirty="0">
                <a:solidFill>
                  <a:srgbClr val="181818"/>
                </a:solidFill>
                <a:latin typeface="Arial"/>
              </a:rPr>
              <a:t>LUGAR Y FECHA</a:t>
            </a:r>
          </a:p>
          <a:p>
            <a:pPr algn="ctr"/>
            <a:r>
              <a:rPr sz="1500" b="0" dirty="0">
                <a:solidFill>
                  <a:srgbClr val="181818"/>
                </a:solidFill>
                <a:latin typeface="Arial"/>
              </a:rPr>
              <a:t>Frontera </a:t>
            </a:r>
            <a:r>
              <a:rPr sz="1500" b="0" dirty="0" err="1">
                <a:solidFill>
                  <a:srgbClr val="181818"/>
                </a:solidFill>
                <a:latin typeface="Arial"/>
              </a:rPr>
              <a:t>Comalapa</a:t>
            </a:r>
            <a:r>
              <a:rPr sz="1500" b="0" dirty="0">
                <a:solidFill>
                  <a:srgbClr val="181818"/>
                </a:solidFill>
                <a:latin typeface="Arial"/>
              </a:rPr>
              <a:t>, Chiapas </a:t>
            </a:r>
            <a:r>
              <a:rPr lang="es-MX" sz="1500" dirty="0">
                <a:solidFill>
                  <a:srgbClr val="181818"/>
                </a:solidFill>
                <a:latin typeface="Arial"/>
              </a:rPr>
              <a:t> 26 de </a:t>
            </a:r>
            <a:r>
              <a:rPr sz="1500" b="0" dirty="0" err="1">
                <a:solidFill>
                  <a:srgbClr val="181818"/>
                </a:solidFill>
                <a:latin typeface="Arial"/>
              </a:rPr>
              <a:t>septiembre</a:t>
            </a:r>
            <a:r>
              <a:rPr sz="1500" b="0" dirty="0">
                <a:solidFill>
                  <a:srgbClr val="181818"/>
                </a:solidFill>
                <a:latin typeface="Arial"/>
              </a:rPr>
              <a:t> de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400800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800" b="1">
                <a:solidFill>
                  <a:srgbClr val="000000"/>
                </a:solidFill>
              </a:rP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5880" y="1874519"/>
            <a:ext cx="9509760" cy="2926080"/>
          </a:xfrm>
        </p:spPr>
        <p:txBody>
          <a:bodyPr/>
          <a:lstStyle/>
          <a:p>
            <a:pPr algn="ctr">
              <a:buNone/>
            </a:pPr>
            <a:r>
              <a:rPr sz="1800" b="0">
                <a:solidFill>
                  <a:srgbClr val="000000"/>
                </a:solidFill>
              </a:rPr>
              <a:t>En esta práctica se trabajó la Unidad 5, enfocada en herramientas tecnológicas para la gestión de proyectos de TI. Para ello se retomaron los proyectos EstacionaTec, Rinconcito VC y LocalMarket, representándolos en Trello, Jira y ProjectLibre.</a:t>
            </a:r>
          </a:p>
          <a:p>
            <a:pPr algn="ctr">
              <a:buNone/>
            </a:pPr>
            <a:endParaRPr sz="1800" b="0">
              <a:solidFill>
                <a:srgbClr val="000000"/>
              </a:solidFill>
            </a:endParaRPr>
          </a:p>
          <a:p>
            <a:pPr algn="ctr">
              <a:buNone/>
            </a:pPr>
            <a:r>
              <a:rPr sz="1800" b="0">
                <a:solidFill>
                  <a:srgbClr val="000000"/>
                </a:solidFill>
              </a:rPr>
              <a:t>La finalidad fue observar cómo cada herramienta ayuda a organizar tareas, dar seguimiento al avance, registrar cambios y visualizar el impacto que puede tener una modificación dentro del proyecto.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800" b="1">
                <a:solidFill>
                  <a:srgbClr val="000000"/>
                </a:solidFill>
              </a:rPr>
              <a:t>Justificación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5880" y="1874519"/>
            <a:ext cx="9509760" cy="2926080"/>
          </a:xfrm>
        </p:spPr>
        <p:txBody>
          <a:bodyPr/>
          <a:lstStyle/>
          <a:p>
            <a:pPr algn="ctr">
              <a:buNone/>
            </a:pPr>
            <a:r>
              <a:rPr sz="1800" b="0">
                <a:solidFill>
                  <a:srgbClr val="000000"/>
                </a:solidFill>
              </a:rPr>
              <a:t>La práctica se justifica porque en los proyectos de TI no basta con definir actividades al inicio, también es necesario dar seguimiento, controlar cambios y usar herramientas que permitan observar el avance real del trabajo.</a:t>
            </a:r>
          </a:p>
          <a:p>
            <a:pPr algn="ctr">
              <a:buNone/>
            </a:pPr>
            <a:endParaRPr sz="1800" b="0">
              <a:solidFill>
                <a:srgbClr val="000000"/>
              </a:solidFill>
            </a:endParaRPr>
          </a:p>
          <a:p>
            <a:pPr algn="ctr">
              <a:buNone/>
            </a:pPr>
            <a:r>
              <a:rPr sz="1800" b="0">
                <a:solidFill>
                  <a:srgbClr val="000000"/>
                </a:solidFill>
              </a:rPr>
              <a:t>Al utilizar Trello, Jira y ProjectLibre se pudo comparar cómo se organizan las tareas, cómo se visualizan los cronogramas y cómo se documenta el control de cambios en cada proyecto.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400" b="1">
                <a:solidFill>
                  <a:srgbClr val="000000"/>
                </a:solidFill>
              </a:rPr>
              <a:t>Paso 1. Elaboración de tableros en Trello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Procedimiento realizado:</a:t>
            </a:r>
          </a:p>
          <a:p>
            <a:pPr algn="l">
              <a:buNone/>
            </a:pPr>
            <a:endParaRPr sz="1200" b="0">
              <a:solidFill>
                <a:srgbClr val="000000"/>
              </a:solidFill>
            </a:endParaRPr>
          </a:p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Se creó un tablero para cada proyecto con columnas básicas: Por hacer, En proceso y Terminado.</a:t>
            </a:r>
          </a:p>
          <a:p>
            <a:pPr algn="l">
              <a:buNone/>
            </a:pPr>
            <a:endParaRPr sz="1200" b="0">
              <a:solidFill>
                <a:srgbClr val="000000"/>
              </a:solidFill>
            </a:endParaRPr>
          </a:p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Después se agregaron tarjetas con actividades principales, por ejemplo levantamiento de requerimientos, diseño, desarrollo, pruebas e implementación.</a:t>
            </a:r>
          </a:p>
          <a:p>
            <a:pPr algn="l">
              <a:buNone/>
            </a:pPr>
            <a:endParaRPr sz="1200" b="0">
              <a:solidFill>
                <a:srgbClr val="000000"/>
              </a:solidFill>
            </a:endParaRPr>
          </a:p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A cada tarjeta se le colocaron etiquetas, responsables simulados, fechas y elementos de seguimiento.</a:t>
            </a:r>
          </a:p>
          <a:p>
            <a:pPr algn="l">
              <a:buNone/>
            </a:pPr>
            <a:endParaRPr sz="1200" b="0">
              <a:solidFill>
                <a:srgbClr val="000000"/>
              </a:solidFill>
            </a:endParaRPr>
          </a:p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Esto permitió visualizar de forma sencilla el flujo de trabajo y saber qué actividades estaban pendientes, cuáles estaban en proceso y cuáles ya se habían completado.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97840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000000"/>
                </a:solidFill>
              </a:rPr>
              <a:t>EstacionaTec – Trello</a:t>
            </a:r>
          </a:p>
        </p:txBody>
      </p:sp>
      <p:pic>
        <p:nvPicPr>
          <p:cNvPr id="5" name="Picture 4" descr="tablero_estacionatec_en_tr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1234440"/>
            <a:ext cx="3086100" cy="2057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97840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000000"/>
                </a:solidFill>
              </a:rPr>
              <a:t>Rinconcito VC – Trello</a:t>
            </a:r>
          </a:p>
        </p:txBody>
      </p:sp>
      <p:pic>
        <p:nvPicPr>
          <p:cNvPr id="7" name="Picture 6" descr="tablero_trello_rinconcito_v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234440"/>
            <a:ext cx="2743200" cy="2057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89320" y="363016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000000"/>
                </a:solidFill>
              </a:rPr>
              <a:t>LocalMarket – Trello</a:t>
            </a:r>
          </a:p>
        </p:txBody>
      </p:sp>
      <p:pic>
        <p:nvPicPr>
          <p:cNvPr id="9" name="Picture 8" descr="tablero_trello_localmarket_en_españ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886200"/>
            <a:ext cx="27432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400" b="1">
                <a:solidFill>
                  <a:srgbClr val="000000"/>
                </a:solidFill>
              </a:rPr>
              <a:t>Paso 2. Elaboración de cronogramas en Jira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Procedimiento realizado:</a:t>
            </a:r>
          </a:p>
          <a:p>
            <a:pPr algn="l">
              <a:buNone/>
            </a:pPr>
            <a:endParaRPr sz="1200" b="0">
              <a:solidFill>
                <a:srgbClr val="000000"/>
              </a:solidFill>
            </a:endParaRPr>
          </a:p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En Jira se representaron los proyectos usando una vista de cronograma o timeline.</a:t>
            </a:r>
          </a:p>
          <a:p>
            <a:pPr algn="l">
              <a:buNone/>
            </a:pPr>
            <a:endParaRPr sz="1200" b="0">
              <a:solidFill>
                <a:srgbClr val="000000"/>
              </a:solidFill>
            </a:endParaRPr>
          </a:p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Se registraron actividades como elementos del proyecto y se acomodaron por fechas de inicio y finalización.</a:t>
            </a:r>
          </a:p>
          <a:p>
            <a:pPr algn="l">
              <a:buNone/>
            </a:pPr>
            <a:endParaRPr sz="1200" b="0">
              <a:solidFill>
                <a:srgbClr val="000000"/>
              </a:solidFill>
            </a:endParaRPr>
          </a:p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También se identificaron tareas relacionadas con el cambio solicitado, como reservación de cajones, integración de pagos y seguimiento de pedidos.</a:t>
            </a:r>
          </a:p>
          <a:p>
            <a:pPr algn="l">
              <a:buNone/>
            </a:pPr>
            <a:endParaRPr sz="1200" b="0">
              <a:solidFill>
                <a:srgbClr val="000000"/>
              </a:solidFill>
            </a:endParaRPr>
          </a:p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Esta herramienta permitió observar la duración de cada actividad, el orden de ejecución y el seguimiento general del avance en un ambiente más orientado a proyectos de software.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97840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000000"/>
                </a:solidFill>
              </a:rPr>
              <a:t>EstacionaTec – Jira</a:t>
            </a:r>
          </a:p>
        </p:txBody>
      </p:sp>
      <p:pic>
        <p:nvPicPr>
          <p:cNvPr id="5" name="Picture 4" descr="cronograma_de_estacionatec_en_ji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1234440"/>
            <a:ext cx="3086100" cy="2057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97840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000000"/>
                </a:solidFill>
              </a:rPr>
              <a:t>Rinconcito VC – Jira</a:t>
            </a:r>
          </a:p>
        </p:txBody>
      </p:sp>
      <p:pic>
        <p:nvPicPr>
          <p:cNvPr id="7" name="Picture 6" descr="timeline_de_proyecto_en_jira_en_españ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590" y="1234440"/>
            <a:ext cx="3086100" cy="2057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89320" y="363016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000000"/>
                </a:solidFill>
              </a:rPr>
              <a:t>LocalMarket – Jira</a:t>
            </a:r>
          </a:p>
        </p:txBody>
      </p:sp>
      <p:pic>
        <p:nvPicPr>
          <p:cNvPr id="9" name="Picture 8" descr="cronograma_jira_de_localmar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3886200"/>
            <a:ext cx="30861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400" b="1">
                <a:solidFill>
                  <a:srgbClr val="000000"/>
                </a:solidFill>
              </a:rPr>
              <a:t>Paso 3. Elaboración de cronogramas en ProjectLibre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Procedimiento realizado:</a:t>
            </a:r>
          </a:p>
          <a:p>
            <a:pPr algn="l">
              <a:buNone/>
            </a:pPr>
            <a:endParaRPr sz="1200" b="0">
              <a:solidFill>
                <a:srgbClr val="000000"/>
              </a:solidFill>
            </a:endParaRPr>
          </a:p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Se abrió un proyecto nuevo en ProjectLibre para cada caso.</a:t>
            </a:r>
          </a:p>
          <a:p>
            <a:pPr algn="l">
              <a:buNone/>
            </a:pPr>
            <a:endParaRPr sz="1200" b="0">
              <a:solidFill>
                <a:srgbClr val="000000"/>
              </a:solidFill>
            </a:endParaRPr>
          </a:p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Se capturaron las actividades principales con su duración, fecha de inicio y fecha de finalización.</a:t>
            </a:r>
          </a:p>
          <a:p>
            <a:pPr algn="l">
              <a:buNone/>
            </a:pPr>
            <a:endParaRPr sz="1200" b="0">
              <a:solidFill>
                <a:srgbClr val="000000"/>
              </a:solidFill>
            </a:endParaRPr>
          </a:p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Después se vincularon las tareas para formar una secuencia lógica del proyecto.</a:t>
            </a:r>
          </a:p>
          <a:p>
            <a:pPr algn="l">
              <a:buNone/>
            </a:pPr>
            <a:endParaRPr sz="1200" b="0">
              <a:solidFill>
                <a:srgbClr val="000000"/>
              </a:solidFill>
            </a:endParaRPr>
          </a:p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Con el diagrama de Gantt se pudo observar el avance, las dependencias y el tiempo estimado de trabajo.</a:t>
            </a:r>
          </a:p>
          <a:p>
            <a:pPr algn="l">
              <a:buNone/>
            </a:pPr>
            <a:endParaRPr sz="1200" b="0">
              <a:solidFill>
                <a:srgbClr val="000000"/>
              </a:solidFill>
            </a:endParaRPr>
          </a:p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Las capturas funcionan como evidencia de los cronogramas elaborados en la herramienta.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97840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000000"/>
                </a:solidFill>
              </a:rPr>
              <a:t>EstacionaTec – ProjectLibre</a:t>
            </a:r>
          </a:p>
        </p:txBody>
      </p:sp>
      <p:pic>
        <p:nvPicPr>
          <p:cNvPr id="5" name="Picture 4" descr="cronograma_gantt_del_proyecto_estacionat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1234440"/>
            <a:ext cx="3086100" cy="2057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97840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000000"/>
                </a:solidFill>
              </a:rPr>
              <a:t>Rinconcito VC – ProjectLibre</a:t>
            </a:r>
          </a:p>
        </p:txBody>
      </p:sp>
      <p:pic>
        <p:nvPicPr>
          <p:cNvPr id="7" name="Picture 6" descr="gráfico_de_gantt_del_proyecto_rinconcito_v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590" y="1234440"/>
            <a:ext cx="3086100" cy="2057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89320" y="363016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000000"/>
                </a:solidFill>
              </a:rPr>
              <a:t>LocalMarket – ProjectLibre</a:t>
            </a:r>
          </a:p>
        </p:txBody>
      </p:sp>
      <p:pic>
        <p:nvPicPr>
          <p:cNvPr id="9" name="Picture 8" descr="cronograma_gantt_de_localmar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3886200"/>
            <a:ext cx="30861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600" b="1">
                <a:solidFill>
                  <a:srgbClr val="000000"/>
                </a:solidFill>
              </a:rPr>
              <a:t>Paso 4. Control de cambios aplicado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417320"/>
            <a:ext cx="10149840" cy="4572000"/>
          </a:xfrm>
        </p:spPr>
        <p:txBody>
          <a:bodyPr/>
          <a:lstStyle/>
          <a:p>
            <a:pPr>
              <a:buNone/>
            </a:pPr>
            <a:r>
              <a:rPr sz="1700" b="0">
                <a:solidFill>
                  <a:srgbClr val="000000"/>
                </a:solidFill>
              </a:rPr>
              <a:t>Para EstacionaTec se consideró como cambio la reservación de cajones desde celular, ya que mejora el control de espacios del estacionamiento.</a:t>
            </a:r>
          </a:p>
          <a:p>
            <a:pPr>
              <a:buNone/>
            </a:pPr>
            <a:r>
              <a:rPr sz="1700" b="0">
                <a:solidFill>
                  <a:srgbClr val="000000"/>
                </a:solidFill>
              </a:rPr>
              <a:t>Para Rinconcito VC se consideró la integración de pagos y validación de vendedores, porque fortalece la confianza de las compras en línea.</a:t>
            </a:r>
          </a:p>
          <a:p>
            <a:pPr>
              <a:buNone/>
            </a:pPr>
            <a:r>
              <a:rPr sz="1700" b="0">
                <a:solidFill>
                  <a:srgbClr val="000000"/>
                </a:solidFill>
              </a:rPr>
              <a:t>Para LocalMarket se consideró el seguimiento de pedidos y reparto a domicilio, ya que permite informar al usuario el estado de su entrega.</a:t>
            </a:r>
          </a:p>
          <a:p>
            <a:pPr>
              <a:buNone/>
            </a:pPr>
            <a:r>
              <a:rPr sz="1700" b="0">
                <a:solidFill>
                  <a:srgbClr val="000000"/>
                </a:solidFill>
              </a:rPr>
              <a:t>En cada caso se revisó el posible impacto en tiempo, actividades y pruebas necesarias antes de aceptar el cambio.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600" b="1">
                <a:solidFill>
                  <a:srgbClr val="000000"/>
                </a:solidFill>
              </a:rPr>
              <a:t>Resultados de la práctica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417320"/>
            <a:ext cx="10149840" cy="4572000"/>
          </a:xfrm>
        </p:spPr>
        <p:txBody>
          <a:bodyPr/>
          <a:lstStyle/>
          <a:p>
            <a:pPr>
              <a:buNone/>
            </a:pPr>
            <a:r>
              <a:rPr sz="1700" b="0">
                <a:solidFill>
                  <a:srgbClr val="000000"/>
                </a:solidFill>
              </a:rPr>
              <a:t>Se elaboraron tableros en Trello para organizar visualmente las actividades de cada proyecto.</a:t>
            </a:r>
          </a:p>
          <a:p>
            <a:pPr>
              <a:buNone/>
            </a:pPr>
            <a:r>
              <a:rPr sz="1700" b="0">
                <a:solidFill>
                  <a:srgbClr val="000000"/>
                </a:solidFill>
              </a:rPr>
              <a:t>Se representaron cronogramas en Jira para visualizar fechas, seguimiento y tareas relacionadas con cambios.</a:t>
            </a:r>
          </a:p>
          <a:p>
            <a:pPr>
              <a:buNone/>
            </a:pPr>
            <a:r>
              <a:rPr sz="1700" b="0">
                <a:solidFill>
                  <a:srgbClr val="000000"/>
                </a:solidFill>
              </a:rPr>
              <a:t>Se construyeron cronogramas en ProjectLibre para observar duraciones, dependencias y avance mediante diagramas de Gantt.</a:t>
            </a:r>
          </a:p>
          <a:p>
            <a:pPr>
              <a:buNone/>
            </a:pPr>
            <a:r>
              <a:rPr sz="1700" b="0">
                <a:solidFill>
                  <a:srgbClr val="000000"/>
                </a:solidFill>
              </a:rPr>
              <a:t>Se comprendió que cada herramienta puede apoyar la gestión del proyecto de una forma distinta: Trello organiza, Jira da seguimiento y ProjectLibre ayuda a planear tiempos.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38E721D-6CE6-2872-F244-AA889751ECF2}"/>
              </a:ext>
            </a:extLst>
          </p:cNvPr>
          <p:cNvSpPr txBox="1"/>
          <p:nvPr/>
        </p:nvSpPr>
        <p:spPr>
          <a:xfrm>
            <a:off x="2893142" y="1630965"/>
            <a:ext cx="61009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MX" dirty="0"/>
          </a:p>
          <a:p>
            <a:r>
              <a:rPr lang="es-MX" dirty="0"/>
              <a:t>Anexo link de </a:t>
            </a:r>
            <a:r>
              <a:rPr lang="es-MX" dirty="0" err="1"/>
              <a:t>git</a:t>
            </a:r>
            <a:r>
              <a:rPr lang="es-MX" dirty="0"/>
              <a:t> </a:t>
            </a:r>
            <a:r>
              <a:rPr lang="es-MX" dirty="0" err="1"/>
              <a:t>hub</a:t>
            </a:r>
            <a:r>
              <a:rPr lang="es-MX" dirty="0"/>
              <a:t> con las actividades utilizadas en este reporte de practica</a:t>
            </a:r>
          </a:p>
          <a:p>
            <a:r>
              <a:rPr lang="es-MX" dirty="0"/>
              <a:t>https://github.com/eddiCastS/Formulario-Gestion-de-proyectos-TI.git</a:t>
            </a:r>
          </a:p>
        </p:txBody>
      </p:sp>
    </p:spTree>
    <p:extLst>
      <p:ext uri="{BB962C8B-B14F-4D97-AF65-F5344CB8AC3E}">
        <p14:creationId xmlns:p14="http://schemas.microsoft.com/office/powerpoint/2010/main" val="1638619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800" b="1">
                <a:solidFill>
                  <a:srgbClr val="000000"/>
                </a:solidFill>
              </a:rP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5880" y="1874519"/>
            <a:ext cx="9509760" cy="2926080"/>
          </a:xfrm>
        </p:spPr>
        <p:txBody>
          <a:bodyPr/>
          <a:lstStyle/>
          <a:p>
            <a:pPr algn="ctr">
              <a:buNone/>
            </a:pPr>
            <a:r>
              <a:rPr sz="1800" b="0">
                <a:solidFill>
                  <a:srgbClr val="000000"/>
                </a:solidFill>
              </a:rPr>
              <a:t>Al finalizar la práctica se comprendió que las herramientas tecnológicas ayudan a organizar, monitorear y controlar mejor los proyectos de TI. En EstacionaTec, Rinconcito VC y LocalMarket se observó que un cambio puede afectar tiempos, actividades y forma de seguimiento.</a:t>
            </a:r>
          </a:p>
          <a:p>
            <a:pPr algn="ctr">
              <a:buNone/>
            </a:pPr>
            <a:endParaRPr sz="1800" b="0">
              <a:solidFill>
                <a:srgbClr val="000000"/>
              </a:solidFill>
            </a:endParaRPr>
          </a:p>
          <a:p>
            <a:pPr algn="ctr">
              <a:buNone/>
            </a:pPr>
            <a:r>
              <a:rPr sz="1800" b="0">
                <a:solidFill>
                  <a:srgbClr val="000000"/>
                </a:solidFill>
              </a:rPr>
              <a:t>El uso de Trello, Jira y ProjectLibre permitió representar el trabajo de manera más clara, comparar el avance y generar evidencias para tomar decisiones más ordenadas dentro del proyecto.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s-MX" sz="2600" b="1" dirty="0">
                <a:solidFill>
                  <a:srgbClr val="000000"/>
                </a:solidFill>
              </a:rPr>
              <a:t>Fuentes de </a:t>
            </a:r>
            <a:r>
              <a:rPr lang="es-MX" sz="2600" b="1" dirty="0" err="1">
                <a:solidFill>
                  <a:srgbClr val="000000"/>
                </a:solidFill>
              </a:rPr>
              <a:t>informacion</a:t>
            </a:r>
            <a:endParaRPr sz="2600" b="1" dirty="0">
              <a:solidFill>
                <a:srgbClr val="0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417320"/>
            <a:ext cx="10149840" cy="4572000"/>
          </a:xfrm>
        </p:spPr>
        <p:txBody>
          <a:bodyPr/>
          <a:lstStyle/>
          <a:p>
            <a:pPr>
              <a:buNone/>
            </a:pPr>
            <a:r>
              <a:rPr sz="1700" b="0">
                <a:solidFill>
                  <a:srgbClr val="000000"/>
                </a:solidFill>
              </a:rPr>
              <a:t>Material proporcionado por el docente: Tema 5 GPTI.</a:t>
            </a:r>
          </a:p>
          <a:p>
            <a:pPr>
              <a:buNone/>
            </a:pPr>
            <a:r>
              <a:rPr sz="1700" b="0">
                <a:solidFill>
                  <a:srgbClr val="000000"/>
                </a:solidFill>
              </a:rPr>
              <a:t>Herramientas y Control de Proyectos – GM.</a:t>
            </a:r>
          </a:p>
          <a:p>
            <a:pPr>
              <a:buNone/>
            </a:pPr>
            <a:r>
              <a:rPr sz="1700" b="0">
                <a:solidFill>
                  <a:srgbClr val="000000"/>
                </a:solidFill>
              </a:rPr>
              <a:t>Herramientas gestión proyectos – DS.</a:t>
            </a:r>
          </a:p>
          <a:p>
            <a:pPr>
              <a:buNone/>
            </a:pPr>
            <a:r>
              <a:rPr sz="1700" b="0">
                <a:solidFill>
                  <a:srgbClr val="000000"/>
                </a:solidFill>
              </a:rPr>
              <a:t>Plantilla de Solicitud de Cambio (RFC) – Proyecto de Software.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</TotalTime>
  <Words>840</Words>
  <Application>Microsoft Office PowerPoint</Application>
  <PresentationFormat>Panorámica</PresentationFormat>
  <Paragraphs>95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Faceta</vt:lpstr>
      <vt:lpstr>Presentación de PowerPoint</vt:lpstr>
      <vt:lpstr>Introducción</vt:lpstr>
      <vt:lpstr>Justificación</vt:lpstr>
      <vt:lpstr>Paso 1. Elaboración de tableros en Trello</vt:lpstr>
      <vt:lpstr>Paso 2. Elaboración de cronogramas en Jira</vt:lpstr>
      <vt:lpstr>Paso 3. Elaboración de cronogramas en ProjectLibre</vt:lpstr>
      <vt:lpstr>Paso 4. Control de cambios aplicado</vt:lpstr>
      <vt:lpstr>Resultados de la práctica</vt:lpstr>
      <vt:lpstr>Presentación de PowerPoint</vt:lpstr>
      <vt:lpstr>Conclusión</vt:lpstr>
      <vt:lpstr>Fuentes de informacion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Eddi Castillo</dc:creator>
  <cp:keywords/>
  <dc:description>generated using python-pptx</dc:description>
  <cp:lastModifiedBy>eddi castillo</cp:lastModifiedBy>
  <cp:revision>2</cp:revision>
  <dcterms:created xsi:type="dcterms:W3CDTF">2013-01-27T09:14:16Z</dcterms:created>
  <dcterms:modified xsi:type="dcterms:W3CDTF">2026-10-03T05:40:34Z</dcterms:modified>
  <cp:category/>
</cp:coreProperties>
</file>