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4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2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42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8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9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38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2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8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70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65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9305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96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9470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48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341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8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6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651760" cy="548945"/>
          </a:xfrm>
          <a:prstGeom prst="rect">
            <a:avLst/>
          </a:prstGeom>
        </p:spPr>
      </p:pic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8872"/>
            <a:ext cx="1965960" cy="964292"/>
          </a:xfrm>
          <a:prstGeom prst="rect">
            <a:avLst/>
          </a:prstGeom>
        </p:spPr>
      </p:pic>
      <p:pic>
        <p:nvPicPr>
          <p:cNvPr id="6" name="Picture 5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91440"/>
            <a:ext cx="1115568" cy="7760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03165" y="1005840"/>
            <a:ext cx="5263749" cy="5232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181818"/>
                </a:solidFill>
                <a:latin typeface="Arial"/>
              </a:rPr>
              <a:t>TECNOLÓGICO NACIONAL DE MÉXICO</a:t>
            </a:r>
          </a:p>
          <a:p>
            <a:pPr algn="ctr"/>
            <a:r>
              <a:rPr sz="1500" b="1" dirty="0">
                <a:solidFill>
                  <a:srgbClr val="181818"/>
                </a:solidFill>
                <a:latin typeface="Arial"/>
              </a:rPr>
              <a:t>INSTITUTO TECNOLÓGICO DE FRONTERA COMALAPA</a:t>
            </a:r>
          </a:p>
          <a:p>
            <a:pPr algn="ctr"/>
            <a:endParaRPr sz="1500" b="1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 LA MATERIA</a:t>
            </a:r>
          </a:p>
          <a:p>
            <a:pPr algn="ctr"/>
            <a:r>
              <a:rPr sz="1500" b="0" dirty="0" err="1">
                <a:solidFill>
                  <a:srgbClr val="181818"/>
                </a:solidFill>
                <a:latin typeface="Arial"/>
              </a:rPr>
              <a:t>Gestión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proyectos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TI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ESTUDIANTE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EDDI URIEL CASTILLO SÁNCHEZ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CARRERA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INGENIERÍA EN SISTEMAS COMPUTACIONALES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SEMESTRE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SÉPTIMO SEMESTRE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DOCENTE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Ing. Javier Francisco Mingo Velázquez</a:t>
            </a: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NOMBRE DEL TRABAJO</a:t>
            </a:r>
          </a:p>
          <a:p>
            <a:pPr algn="ctr"/>
            <a:r>
              <a:rPr sz="1500" b="0" dirty="0" err="1">
                <a:solidFill>
                  <a:srgbClr val="181818"/>
                </a:solidFill>
                <a:latin typeface="Arial"/>
              </a:rPr>
              <a:t>Actividad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</a:t>
            </a:r>
            <a:r>
              <a:rPr lang="es-MX" sz="1500" b="0" dirty="0">
                <a:solidFill>
                  <a:srgbClr val="181818"/>
                </a:solidFill>
                <a:latin typeface="Arial"/>
              </a:rPr>
              <a:t>5</a:t>
            </a:r>
            <a:r>
              <a:rPr lang="es-MX" sz="1500" dirty="0">
                <a:solidFill>
                  <a:srgbClr val="181818"/>
                </a:solidFill>
                <a:latin typeface="Arial"/>
              </a:rPr>
              <a:t>.3 Banco de ejercicios</a:t>
            </a:r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endParaRPr sz="1500" b="0" dirty="0">
              <a:solidFill>
                <a:srgbClr val="181818"/>
              </a:solidFill>
              <a:latin typeface="Arial"/>
            </a:endParaRPr>
          </a:p>
          <a:p>
            <a:pPr algn="ctr"/>
            <a:r>
              <a:rPr sz="1300" b="1" dirty="0">
                <a:solidFill>
                  <a:srgbClr val="181818"/>
                </a:solidFill>
                <a:latin typeface="Arial"/>
              </a:rPr>
              <a:t>LUGAR Y FECHA</a:t>
            </a:r>
          </a:p>
          <a:p>
            <a:pPr algn="ctr"/>
            <a:r>
              <a:rPr sz="1500" b="0" dirty="0">
                <a:solidFill>
                  <a:srgbClr val="181818"/>
                </a:solidFill>
                <a:latin typeface="Arial"/>
              </a:rPr>
              <a:t>Frontera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Comalapa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, Chiapas </a:t>
            </a:r>
            <a:r>
              <a:rPr lang="es-MX" sz="1500">
                <a:solidFill>
                  <a:srgbClr val="181818"/>
                </a:solidFill>
                <a:latin typeface="Arial"/>
              </a:rPr>
              <a:t> 30 </a:t>
            </a:r>
            <a:r>
              <a:rPr lang="es-MX" sz="1500" dirty="0">
                <a:solidFill>
                  <a:srgbClr val="181818"/>
                </a:solidFill>
                <a:latin typeface="Arial"/>
              </a:rPr>
              <a:t>de </a:t>
            </a:r>
            <a:r>
              <a:rPr sz="1500" b="0" dirty="0" err="1">
                <a:solidFill>
                  <a:srgbClr val="181818"/>
                </a:solidFill>
                <a:latin typeface="Arial"/>
              </a:rPr>
              <a:t>septiembre</a:t>
            </a:r>
            <a:r>
              <a:rPr sz="1500" b="0" dirty="0">
                <a:solidFill>
                  <a:srgbClr val="181818"/>
                </a:solidFill>
                <a:latin typeface="Arial"/>
              </a:rPr>
              <a:t> de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6400800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5A5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874519"/>
            <a:ext cx="9509760" cy="2926080"/>
          </a:xfrm>
        </p:spPr>
        <p:txBody>
          <a:bodyPr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El banco de ejercicios de la Unidad 5 presenta los resultados obtenidos al representar los tres proyectos en Trello, Jira y ProjectLibre. A diferencia del reporte de práctica, aquí se muestran principalmente las evidencias y resultados finales de cada ejercicio.</a:t>
            </a:r>
          </a:p>
          <a:p>
            <a:pPr algn="ctr">
              <a:buNone/>
            </a:pPr>
            <a:endParaRPr sz="1800" b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Cada proyecto se trabajó en los tres programas para comparar cómo se observa la organización de tareas, el cronograma y el seguimiento general del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Justificación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874519"/>
            <a:ext cx="9509760" cy="2926080"/>
          </a:xfrm>
        </p:spPr>
        <p:txBody>
          <a:bodyPr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Este banco de ejercicios se justifica porque permite comprobar de forma práctica el uso de herramientas tecnológicas en la gestión de proyectos de TI.</a:t>
            </a:r>
          </a:p>
          <a:p>
            <a:pPr algn="ctr">
              <a:buNone/>
            </a:pPr>
            <a:endParaRPr sz="1800" b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Al mostrar los resultados de EstacionaTec, Rinconcito VC y LocalMarket en diferentes programas, se puede observar qué herramienta facilita más la organización, el control visual y la planeación del tiempo.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 dirty="0" err="1">
                <a:solidFill>
                  <a:srgbClr val="000000"/>
                </a:solidFill>
              </a:rPr>
              <a:t>Ejercicio</a:t>
            </a:r>
            <a:r>
              <a:rPr sz="2400" b="1" dirty="0">
                <a:solidFill>
                  <a:srgbClr val="000000"/>
                </a:solidFill>
              </a:rPr>
              <a:t> </a:t>
            </a:r>
            <a:r>
              <a:rPr lang="es-MX" sz="2400" b="1" dirty="0">
                <a:solidFill>
                  <a:srgbClr val="000000"/>
                </a:solidFill>
              </a:rPr>
              <a:t>1</a:t>
            </a:r>
            <a:r>
              <a:rPr sz="2400" b="1" dirty="0">
                <a:solidFill>
                  <a:srgbClr val="000000"/>
                </a:solidFill>
              </a:rPr>
              <a:t>. </a:t>
            </a:r>
            <a:r>
              <a:rPr sz="2400" b="1" dirty="0" err="1">
                <a:solidFill>
                  <a:srgbClr val="000000"/>
                </a:solidFill>
              </a:rPr>
              <a:t>Resultados</a:t>
            </a:r>
            <a:r>
              <a:rPr sz="2400" b="1" dirty="0">
                <a:solidFill>
                  <a:srgbClr val="000000"/>
                </a:solidFill>
              </a:rPr>
              <a:t> de </a:t>
            </a:r>
            <a:r>
              <a:rPr sz="2400" b="1" dirty="0" err="1">
                <a:solidFill>
                  <a:srgbClr val="000000"/>
                </a:solidFill>
              </a:rPr>
              <a:t>EstacionaTec</a:t>
            </a:r>
            <a:endParaRPr sz="2400" b="1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3063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Proyecto: EstacionaTec</a:t>
            </a: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Sistema para hoteles que controla entradas, salidas y disponibilidad de cajones de estacionamiento.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Cambio analizado: Agregar módulo de reservación de cajones desde celular.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Resultado: El cambio ayuda a evitar filas, mejora la atención al huésped y permite organizar mejor los espacios disponibles.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95097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Trello</a:t>
            </a:r>
          </a:p>
        </p:txBody>
      </p:sp>
      <p:pic>
        <p:nvPicPr>
          <p:cNvPr id="5" name="Picture 4" descr="tablero_estacionatec_en_tr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670" y="1188720"/>
            <a:ext cx="2948939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95097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Jira</a:t>
            </a:r>
          </a:p>
        </p:txBody>
      </p:sp>
      <p:pic>
        <p:nvPicPr>
          <p:cNvPr id="7" name="Picture 6" descr="cronograma_de_estacionatec_en_ji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270" y="1188720"/>
            <a:ext cx="2948939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355701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ProjectLibre</a:t>
            </a:r>
          </a:p>
        </p:txBody>
      </p:sp>
      <p:pic>
        <p:nvPicPr>
          <p:cNvPr id="9" name="Picture 8" descr="cronograma_gantt_del_proyecto_estacionat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3794760"/>
            <a:ext cx="2948939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 dirty="0" err="1">
                <a:solidFill>
                  <a:srgbClr val="000000"/>
                </a:solidFill>
              </a:rPr>
              <a:t>Ejercicio</a:t>
            </a:r>
            <a:r>
              <a:rPr sz="2400" b="1" dirty="0">
                <a:solidFill>
                  <a:srgbClr val="000000"/>
                </a:solidFill>
              </a:rPr>
              <a:t> </a:t>
            </a:r>
            <a:r>
              <a:rPr lang="es-MX" sz="2400" b="1" dirty="0">
                <a:solidFill>
                  <a:srgbClr val="000000"/>
                </a:solidFill>
              </a:rPr>
              <a:t>2</a:t>
            </a:r>
            <a:r>
              <a:rPr sz="2400" b="1" dirty="0">
                <a:solidFill>
                  <a:srgbClr val="000000"/>
                </a:solidFill>
              </a:rPr>
              <a:t>. </a:t>
            </a:r>
            <a:r>
              <a:rPr sz="2400" b="1" dirty="0" err="1">
                <a:solidFill>
                  <a:srgbClr val="000000"/>
                </a:solidFill>
              </a:rPr>
              <a:t>Resultados</a:t>
            </a:r>
            <a:r>
              <a:rPr sz="2400" b="1" dirty="0">
                <a:solidFill>
                  <a:srgbClr val="000000"/>
                </a:solidFill>
              </a:rPr>
              <a:t> de </a:t>
            </a:r>
            <a:r>
              <a:rPr sz="2400" b="1" dirty="0" err="1">
                <a:solidFill>
                  <a:srgbClr val="000000"/>
                </a:solidFill>
              </a:rPr>
              <a:t>Rinconcito</a:t>
            </a:r>
            <a:r>
              <a:rPr sz="2400" b="1" dirty="0">
                <a:solidFill>
                  <a:srgbClr val="000000"/>
                </a:solidFill>
              </a:rPr>
              <a:t> 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3063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Proyecto: Rinconcito VC</a:t>
            </a: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Marketplace de café con catálogo, validación de vendedores, compras en línea e integración de pagos.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Cambio analizado: Integrar pagos con tarjeta y reforzar la validación de vendedores.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Resultado: El cambio aumenta la confianza del comprador, facilita las ventas digitales y mejora la seguridad de las transacciones.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95097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Trello</a:t>
            </a:r>
          </a:p>
        </p:txBody>
      </p:sp>
      <p:pic>
        <p:nvPicPr>
          <p:cNvPr id="5" name="Picture 4" descr="tablero_trello_rinconcito_v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499" y="1188720"/>
            <a:ext cx="2621279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95097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Jira</a:t>
            </a:r>
          </a:p>
        </p:txBody>
      </p:sp>
      <p:pic>
        <p:nvPicPr>
          <p:cNvPr id="7" name="Picture 6" descr="timeline_de_proyecto_en_jira_en_españ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270" y="1188720"/>
            <a:ext cx="2948939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355701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ProjectLibre</a:t>
            </a:r>
          </a:p>
        </p:txBody>
      </p:sp>
      <p:pic>
        <p:nvPicPr>
          <p:cNvPr id="9" name="Picture 8" descr="gráfico_de_gantt_del_proyecto_rinconcito_v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3794760"/>
            <a:ext cx="2948939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400" b="1" dirty="0" err="1">
                <a:solidFill>
                  <a:srgbClr val="000000"/>
                </a:solidFill>
              </a:rPr>
              <a:t>Ejercicio</a:t>
            </a:r>
            <a:r>
              <a:rPr sz="2400" b="1" dirty="0">
                <a:solidFill>
                  <a:srgbClr val="000000"/>
                </a:solidFill>
              </a:rPr>
              <a:t> </a:t>
            </a:r>
            <a:r>
              <a:rPr lang="es-MX" sz="2400" b="1" dirty="0">
                <a:solidFill>
                  <a:srgbClr val="000000"/>
                </a:solidFill>
              </a:rPr>
              <a:t>3</a:t>
            </a:r>
            <a:r>
              <a:rPr sz="2400" b="1" dirty="0">
                <a:solidFill>
                  <a:srgbClr val="000000"/>
                </a:solidFill>
              </a:rPr>
              <a:t>. </a:t>
            </a:r>
            <a:r>
              <a:rPr sz="2400" b="1" dirty="0" err="1">
                <a:solidFill>
                  <a:srgbClr val="000000"/>
                </a:solidFill>
              </a:rPr>
              <a:t>Resultados</a:t>
            </a:r>
            <a:r>
              <a:rPr sz="2400" b="1" dirty="0">
                <a:solidFill>
                  <a:srgbClr val="000000"/>
                </a:solidFill>
              </a:rPr>
              <a:t> de </a:t>
            </a:r>
            <a:r>
              <a:rPr sz="2400" b="1" dirty="0" err="1">
                <a:solidFill>
                  <a:srgbClr val="000000"/>
                </a:solidFill>
              </a:rPr>
              <a:t>LocalMarket</a:t>
            </a:r>
            <a:endParaRPr sz="2400" b="1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3063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Proyecto: LocalMarket</a:t>
            </a: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Marketplace local para publicar productos, registrar usuarios, realizar búsquedas y dar seguimiento a entregas.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Cambio analizado: Agregar seguimiento de pedidos y reparto a domicilio.</a:t>
            </a:r>
          </a:p>
          <a:p>
            <a:pPr algn="l">
              <a:buNone/>
            </a:pPr>
            <a:endParaRPr sz="1200" b="0">
              <a:solidFill>
                <a:srgbClr val="000000"/>
              </a:solidFill>
            </a:endParaRPr>
          </a:p>
          <a:p>
            <a:pPr algn="l">
              <a:buNone/>
            </a:pPr>
            <a:r>
              <a:rPr sz="1200" b="0">
                <a:solidFill>
                  <a:srgbClr val="000000"/>
                </a:solidFill>
              </a:rPr>
              <a:t>Resultado: El cambio mejora la experiencia del usuario porque permite conocer el estado del pedido y coordinar mejor la entrega.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77639" y="95097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Trello</a:t>
            </a:r>
          </a:p>
        </p:txBody>
      </p:sp>
      <p:pic>
        <p:nvPicPr>
          <p:cNvPr id="5" name="Picture 4" descr="tablero_trello_localmarket_en_españ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499" y="1188720"/>
            <a:ext cx="2621279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95097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Jira</a:t>
            </a:r>
          </a:p>
        </p:txBody>
      </p:sp>
      <p:pic>
        <p:nvPicPr>
          <p:cNvPr id="7" name="Picture 6" descr="cronograma_jira_de_local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270" y="1188720"/>
            <a:ext cx="2948939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3557016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100" b="1">
                <a:solidFill>
                  <a:srgbClr val="000000"/>
                </a:solidFill>
              </a:rPr>
              <a:t>ProjectLibre</a:t>
            </a:r>
          </a:p>
        </p:txBody>
      </p:sp>
      <p:pic>
        <p:nvPicPr>
          <p:cNvPr id="9" name="Picture 8" descr="cronograma_gantt_de_localmar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3794760"/>
            <a:ext cx="2948939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600" b="1" dirty="0" err="1">
                <a:solidFill>
                  <a:srgbClr val="000000"/>
                </a:solidFill>
              </a:rPr>
              <a:t>Comparación</a:t>
            </a:r>
            <a:r>
              <a:rPr sz="2600" b="1" dirty="0">
                <a:solidFill>
                  <a:srgbClr val="000000"/>
                </a:solidFill>
              </a:rPr>
              <a:t> de </a:t>
            </a:r>
            <a:r>
              <a:rPr sz="2600" b="1" dirty="0" err="1">
                <a:solidFill>
                  <a:srgbClr val="000000"/>
                </a:solidFill>
              </a:rPr>
              <a:t>resultados</a:t>
            </a:r>
            <a:endParaRPr sz="2600" b="1" dirty="0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417320"/>
            <a:ext cx="10149840" cy="4572000"/>
          </a:xfrm>
        </p:spPr>
        <p:txBody>
          <a:bodyPr/>
          <a:lstStyle/>
          <a:p>
            <a:pPr>
              <a:buNone/>
            </a:pPr>
            <a:r>
              <a:rPr sz="1700" b="0" dirty="0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EA783D-DDD2-E561-CF54-1A5137399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620" y="1417320"/>
            <a:ext cx="6919560" cy="4884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600" b="1" dirty="0" err="1">
                <a:solidFill>
                  <a:srgbClr val="000000"/>
                </a:solidFill>
              </a:rPr>
              <a:t>Cuadro</a:t>
            </a:r>
            <a:r>
              <a:rPr sz="2600" b="1" dirty="0">
                <a:solidFill>
                  <a:srgbClr val="000000"/>
                </a:solidFill>
              </a:rPr>
              <a:t> de </a:t>
            </a:r>
            <a:r>
              <a:rPr sz="2600" b="1" dirty="0" err="1">
                <a:solidFill>
                  <a:srgbClr val="000000"/>
                </a:solidFill>
              </a:rPr>
              <a:t>resultados</a:t>
            </a:r>
            <a:r>
              <a:rPr sz="2600" b="1" dirty="0">
                <a:solidFill>
                  <a:srgbClr val="000000"/>
                </a:solidFill>
              </a:rPr>
              <a:t> </a:t>
            </a:r>
            <a:r>
              <a:rPr sz="2600" b="1" dirty="0" err="1">
                <a:solidFill>
                  <a:srgbClr val="000000"/>
                </a:solidFill>
              </a:rPr>
              <a:t>obtenidos</a:t>
            </a:r>
            <a:endParaRPr sz="2600" b="1" dirty="0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417320"/>
            <a:ext cx="10149840" cy="4572000"/>
          </a:xfrm>
        </p:spPr>
        <p:txBody>
          <a:bodyPr/>
          <a:lstStyle/>
          <a:p>
            <a:pPr>
              <a:buNone/>
            </a:pPr>
            <a:endParaRPr sz="1700" b="0" dirty="0">
              <a:solidFill>
                <a:srgbClr val="00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0A25B5-B4D6-2BB0-842C-0F9F3ED92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257" y="1270000"/>
            <a:ext cx="6858594" cy="46409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sz="2800" b="1">
                <a:solidFill>
                  <a:srgbClr val="000000"/>
                </a:solidFill>
              </a:rP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880" y="1874519"/>
            <a:ext cx="9509760" cy="2926080"/>
          </a:xfrm>
        </p:spPr>
        <p:txBody>
          <a:bodyPr/>
          <a:lstStyle/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Al finalizar el banco de ejercicios se comprobó que Trello, Jira y ProjectLibre pueden utilizarse para representar un mismo proyecto desde diferentes enfoques. Trello ayuda a organizar tareas, Jira permite dar seguimiento al trabajo de software y ProjectLibre facilita la planeación mediante cronogramas.</a:t>
            </a:r>
          </a:p>
          <a:p>
            <a:pPr algn="ctr">
              <a:buNone/>
            </a:pPr>
            <a:endParaRPr sz="1800" b="0">
              <a:solidFill>
                <a:srgbClr val="000000"/>
              </a:solidFill>
            </a:endParaRPr>
          </a:p>
          <a:p>
            <a:pPr algn="ctr">
              <a:buNone/>
            </a:pPr>
            <a:r>
              <a:rPr sz="1800" b="0">
                <a:solidFill>
                  <a:srgbClr val="000000"/>
                </a:solidFill>
              </a:rPr>
              <a:t>Las evidencias de EstacionaTec, Rinconcito VC y LocalMarket muestran que estas herramientas apoyan el control de actividades, la revisión de cambios y la presentación de resultados de manera más clara.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sz="2800" b="1" dirty="0">
                <a:solidFill>
                  <a:srgbClr val="000000"/>
                </a:solidFill>
                <a:latin typeface="Arial"/>
              </a:rPr>
              <a:t>Fuentes de </a:t>
            </a:r>
            <a:r>
              <a:rPr lang="es-MX" sz="2800" b="1">
                <a:solidFill>
                  <a:srgbClr val="000000"/>
                </a:solidFill>
                <a:latin typeface="Arial"/>
              </a:rPr>
              <a:t>informacion</a:t>
            </a:r>
            <a:endParaRPr lang="es-MX" sz="2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840" y="1417320"/>
            <a:ext cx="10149840" cy="4572000"/>
          </a:xfrm>
        </p:spPr>
        <p:txBody>
          <a:bodyPr/>
          <a:lstStyle/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Material proporcionado por el docente: Tema 5 GPTI.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Herramientas y Control de Proyectos – GM.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Herramientas gestión proyectos – DS.</a:t>
            </a:r>
          </a:p>
          <a:p>
            <a:pPr>
              <a:buNone/>
            </a:pPr>
            <a:r>
              <a:rPr sz="1700" b="0">
                <a:solidFill>
                  <a:srgbClr val="000000"/>
                </a:solidFill>
              </a:rPr>
              <a:t>Plantilla de Solicitud de Cambio (RFC) – Proyecto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516</Words>
  <Application>Microsoft Office PowerPoint</Application>
  <PresentationFormat>Panorámica</PresentationFormat>
  <Paragraphs>74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Faceta</vt:lpstr>
      <vt:lpstr>Presentación de PowerPoint</vt:lpstr>
      <vt:lpstr>Introducción</vt:lpstr>
      <vt:lpstr>Justificación</vt:lpstr>
      <vt:lpstr>Ejercicio 1. Resultados de EstacionaTec</vt:lpstr>
      <vt:lpstr>Ejercicio 2. Resultados de Rinconcito VC</vt:lpstr>
      <vt:lpstr>Ejercicio 3. Resultados de LocalMarket</vt:lpstr>
      <vt:lpstr>Comparación de resultados</vt:lpstr>
      <vt:lpstr>Cuadro de resultados obtenidos</vt:lpstr>
      <vt:lpstr>Conclusión</vt:lpstr>
      <vt:lpstr>Fuentes de informacion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Eddi Castillo</dc:creator>
  <cp:keywords/>
  <dc:description>generated using python-pptx</dc:description>
  <cp:lastModifiedBy>eddi castillo</cp:lastModifiedBy>
  <cp:revision>3</cp:revision>
  <dcterms:created xsi:type="dcterms:W3CDTF">2013-01-27T09:14:16Z</dcterms:created>
  <dcterms:modified xsi:type="dcterms:W3CDTF">2026-10-03T07:38:44Z</dcterms:modified>
  <cp:category/>
</cp:coreProperties>
</file>