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23"/>
  </p:notesMasterIdLst>
  <p:sldIdLst>
    <p:sldId id="281" r:id="rId2"/>
    <p:sldId id="257" r:id="rId3"/>
    <p:sldId id="258"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82" r:id="rId20"/>
    <p:sldId id="283" r:id="rId21"/>
    <p:sldId id="279" r:id="rId22"/>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6341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20660995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73930592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4630798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extLst>
      <p:ext uri="{BB962C8B-B14F-4D97-AF65-F5344CB8AC3E}">
        <p14:creationId xmlns:p14="http://schemas.microsoft.com/office/powerpoint/2010/main" val="63194579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6823990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12788022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0103098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extLst>
      <p:ext uri="{BB962C8B-B14F-4D97-AF65-F5344CB8AC3E}">
        <p14:creationId xmlns:p14="http://schemas.microsoft.com/office/powerpoint/2010/main" val="394966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359951849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46453930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644700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62974895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9416510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02617363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extLst>
      <p:ext uri="{BB962C8B-B14F-4D97-AF65-F5344CB8AC3E}">
        <p14:creationId xmlns:p14="http://schemas.microsoft.com/office/powerpoint/2010/main" val="41116114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8/31/2026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129702169"/>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3026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8/31/2026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extLst>
      <p:ext uri="{BB962C8B-B14F-4D97-AF65-F5344CB8AC3E}">
        <p14:creationId xmlns:p14="http://schemas.microsoft.com/office/powerpoint/2010/main" val="2573416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7.xml"/><Relationship Id="rId5" Type="http://schemas.openxmlformats.org/officeDocument/2006/relationships/image" Target="../media/image8.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7.xml"/><Relationship Id="rId5" Type="http://schemas.openxmlformats.org/officeDocument/2006/relationships/image" Target="../media/image13.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7.xml"/><Relationship Id="rId5" Type="http://schemas.openxmlformats.org/officeDocument/2006/relationships/image" Target="../media/image18.png"/><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a:extLst>
              <a:ext uri="{FF2B5EF4-FFF2-40B4-BE49-F238E27FC236}">
                <a16:creationId xmlns:a16="http://schemas.microsoft.com/office/drawing/2014/main" id="{0ACF47F6-D6E6-F779-72D2-7998454BA259}"/>
              </a:ext>
            </a:extLst>
          </p:cNvPr>
          <p:cNvPicPr>
            <a:picLocks/>
          </p:cNvPicPr>
          <p:nvPr/>
        </p:nvPicPr>
        <p:blipFill>
          <a:blip r:embed="rId2" cstate="print"/>
          <a:stretch>
            <a:fillRect/>
          </a:stretch>
        </p:blipFill>
        <p:spPr>
          <a:xfrm>
            <a:off x="1070292" y="110606"/>
            <a:ext cx="2736215" cy="566420"/>
          </a:xfrm>
          <a:prstGeom prst="rect">
            <a:avLst/>
          </a:prstGeom>
        </p:spPr>
      </p:pic>
      <p:pic>
        <p:nvPicPr>
          <p:cNvPr id="3" name="Image 2">
            <a:extLst>
              <a:ext uri="{FF2B5EF4-FFF2-40B4-BE49-F238E27FC236}">
                <a16:creationId xmlns:a16="http://schemas.microsoft.com/office/drawing/2014/main" id="{59AB4131-ADA3-2181-5CA3-BCAE880BE235}"/>
              </a:ext>
            </a:extLst>
          </p:cNvPr>
          <p:cNvPicPr>
            <a:picLocks/>
          </p:cNvPicPr>
          <p:nvPr/>
        </p:nvPicPr>
        <p:blipFill>
          <a:blip r:embed="rId3" cstate="print"/>
          <a:stretch>
            <a:fillRect/>
          </a:stretch>
        </p:blipFill>
        <p:spPr>
          <a:xfrm>
            <a:off x="5673996" y="186547"/>
            <a:ext cx="1071880" cy="528320"/>
          </a:xfrm>
          <a:prstGeom prst="rect">
            <a:avLst/>
          </a:prstGeom>
        </p:spPr>
      </p:pic>
      <p:pic>
        <p:nvPicPr>
          <p:cNvPr id="4" name="Image 3">
            <a:extLst>
              <a:ext uri="{FF2B5EF4-FFF2-40B4-BE49-F238E27FC236}">
                <a16:creationId xmlns:a16="http://schemas.microsoft.com/office/drawing/2014/main" id="{6A94ADEF-8042-2861-DAA0-54A4A5B07478}"/>
              </a:ext>
            </a:extLst>
          </p:cNvPr>
          <p:cNvPicPr>
            <a:picLocks/>
          </p:cNvPicPr>
          <p:nvPr/>
        </p:nvPicPr>
        <p:blipFill>
          <a:blip r:embed="rId4" cstate="print"/>
          <a:stretch>
            <a:fillRect/>
          </a:stretch>
        </p:blipFill>
        <p:spPr>
          <a:xfrm>
            <a:off x="9179514" y="158891"/>
            <a:ext cx="756285" cy="523875"/>
          </a:xfrm>
          <a:prstGeom prst="rect">
            <a:avLst/>
          </a:prstGeom>
        </p:spPr>
      </p:pic>
      <p:sp>
        <p:nvSpPr>
          <p:cNvPr id="6" name="CuadroTexto 5">
            <a:extLst>
              <a:ext uri="{FF2B5EF4-FFF2-40B4-BE49-F238E27FC236}">
                <a16:creationId xmlns:a16="http://schemas.microsoft.com/office/drawing/2014/main" id="{FCACA373-3DDA-7FFB-7FA9-E80D6DB680E8}"/>
              </a:ext>
            </a:extLst>
          </p:cNvPr>
          <p:cNvSpPr txBox="1"/>
          <p:nvPr/>
        </p:nvSpPr>
        <p:spPr>
          <a:xfrm>
            <a:off x="1997945" y="753445"/>
            <a:ext cx="7625027" cy="5270674"/>
          </a:xfrm>
          <a:prstGeom prst="rect">
            <a:avLst/>
          </a:prstGeom>
          <a:noFill/>
        </p:spPr>
        <p:txBody>
          <a:bodyPr wrap="square">
            <a:spAutoFit/>
          </a:bodyPr>
          <a:lstStyle/>
          <a:p>
            <a:pPr marL="229870" marR="5080" algn="ctr">
              <a:spcBef>
                <a:spcPts val="1600"/>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NACIONAL</a:t>
            </a:r>
            <a:r>
              <a:rPr lang="en-US" sz="1200" b="1" spc="-7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3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MÉXICO</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75"/>
              </a:spcBef>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INSTITUTO</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TECNOLÓGICO</a:t>
            </a:r>
            <a:r>
              <a:rPr lang="en-US" sz="1200" b="1" spc="-6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4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FRONTERA</a:t>
            </a:r>
            <a:r>
              <a:rPr lang="en-US" sz="1200" b="1" spc="-9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COMALAPA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8890"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0"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a:t>
            </a:r>
            <a:r>
              <a:rPr lang="en-US" sz="1200" b="1" spc="-1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LA</a:t>
            </a:r>
            <a:r>
              <a:rPr lang="en-US" sz="1200" b="1" spc="-75"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MATERIA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4445" algn="ctr">
              <a:spcBef>
                <a:spcPts val="650"/>
              </a:spcBef>
              <a:spcAft>
                <a:spcPts val="1000"/>
              </a:spcAft>
            </a:pPr>
            <a:r>
              <a:rPr lang="es-ES" sz="1200" dirty="0" err="1">
                <a:effectLst/>
                <a:latin typeface="Arial" panose="020B0604020202020204" pitchFamily="34" charset="0"/>
                <a:ea typeface="Arial" panose="020B0604020202020204" pitchFamily="34" charset="0"/>
                <a:cs typeface="Times New Roman" panose="02020603050405020304" pitchFamily="18" charset="0"/>
              </a:rPr>
              <a:t>Gestion</a:t>
            </a:r>
            <a:r>
              <a:rPr lang="es-ES" sz="1200" dirty="0">
                <a:effectLst/>
                <a:latin typeface="Arial" panose="020B0604020202020204" pitchFamily="34" charset="0"/>
                <a:ea typeface="Arial" panose="020B0604020202020204" pitchFamily="34" charset="0"/>
                <a:cs typeface="Times New Roman" panose="02020603050405020304" pitchFamily="18" charset="0"/>
              </a:rPr>
              <a:t> de proyectos de TI</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ESTUDIANTE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EDDI URIEL CASTILLO SÁNCHEZ</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CARRERA</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10160"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INGENIERÍA</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EN</a:t>
            </a:r>
            <a:r>
              <a:rPr lang="en-US" sz="1200" spc="-30" dirty="0">
                <a:effectLst/>
                <a:latin typeface="Arial" panose="020B0604020202020204" pitchFamily="34" charset="0"/>
                <a:ea typeface="Arial" panose="020B0604020202020204" pitchFamily="34" charset="0"/>
                <a:cs typeface="Times New Roman" panose="02020603050405020304" pitchFamily="18" charset="0"/>
              </a:rPr>
              <a:t> </a:t>
            </a:r>
            <a:r>
              <a:rPr lang="en-US" sz="1200" dirty="0">
                <a:effectLst/>
                <a:latin typeface="Arial" panose="020B0604020202020204" pitchFamily="34" charset="0"/>
                <a:ea typeface="Arial" panose="020B0604020202020204" pitchFamily="34" charset="0"/>
                <a:cs typeface="Times New Roman" panose="02020603050405020304" pitchFamily="18" charset="0"/>
              </a:rPr>
              <a:t>SISTEMAS</a:t>
            </a:r>
            <a:r>
              <a:rPr lang="en-US" sz="1200" spc="5"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COMPUTACIONALES</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b="1" dirty="0">
              <a:effectLst/>
              <a:latin typeface="Arial" panose="020B0604020202020204" pitchFamily="34" charset="0"/>
              <a:ea typeface="Arial" panose="020B0604020202020204" pitchFamily="34" charset="0"/>
              <a:cs typeface="Times New Roman" panose="02020603050405020304" pitchFamily="18" charset="0"/>
            </a:endParaRPr>
          </a:p>
          <a:p>
            <a:pPr marL="229870" marR="5715" algn="ctr">
              <a:spcBef>
                <a:spcPts val="780"/>
              </a:spcBef>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SÉPTIMO</a:t>
            </a:r>
            <a:r>
              <a:rPr lang="en-US" sz="1200" spc="-40" dirty="0">
                <a:effectLst/>
                <a:latin typeface="Arial" panose="020B0604020202020204" pitchFamily="34" charset="0"/>
                <a:ea typeface="Arial" panose="020B0604020202020204" pitchFamily="34" charset="0"/>
                <a:cs typeface="Times New Roman" panose="02020603050405020304" pitchFamily="18" charset="0"/>
              </a:rPr>
              <a:t> </a:t>
            </a:r>
            <a:r>
              <a:rPr lang="en-US" sz="1200" spc="-10" dirty="0">
                <a:effectLst/>
                <a:latin typeface="Arial" panose="020B0604020202020204" pitchFamily="34" charset="0"/>
                <a:ea typeface="Arial" panose="020B0604020202020204" pitchFamily="34" charset="0"/>
                <a:cs typeface="Times New Roman" panose="02020603050405020304" pitchFamily="18" charset="0"/>
              </a:rPr>
              <a:t>SEMESTRE</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DOCENTE</a:t>
            </a:r>
            <a:endParaRPr lang="es-MX" sz="700" b="1" spc="-10" dirty="0">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s-ES" sz="1200" dirty="0">
                <a:latin typeface="Arial" panose="020B0604020202020204" pitchFamily="34" charset="0"/>
                <a:ea typeface="Arial" panose="020B0604020202020204" pitchFamily="34" charset="0"/>
                <a:cs typeface="Times New Roman" panose="02020603050405020304" pitchFamily="18" charset="0"/>
              </a:rPr>
              <a:t>ING, Javier Francisco Mingo </a:t>
            </a:r>
            <a:r>
              <a:rPr lang="es-ES" sz="1200" dirty="0" err="1">
                <a:latin typeface="Arial" panose="020B0604020202020204" pitchFamily="34" charset="0"/>
                <a:ea typeface="Arial" panose="020B0604020202020204" pitchFamily="34" charset="0"/>
                <a:cs typeface="Times New Roman" panose="02020603050405020304" pitchFamily="18" charset="0"/>
              </a:rPr>
              <a:t>Velazquez</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NOMBRE</a:t>
            </a:r>
            <a:r>
              <a:rPr lang="en-US" sz="1200" b="1" spc="-25" dirty="0">
                <a:effectLst/>
                <a:latin typeface="Arial" panose="020B0604020202020204" pitchFamily="34" charset="0"/>
                <a:ea typeface="Arial" panose="020B0604020202020204" pitchFamily="34" charset="0"/>
                <a:cs typeface="Times New Roman" panose="02020603050405020304" pitchFamily="18" charset="0"/>
              </a:rPr>
              <a:t> </a:t>
            </a:r>
            <a:r>
              <a:rPr lang="en-US" sz="1200" b="1" dirty="0">
                <a:effectLst/>
                <a:latin typeface="Arial" panose="020B0604020202020204" pitchFamily="34" charset="0"/>
                <a:ea typeface="Arial" panose="020B0604020202020204" pitchFamily="34" charset="0"/>
                <a:cs typeface="Times New Roman" panose="02020603050405020304" pitchFamily="18" charset="0"/>
              </a:rPr>
              <a:t>DEL</a:t>
            </a:r>
            <a:r>
              <a:rPr lang="en-US" sz="1200" b="1" spc="-50" dirty="0">
                <a:effectLst/>
                <a:latin typeface="Arial" panose="020B0604020202020204" pitchFamily="34" charset="0"/>
                <a:ea typeface="Arial" panose="020B0604020202020204" pitchFamily="34" charset="0"/>
                <a:cs typeface="Times New Roman" panose="02020603050405020304" pitchFamily="18" charset="0"/>
              </a:rPr>
              <a:t> </a:t>
            </a:r>
            <a:r>
              <a:rPr lang="en-US" sz="1200" b="1" spc="-10" dirty="0">
                <a:effectLst/>
                <a:latin typeface="Arial" panose="020B0604020202020204" pitchFamily="34" charset="0"/>
                <a:ea typeface="Arial" panose="020B0604020202020204" pitchFamily="34" charset="0"/>
                <a:cs typeface="Times New Roman" panose="02020603050405020304" pitchFamily="18" charset="0"/>
              </a:rPr>
              <a:t>TRABAJO</a:t>
            </a:r>
          </a:p>
          <a:p>
            <a:pPr algn="ctr"/>
            <a:r>
              <a:rPr lang="es-ES" sz="1400" b="0" i="0" dirty="0">
                <a:solidFill>
                  <a:srgbClr val="212529"/>
                </a:solidFill>
                <a:effectLst/>
                <a:latin typeface="-apple-system"/>
              </a:rPr>
              <a:t>Actividad 1.3 Banco de ejercicios</a:t>
            </a:r>
          </a:p>
          <a:p>
            <a:pPr algn="ctr">
              <a:spcAft>
                <a:spcPts val="1000"/>
              </a:spcAft>
            </a:pPr>
            <a:r>
              <a:rPr lang="en-US" sz="1200" b="1" dirty="0">
                <a:effectLst/>
                <a:latin typeface="Arial" panose="020B0604020202020204" pitchFamily="34" charset="0"/>
                <a:ea typeface="Arial" panose="020B0604020202020204" pitchFamily="34" charset="0"/>
                <a:cs typeface="Times New Roman" panose="02020603050405020304" pitchFamily="18" charset="0"/>
              </a:rPr>
              <a:t>LUGAR Y FECH</a:t>
            </a:r>
            <a:r>
              <a:rPr lang="en-US" sz="1200" b="1" dirty="0">
                <a:latin typeface="Arial" panose="020B0604020202020204" pitchFamily="34" charset="0"/>
                <a:ea typeface="Arial" panose="020B0604020202020204" pitchFamily="34" charset="0"/>
                <a:cs typeface="Times New Roman" panose="02020603050405020304" pitchFamily="18" charset="0"/>
              </a:rPr>
              <a:t>A</a:t>
            </a:r>
          </a:p>
          <a:p>
            <a:pPr algn="ctr">
              <a:spcAft>
                <a:spcPts val="1000"/>
              </a:spcAft>
            </a:pPr>
            <a:r>
              <a:rPr lang="en-US" sz="1200" dirty="0">
                <a:effectLst/>
                <a:latin typeface="Arial" panose="020B0604020202020204" pitchFamily="34" charset="0"/>
                <a:ea typeface="Arial" panose="020B0604020202020204" pitchFamily="34" charset="0"/>
                <a:cs typeface="Times New Roman" panose="02020603050405020304" pitchFamily="18" charset="0"/>
              </a:rPr>
              <a:t>FRONTERA COMALAPA, CHIAPAS </a:t>
            </a:r>
            <a:r>
              <a:rPr lang="en-US" sz="1200">
                <a:effectLst/>
                <a:latin typeface="Arial" panose="020B0604020202020204" pitchFamily="34" charset="0"/>
                <a:ea typeface="Arial" panose="020B0604020202020204" pitchFamily="34" charset="0"/>
                <a:cs typeface="Times New Roman" panose="02020603050405020304" pitchFamily="18" charset="0"/>
              </a:rPr>
              <a:t>A 16  </a:t>
            </a:r>
            <a:r>
              <a:rPr lang="en-US" sz="1200" dirty="0">
                <a:effectLst/>
                <a:latin typeface="Arial" panose="020B0604020202020204" pitchFamily="34" charset="0"/>
                <a:ea typeface="Arial" panose="020B0604020202020204" pitchFamily="34" charset="0"/>
                <a:cs typeface="Times New Roman" panose="02020603050405020304" pitchFamily="18" charset="0"/>
              </a:rPr>
              <a:t>AGOSTO DEL 2026</a:t>
            </a:r>
            <a:endParaRPr lang="es-MX" sz="700" dirty="0">
              <a:effectLst/>
              <a:latin typeface="Arial" panose="020B0604020202020204" pitchFamily="34" charset="0"/>
              <a:ea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5692256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Introducción</a:t>
            </a:r>
            <a:endParaRPr lang="en-US" sz="3000" dirty="0"/>
          </a:p>
        </p:txBody>
      </p:sp>
      <p:sp>
        <p:nvSpPr>
          <p:cNvPr id="4" name="Text 2"/>
          <p:cNvSpPr/>
          <p:nvPr/>
        </p:nvSpPr>
        <p:spPr>
          <a:xfrm>
            <a:off x="685800" y="1234440"/>
            <a:ext cx="10820095" cy="4389120"/>
          </a:xfrm>
          <a:prstGeom prst="rect">
            <a:avLst/>
          </a:prstGeom>
          <a:noFill/>
          <a:ln/>
        </p:spPr>
        <p:txBody>
          <a:bodyPr wrap="square" lIns="254" tIns="254" rIns="254" bIns="254" rtlCol="0" anchor="t">
            <a:normAutofit/>
          </a:bodyPr>
          <a:lstStyle/>
          <a:p>
            <a:pPr marL="0" indent="0">
              <a:buNone/>
            </a:pPr>
            <a:r>
              <a:rPr lang="en-US" sz="2100" dirty="0">
                <a:solidFill>
                  <a:srgbClr val="111111"/>
                </a:solidFill>
                <a:latin typeface="Arial" pitchFamily="34" charset="0"/>
                <a:ea typeface="Arial" pitchFamily="34" charset="-122"/>
                <a:cs typeface="Arial" pitchFamily="34" charset="-120"/>
              </a:rPr>
              <a:t>En este banco de ejercicios se desarrollan tres propuestas de proyectos de TI mediante el llenado de formularios de gestión. Cada ejercicio permite identificar la información general del proyecto, el problema que busca resolver, sus objetivos, recursos, metodología y alcance. Los proyectos seleccionados son EstacionaTEC, Rinconcito VC y LocalMarket, los cuales se relacionan con soluciones tecnológicas aplicadas a servicios, comercio electrónico y administración digital.</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Justificación</a:t>
            </a:r>
            <a:endParaRPr lang="en-US" sz="3000" dirty="0"/>
          </a:p>
        </p:txBody>
      </p:sp>
      <p:sp>
        <p:nvSpPr>
          <p:cNvPr id="4" name="Text 2"/>
          <p:cNvSpPr/>
          <p:nvPr/>
        </p:nvSpPr>
        <p:spPr>
          <a:xfrm>
            <a:off x="685800" y="1234440"/>
            <a:ext cx="10820095" cy="4389120"/>
          </a:xfrm>
          <a:prstGeom prst="rect">
            <a:avLst/>
          </a:prstGeom>
          <a:noFill/>
          <a:ln/>
        </p:spPr>
        <p:txBody>
          <a:bodyPr wrap="square" lIns="254" tIns="254" rIns="254" bIns="254" rtlCol="0" anchor="t">
            <a:normAutofit/>
          </a:bodyPr>
          <a:lstStyle/>
          <a:p>
            <a:pPr marL="0" indent="0">
              <a:buNone/>
            </a:pPr>
            <a:r>
              <a:rPr lang="en-US" sz="2100" dirty="0">
                <a:solidFill>
                  <a:srgbClr val="111111"/>
                </a:solidFill>
                <a:latin typeface="Arial" pitchFamily="34" charset="0"/>
                <a:ea typeface="Arial" pitchFamily="34" charset="-122"/>
                <a:cs typeface="Arial" pitchFamily="34" charset="-120"/>
              </a:rPr>
              <a:t>La elaboración de este banco de ejercicios permite practicar la forma en que se estructura inicialmente un proyecto tecnológico antes de su planeación y ejecución. Al contestar los formularios de cada proyecto, se reconoce la importancia de definir con claridad el problema, los beneficiarios, los recursos, los riesgos y el resultado esperado, evitando que una idea quede incompleta o poco organizada.</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1051560"/>
            <a:ext cx="10820095" cy="411480"/>
          </a:xfrm>
          <a:prstGeom prst="rect">
            <a:avLst/>
          </a:prstGeom>
          <a:noFill/>
          <a:ln/>
        </p:spPr>
        <p:txBody>
          <a:bodyPr wrap="square" lIns="0" tIns="0" rIns="0" bIns="0" rtlCol="0" anchor="ctr"/>
          <a:lstStyle/>
          <a:p>
            <a:pPr marL="0" indent="0">
              <a:buNone/>
            </a:pPr>
            <a:r>
              <a:rPr lang="en-US" sz="2400" dirty="0">
                <a:solidFill>
                  <a:srgbClr val="444444"/>
                </a:solidFill>
                <a:latin typeface="Arial" pitchFamily="34" charset="0"/>
                <a:ea typeface="Arial" pitchFamily="34" charset="-122"/>
                <a:cs typeface="Arial" pitchFamily="34" charset="-120"/>
              </a:rPr>
              <a:t>Ejercicio 1</a:t>
            </a:r>
            <a:endParaRPr lang="en-US" sz="2400" dirty="0"/>
          </a:p>
        </p:txBody>
      </p:sp>
      <p:sp>
        <p:nvSpPr>
          <p:cNvPr id="3" name="Text 1"/>
          <p:cNvSpPr/>
          <p:nvPr/>
        </p:nvSpPr>
        <p:spPr>
          <a:xfrm>
            <a:off x="685800" y="1554480"/>
            <a:ext cx="10820095" cy="685800"/>
          </a:xfrm>
          <a:prstGeom prst="rect">
            <a:avLst/>
          </a:prstGeom>
          <a:noFill/>
          <a:ln/>
        </p:spPr>
        <p:txBody>
          <a:bodyPr wrap="square" lIns="0" tIns="0" rIns="0" bIns="0" rtlCol="0" anchor="ctr"/>
          <a:lstStyle/>
          <a:p>
            <a:pPr marL="0" indent="0">
              <a:buNone/>
            </a:pPr>
            <a:r>
              <a:rPr lang="en-US" sz="4000" b="1" dirty="0">
                <a:solidFill>
                  <a:srgbClr val="111111"/>
                </a:solidFill>
                <a:latin typeface="Arial" pitchFamily="34" charset="0"/>
                <a:ea typeface="Arial" pitchFamily="34" charset="-122"/>
                <a:cs typeface="Arial" pitchFamily="34" charset="-120"/>
              </a:rPr>
              <a:t>EstacionaTEC</a:t>
            </a:r>
            <a:endParaRPr lang="en-US" sz="4000" dirty="0"/>
          </a:p>
        </p:txBody>
      </p:sp>
      <p:sp>
        <p:nvSpPr>
          <p:cNvPr id="4" name="Text 2"/>
          <p:cNvSpPr/>
          <p:nvPr/>
        </p:nvSpPr>
        <p:spPr>
          <a:xfrm>
            <a:off x="685800" y="2423160"/>
            <a:ext cx="10820095" cy="384048"/>
          </a:xfrm>
          <a:prstGeom prst="rect">
            <a:avLst/>
          </a:prstGeom>
          <a:noFill/>
          <a:ln/>
        </p:spPr>
        <p:txBody>
          <a:bodyPr wrap="square" lIns="0" tIns="0" rIns="0" bIns="0" rtlCol="0" anchor="ctr"/>
          <a:lstStyle/>
          <a:p>
            <a:pPr marL="0" indent="0">
              <a:buNone/>
            </a:pPr>
            <a:r>
              <a:rPr lang="en-US" sz="2200" dirty="0">
                <a:solidFill>
                  <a:srgbClr val="111111"/>
                </a:solidFill>
                <a:latin typeface="Arial" pitchFamily="34" charset="0"/>
                <a:ea typeface="Arial" pitchFamily="34" charset="-122"/>
                <a:cs typeface="Arial" pitchFamily="34" charset="-120"/>
              </a:rPr>
              <a:t>Responsable: Eddi Uriel Castillo Sánchez</a:t>
            </a:r>
            <a:endParaRPr lang="en-US" sz="2200" dirty="0"/>
          </a:p>
        </p:txBody>
      </p:sp>
      <p:sp>
        <p:nvSpPr>
          <p:cNvPr id="5" name="Text 3"/>
          <p:cNvSpPr/>
          <p:nvPr/>
        </p:nvSpPr>
        <p:spPr>
          <a:xfrm>
            <a:off x="685800" y="3063240"/>
            <a:ext cx="10820095" cy="1234440"/>
          </a:xfrm>
          <a:prstGeom prst="rect">
            <a:avLst/>
          </a:prstGeom>
          <a:noFill/>
          <a:ln/>
        </p:spPr>
        <p:txBody>
          <a:bodyPr wrap="square" lIns="254" tIns="254" rIns="254" bIns="254" rtlCol="0" anchor="ctr">
            <a:normAutofit/>
          </a:bodyPr>
          <a:lstStyle/>
          <a:p>
            <a:pPr marL="0" indent="0">
              <a:buNone/>
            </a:pPr>
            <a:r>
              <a:rPr lang="en-US" sz="2300" dirty="0">
                <a:solidFill>
                  <a:srgbClr val="111111"/>
                </a:solidFill>
                <a:latin typeface="Arial" pitchFamily="34" charset="0"/>
                <a:ea typeface="Arial" pitchFamily="34" charset="-122"/>
                <a:cs typeface="Arial" pitchFamily="34" charset="-120"/>
              </a:rPr>
              <a:t>Sistema para hoteles que registra entradas y salidas de vehículos, además de mostrar espacios ocupados y disponibles.</a:t>
            </a:r>
            <a:endParaRPr lang="en-US" sz="2300" dirty="0"/>
          </a:p>
        </p:txBody>
      </p:sp>
      <p:sp>
        <p:nvSpPr>
          <p:cNvPr id="6" name="Text 4"/>
          <p:cNvSpPr/>
          <p:nvPr/>
        </p:nvSpPr>
        <p:spPr>
          <a:xfrm>
            <a:off x="685800" y="4892040"/>
            <a:ext cx="10820095" cy="36576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1 — Formulario 1</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Nombre del proyecto: EstacionaTEC.</a:t>
            </a:r>
            <a:endParaRPr lang="en-US" sz="1850" dirty="0"/>
          </a:p>
          <a:p>
            <a:r>
              <a:rPr lang="en-US" sz="1850" dirty="0">
                <a:solidFill>
                  <a:srgbClr val="111111"/>
                </a:solidFill>
                <a:latin typeface="Arial" pitchFamily="34" charset="0"/>
                <a:ea typeface="Arial" pitchFamily="34" charset="-122"/>
                <a:cs typeface="Arial" pitchFamily="34" charset="-120"/>
              </a:rPr>
              <a:t>Empresa: EstacionaTEC Solutions.</a:t>
            </a:r>
            <a:endParaRPr lang="en-US" sz="1850" dirty="0"/>
          </a:p>
          <a:p>
            <a:r>
              <a:rPr lang="en-US" sz="1850" dirty="0">
                <a:solidFill>
                  <a:srgbClr val="111111"/>
                </a:solidFill>
                <a:latin typeface="Arial" pitchFamily="34" charset="0"/>
                <a:ea typeface="Arial" pitchFamily="34" charset="-122"/>
                <a:cs typeface="Arial" pitchFamily="34" charset="-120"/>
              </a:rPr>
              <a:t>Área: Desarrollo de Sistemas y Administración Hotelera.</a:t>
            </a:r>
            <a:endParaRPr lang="en-US" sz="1850" dirty="0"/>
          </a:p>
          <a:p>
            <a:r>
              <a:rPr lang="en-US" sz="1850" dirty="0">
                <a:solidFill>
                  <a:srgbClr val="111111"/>
                </a:solidFill>
                <a:latin typeface="Arial" pitchFamily="34" charset="0"/>
                <a:ea typeface="Arial" pitchFamily="34" charset="-122"/>
                <a:cs typeface="Arial" pitchFamily="34" charset="-120"/>
              </a:rPr>
              <a:t>Fecha de inicio: 07 de septiembre de 2026.</a:t>
            </a:r>
            <a:endParaRPr lang="en-US" sz="1850" dirty="0"/>
          </a:p>
          <a:p>
            <a:r>
              <a:rPr lang="en-US" sz="1850" dirty="0">
                <a:solidFill>
                  <a:srgbClr val="111111"/>
                </a:solidFill>
                <a:latin typeface="Arial" pitchFamily="34" charset="0"/>
                <a:ea typeface="Arial" pitchFamily="34" charset="-122"/>
                <a:cs typeface="Arial" pitchFamily="34" charset="-120"/>
              </a:rPr>
              <a:t>Finalización estimada: 25 de octubre de 2026.</a:t>
            </a:r>
            <a:endParaRPr lang="en-US" sz="1850" dirty="0"/>
          </a:p>
          <a:p>
            <a:r>
              <a:rPr lang="en-US" sz="1850" dirty="0">
                <a:solidFill>
                  <a:srgbClr val="111111"/>
                </a:solidFill>
                <a:latin typeface="Arial" pitchFamily="34" charset="0"/>
                <a:ea typeface="Arial" pitchFamily="34" charset="-122"/>
                <a:cs typeface="Arial" pitchFamily="34" charset="-120"/>
              </a:rPr>
              <a:t>Duración: 7 semanas.</a:t>
            </a:r>
            <a:endParaRPr lang="en-US" sz="1850" dirty="0"/>
          </a:p>
          <a:p>
            <a:r>
              <a:rPr lang="en-US" sz="1850" dirty="0">
                <a:solidFill>
                  <a:srgbClr val="111111"/>
                </a:solidFill>
                <a:latin typeface="Arial" pitchFamily="34" charset="0"/>
                <a:ea typeface="Arial" pitchFamily="34" charset="-122"/>
                <a:cs typeface="Arial" pitchFamily="34" charset="-120"/>
              </a:rPr>
              <a:t>Tipo de proyecto: tecnológico, software y empresarial.</a:t>
            </a:r>
            <a:endParaRPr lang="en-US" sz="1850" dirty="0"/>
          </a:p>
          <a:p>
            <a:r>
              <a:rPr lang="en-US" sz="1850" dirty="0">
                <a:solidFill>
                  <a:srgbClr val="111111"/>
                </a:solidFill>
                <a:latin typeface="Arial" pitchFamily="34" charset="0"/>
                <a:ea typeface="Arial" pitchFamily="34" charset="-122"/>
                <a:cs typeface="Arial" pitchFamily="34" charset="-120"/>
              </a:rPr>
              <a:t>Metodología: Ágil — Scrum.</a:t>
            </a:r>
            <a:endParaRPr lang="en-US" sz="1850" dirty="0"/>
          </a:p>
        </p:txBody>
      </p:sp>
      <p:pic>
        <p:nvPicPr>
          <p:cNvPr id="5" name="Picture 4" descr="Captura de pantalla 2026-08-31 210922.png"/>
          <p:cNvPicPr>
            <a:picLocks noChangeAspect="1"/>
          </p:cNvPicPr>
          <p:nvPr/>
        </p:nvPicPr>
        <p:blipFill>
          <a:blip r:embed="rId3"/>
          <a:stretch>
            <a:fillRect/>
          </a:stretch>
        </p:blipFill>
        <p:spPr>
          <a:xfrm>
            <a:off x="7852921" y="1417320"/>
            <a:ext cx="3267957" cy="4343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1 — Formulario 2</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Situación actual: el registro de vehículos se realiza de forma manual.</a:t>
            </a:r>
            <a:endParaRPr lang="en-US" sz="1850" dirty="0"/>
          </a:p>
          <a:p>
            <a:r>
              <a:rPr lang="en-US" sz="1850" dirty="0">
                <a:solidFill>
                  <a:srgbClr val="111111"/>
                </a:solidFill>
                <a:latin typeface="Arial" pitchFamily="34" charset="0"/>
                <a:ea typeface="Arial" pitchFamily="34" charset="-122"/>
                <a:cs typeface="Arial" pitchFamily="34" charset="-120"/>
              </a:rPr>
              <a:t>Problema: no existe un sistema digital para controlar entradas, salidas y disponibilidad.</a:t>
            </a:r>
            <a:endParaRPr lang="en-US" sz="1850" dirty="0"/>
          </a:p>
          <a:p>
            <a:r>
              <a:rPr lang="en-US" sz="1850" dirty="0">
                <a:solidFill>
                  <a:srgbClr val="111111"/>
                </a:solidFill>
                <a:latin typeface="Arial" pitchFamily="34" charset="0"/>
                <a:ea typeface="Arial" pitchFamily="34" charset="-122"/>
                <a:cs typeface="Arial" pitchFamily="34" charset="-120"/>
              </a:rPr>
              <a:t>Necesidad: centralizar la información de vehículos y espacios.</a:t>
            </a:r>
            <a:endParaRPr lang="en-US" sz="1850" dirty="0"/>
          </a:p>
          <a:p>
            <a:r>
              <a:rPr lang="en-US" sz="1850" dirty="0">
                <a:solidFill>
                  <a:srgbClr val="111111"/>
                </a:solidFill>
                <a:latin typeface="Arial" pitchFamily="34" charset="0"/>
                <a:ea typeface="Arial" pitchFamily="34" charset="-122"/>
                <a:cs typeface="Arial" pitchFamily="34" charset="-120"/>
              </a:rPr>
              <a:t>Beneficiarios directos: recepción, administración y vigilancia.</a:t>
            </a:r>
            <a:endParaRPr lang="en-US" sz="1850" dirty="0"/>
          </a:p>
          <a:p>
            <a:r>
              <a:rPr lang="en-US" sz="1850" dirty="0">
                <a:solidFill>
                  <a:srgbClr val="111111"/>
                </a:solidFill>
                <a:latin typeface="Arial" pitchFamily="34" charset="0"/>
                <a:ea typeface="Arial" pitchFamily="34" charset="-122"/>
                <a:cs typeface="Arial" pitchFamily="34" charset="-120"/>
              </a:rPr>
              <a:t>Riesgos: retrasos, recursos limitados, fallas de red y resistencia al cambio.</a:t>
            </a:r>
            <a:endParaRPr lang="en-US" sz="1850" dirty="0"/>
          </a:p>
        </p:txBody>
      </p:sp>
      <p:pic>
        <p:nvPicPr>
          <p:cNvPr id="5" name="Picture 4" descr="Captura de pantalla 2026-08-31 210935.png"/>
          <p:cNvPicPr>
            <a:picLocks noChangeAspect="1"/>
          </p:cNvPicPr>
          <p:nvPr/>
        </p:nvPicPr>
        <p:blipFill>
          <a:blip r:embed="rId3"/>
          <a:stretch>
            <a:fillRect/>
          </a:stretch>
        </p:blipFill>
        <p:spPr>
          <a:xfrm>
            <a:off x="7892443" y="1417320"/>
            <a:ext cx="3188914" cy="434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1 — Formularios 3 y 4</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Objetivo general: desarrollar un sistema de gestión de estacionamiento para hoteles.</a:t>
            </a:r>
            <a:endParaRPr lang="en-US" sz="1850" dirty="0"/>
          </a:p>
          <a:p>
            <a:r>
              <a:rPr lang="en-US" sz="1850" dirty="0">
                <a:solidFill>
                  <a:srgbClr val="111111"/>
                </a:solidFill>
                <a:latin typeface="Arial" pitchFamily="34" charset="0"/>
                <a:ea typeface="Arial" pitchFamily="34" charset="-122"/>
                <a:cs typeface="Arial" pitchFamily="34" charset="-120"/>
              </a:rPr>
              <a:t>Objetivos específicos: registrar vehículos, controlar entradas y salidas, mostrar disponibilidad y generar historial.</a:t>
            </a:r>
            <a:endParaRPr lang="en-US" sz="1850" dirty="0"/>
          </a:p>
          <a:p>
            <a:r>
              <a:rPr lang="en-US" sz="1850" dirty="0">
                <a:solidFill>
                  <a:srgbClr val="111111"/>
                </a:solidFill>
                <a:latin typeface="Arial" pitchFamily="34" charset="0"/>
                <a:ea typeface="Arial" pitchFamily="34" charset="-122"/>
                <a:cs typeface="Arial" pitchFamily="34" charset="-120"/>
              </a:rPr>
              <a:t>Alcance: sistema web para administrar vehículos y espacios disponibles.</a:t>
            </a:r>
            <a:endParaRPr lang="en-US" sz="1850" dirty="0"/>
          </a:p>
          <a:p>
            <a:r>
              <a:rPr lang="en-US" sz="1850" dirty="0">
                <a:solidFill>
                  <a:srgbClr val="111111"/>
                </a:solidFill>
                <a:latin typeface="Arial" pitchFamily="34" charset="0"/>
                <a:ea typeface="Arial" pitchFamily="34" charset="-122"/>
                <a:cs typeface="Arial" pitchFamily="34" charset="-120"/>
              </a:rPr>
              <a:t>Incluye: inicio de sesión, registros, historial y panel administrativo.</a:t>
            </a:r>
            <a:endParaRPr lang="en-US" sz="1850" dirty="0"/>
          </a:p>
          <a:p>
            <a:r>
              <a:rPr lang="en-US" sz="1850" dirty="0">
                <a:solidFill>
                  <a:srgbClr val="111111"/>
                </a:solidFill>
                <a:latin typeface="Arial" pitchFamily="34" charset="0"/>
                <a:ea typeface="Arial" pitchFamily="34" charset="-122"/>
                <a:cs typeface="Arial" pitchFamily="34" charset="-120"/>
              </a:rPr>
              <a:t>No incluye: cobro automático, reconocimiento de placas ni apertura física de barreras.</a:t>
            </a:r>
            <a:endParaRPr lang="en-US" sz="1850" dirty="0"/>
          </a:p>
        </p:txBody>
      </p:sp>
      <p:pic>
        <p:nvPicPr>
          <p:cNvPr id="5" name="Picture 4" descr="Captura de pantalla 2026-08-31 210943.png"/>
          <p:cNvPicPr>
            <a:picLocks noChangeAspect="1"/>
          </p:cNvPicPr>
          <p:nvPr/>
        </p:nvPicPr>
        <p:blipFill>
          <a:blip r:embed="rId3"/>
          <a:stretch>
            <a:fillRect/>
          </a:stretch>
        </p:blipFill>
        <p:spPr>
          <a:xfrm>
            <a:off x="7543800" y="2290592"/>
            <a:ext cx="1897380" cy="2596855"/>
          </a:xfrm>
          <a:prstGeom prst="rect">
            <a:avLst/>
          </a:prstGeom>
        </p:spPr>
      </p:pic>
      <p:pic>
        <p:nvPicPr>
          <p:cNvPr id="6" name="Picture 5" descr="Captura de pantalla 2026-08-31 210951.png"/>
          <p:cNvPicPr>
            <a:picLocks noChangeAspect="1"/>
          </p:cNvPicPr>
          <p:nvPr/>
        </p:nvPicPr>
        <p:blipFill>
          <a:blip r:embed="rId4"/>
          <a:stretch>
            <a:fillRect/>
          </a:stretch>
        </p:blipFill>
        <p:spPr>
          <a:xfrm>
            <a:off x="9532620" y="2424623"/>
            <a:ext cx="1897380" cy="232879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Capturas del Ejercicio 1</a:t>
            </a:r>
            <a:endParaRPr lang="en-US" sz="3000" dirty="0"/>
          </a:p>
        </p:txBody>
      </p:sp>
      <p:sp>
        <p:nvSpPr>
          <p:cNvPr id="10" name="Text 8"/>
          <p:cNvSpPr/>
          <p:nvPr/>
        </p:nvSpPr>
        <p:spPr>
          <a:xfrm>
            <a:off x="914400" y="3977640"/>
            <a:ext cx="10424160" cy="640080"/>
          </a:xfrm>
          <a:prstGeom prst="rect">
            <a:avLst/>
          </a:prstGeom>
          <a:noFill/>
          <a:ln/>
        </p:spPr>
        <p:txBody>
          <a:bodyPr wrap="square" lIns="254" tIns="254" rIns="254" bIns="254" rtlCol="0" anchor="ctr"/>
          <a:lstStyle/>
          <a:p>
            <a:pPr marL="0" indent="0" algn="ctr">
              <a:buNone/>
            </a:pPr>
            <a:endParaRPr lang="en-US" sz="2200" dirty="0"/>
          </a:p>
        </p:txBody>
      </p:sp>
      <p:pic>
        <p:nvPicPr>
          <p:cNvPr id="11" name="Picture 10" descr="image.png"/>
          <p:cNvPicPr>
            <a:picLocks noChangeAspect="1"/>
          </p:cNvPicPr>
          <p:nvPr/>
        </p:nvPicPr>
        <p:blipFill>
          <a:blip r:embed="rId3"/>
          <a:stretch>
            <a:fillRect/>
          </a:stretch>
        </p:blipFill>
        <p:spPr>
          <a:xfrm>
            <a:off x="1222698" y="1195251"/>
            <a:ext cx="2276281" cy="3025376"/>
          </a:xfrm>
          <a:prstGeom prst="rect">
            <a:avLst/>
          </a:prstGeom>
        </p:spPr>
      </p:pic>
      <p:pic>
        <p:nvPicPr>
          <p:cNvPr id="12" name="Picture 11" descr="image.png"/>
          <p:cNvPicPr>
            <a:picLocks noChangeAspect="1"/>
          </p:cNvPicPr>
          <p:nvPr/>
        </p:nvPicPr>
        <p:blipFill>
          <a:blip r:embed="rId4"/>
          <a:stretch>
            <a:fillRect/>
          </a:stretch>
        </p:blipFill>
        <p:spPr>
          <a:xfrm>
            <a:off x="4142825" y="1417319"/>
            <a:ext cx="2090024" cy="2846679"/>
          </a:xfrm>
          <a:prstGeom prst="rect">
            <a:avLst/>
          </a:prstGeom>
        </p:spPr>
      </p:pic>
      <p:pic>
        <p:nvPicPr>
          <p:cNvPr id="13" name="Picture 12" descr="combo1_f34.png"/>
          <p:cNvPicPr>
            <a:picLocks noChangeAspect="1"/>
          </p:cNvPicPr>
          <p:nvPr/>
        </p:nvPicPr>
        <p:blipFill>
          <a:blip r:embed="rId5"/>
          <a:stretch>
            <a:fillRect/>
          </a:stretch>
        </p:blipFill>
        <p:spPr>
          <a:xfrm>
            <a:off x="6727403" y="1417318"/>
            <a:ext cx="4421992" cy="280330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1051560"/>
            <a:ext cx="10820095" cy="411480"/>
          </a:xfrm>
          <a:prstGeom prst="rect">
            <a:avLst/>
          </a:prstGeom>
          <a:noFill/>
          <a:ln/>
        </p:spPr>
        <p:txBody>
          <a:bodyPr wrap="square" lIns="0" tIns="0" rIns="0" bIns="0" rtlCol="0" anchor="ctr"/>
          <a:lstStyle/>
          <a:p>
            <a:pPr marL="0" indent="0">
              <a:buNone/>
            </a:pPr>
            <a:r>
              <a:rPr lang="en-US" sz="2400" dirty="0">
                <a:solidFill>
                  <a:srgbClr val="444444"/>
                </a:solidFill>
                <a:latin typeface="Arial" pitchFamily="34" charset="0"/>
                <a:ea typeface="Arial" pitchFamily="34" charset="-122"/>
                <a:cs typeface="Arial" pitchFamily="34" charset="-120"/>
              </a:rPr>
              <a:t>Ejercicio 2</a:t>
            </a:r>
            <a:endParaRPr lang="en-US" sz="2400" dirty="0"/>
          </a:p>
        </p:txBody>
      </p:sp>
      <p:sp>
        <p:nvSpPr>
          <p:cNvPr id="3" name="Text 1"/>
          <p:cNvSpPr/>
          <p:nvPr/>
        </p:nvSpPr>
        <p:spPr>
          <a:xfrm>
            <a:off x="685800" y="1554480"/>
            <a:ext cx="10820095" cy="685800"/>
          </a:xfrm>
          <a:prstGeom prst="rect">
            <a:avLst/>
          </a:prstGeom>
          <a:noFill/>
          <a:ln/>
        </p:spPr>
        <p:txBody>
          <a:bodyPr wrap="square" lIns="0" tIns="0" rIns="0" bIns="0" rtlCol="0" anchor="ctr"/>
          <a:lstStyle/>
          <a:p>
            <a:pPr marL="0" indent="0">
              <a:buNone/>
            </a:pPr>
            <a:r>
              <a:rPr lang="en-US" sz="4000" b="1" dirty="0">
                <a:solidFill>
                  <a:srgbClr val="111111"/>
                </a:solidFill>
                <a:latin typeface="Arial" pitchFamily="34" charset="0"/>
                <a:ea typeface="Arial" pitchFamily="34" charset="-122"/>
                <a:cs typeface="Arial" pitchFamily="34" charset="-120"/>
              </a:rPr>
              <a:t>Rinconcito VC</a:t>
            </a:r>
            <a:endParaRPr lang="en-US" sz="4000" dirty="0"/>
          </a:p>
        </p:txBody>
      </p:sp>
      <p:sp>
        <p:nvSpPr>
          <p:cNvPr id="4" name="Text 2"/>
          <p:cNvSpPr/>
          <p:nvPr/>
        </p:nvSpPr>
        <p:spPr>
          <a:xfrm>
            <a:off x="685800" y="2423160"/>
            <a:ext cx="10820095" cy="384048"/>
          </a:xfrm>
          <a:prstGeom prst="rect">
            <a:avLst/>
          </a:prstGeom>
          <a:noFill/>
          <a:ln/>
        </p:spPr>
        <p:txBody>
          <a:bodyPr wrap="square" lIns="0" tIns="0" rIns="0" bIns="0" rtlCol="0" anchor="ctr"/>
          <a:lstStyle/>
          <a:p>
            <a:pPr marL="0" indent="0">
              <a:buNone/>
            </a:pPr>
            <a:r>
              <a:rPr lang="en-US" sz="2200" dirty="0">
                <a:solidFill>
                  <a:srgbClr val="111111"/>
                </a:solidFill>
                <a:latin typeface="Arial" pitchFamily="34" charset="0"/>
                <a:ea typeface="Arial" pitchFamily="34" charset="-122"/>
                <a:cs typeface="Arial" pitchFamily="34" charset="-120"/>
              </a:rPr>
              <a:t>Responsable: Madeni Peres Mazariegos</a:t>
            </a:r>
            <a:endParaRPr lang="en-US" sz="2200" dirty="0"/>
          </a:p>
        </p:txBody>
      </p:sp>
      <p:sp>
        <p:nvSpPr>
          <p:cNvPr id="5" name="Text 3"/>
          <p:cNvSpPr/>
          <p:nvPr/>
        </p:nvSpPr>
        <p:spPr>
          <a:xfrm>
            <a:off x="685800" y="3063240"/>
            <a:ext cx="10820095" cy="1234440"/>
          </a:xfrm>
          <a:prstGeom prst="rect">
            <a:avLst/>
          </a:prstGeom>
          <a:noFill/>
          <a:ln/>
        </p:spPr>
        <p:txBody>
          <a:bodyPr wrap="square" lIns="254" tIns="254" rIns="254" bIns="254" rtlCol="0" anchor="ctr">
            <a:normAutofit/>
          </a:bodyPr>
          <a:lstStyle/>
          <a:p>
            <a:pPr marL="0" indent="0">
              <a:buNone/>
            </a:pPr>
            <a:r>
              <a:rPr lang="en-US" sz="2300" dirty="0">
                <a:solidFill>
                  <a:srgbClr val="111111"/>
                </a:solidFill>
                <a:latin typeface="Arial" pitchFamily="34" charset="0"/>
                <a:ea typeface="Arial" pitchFamily="34" charset="-122"/>
                <a:cs typeface="Arial" pitchFamily="34" charset="-120"/>
              </a:rPr>
              <a:t>Marketplace especializado en café cosechado natural, con venta en línea y verificación segura de vendedores.</a:t>
            </a:r>
            <a:endParaRPr lang="en-US" sz="2300" dirty="0"/>
          </a:p>
        </p:txBody>
      </p:sp>
      <p:sp>
        <p:nvSpPr>
          <p:cNvPr id="6" name="Text 4"/>
          <p:cNvSpPr/>
          <p:nvPr/>
        </p:nvSpPr>
        <p:spPr>
          <a:xfrm>
            <a:off x="685800" y="4892040"/>
            <a:ext cx="10820095" cy="36576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2 — Formulario 1</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Nombre del proyecto: Rinconcito VC.</a:t>
            </a:r>
            <a:endParaRPr lang="en-US" sz="1850" dirty="0"/>
          </a:p>
          <a:p>
            <a:r>
              <a:rPr lang="en-US" sz="1850" dirty="0">
                <a:solidFill>
                  <a:srgbClr val="111111"/>
                </a:solidFill>
                <a:latin typeface="Arial" pitchFamily="34" charset="0"/>
                <a:ea typeface="Arial" pitchFamily="34" charset="-122"/>
                <a:cs typeface="Arial" pitchFamily="34" charset="-120"/>
              </a:rPr>
              <a:t>Empresa: Rinconcito VC.</a:t>
            </a:r>
            <a:endParaRPr lang="en-US" sz="1850" dirty="0"/>
          </a:p>
          <a:p>
            <a:r>
              <a:rPr lang="en-US" sz="1850" dirty="0">
                <a:solidFill>
                  <a:srgbClr val="111111"/>
                </a:solidFill>
                <a:latin typeface="Arial" pitchFamily="34" charset="0"/>
                <a:ea typeface="Arial" pitchFamily="34" charset="-122"/>
                <a:cs typeface="Arial" pitchFamily="34" charset="-120"/>
              </a:rPr>
              <a:t>Área: Comercio electrónico y producción de café.</a:t>
            </a:r>
            <a:endParaRPr lang="en-US" sz="1850" dirty="0"/>
          </a:p>
          <a:p>
            <a:r>
              <a:rPr lang="en-US" sz="1850" dirty="0">
                <a:solidFill>
                  <a:srgbClr val="111111"/>
                </a:solidFill>
                <a:latin typeface="Arial" pitchFamily="34" charset="0"/>
                <a:ea typeface="Arial" pitchFamily="34" charset="-122"/>
                <a:cs typeface="Arial" pitchFamily="34" charset="-120"/>
              </a:rPr>
              <a:t>Fecha de inicio: 02 de noviembre de 2026.</a:t>
            </a:r>
            <a:endParaRPr lang="en-US" sz="1850" dirty="0"/>
          </a:p>
          <a:p>
            <a:r>
              <a:rPr lang="en-US" sz="1850" dirty="0">
                <a:solidFill>
                  <a:srgbClr val="111111"/>
                </a:solidFill>
                <a:latin typeface="Arial" pitchFamily="34" charset="0"/>
                <a:ea typeface="Arial" pitchFamily="34" charset="-122"/>
                <a:cs typeface="Arial" pitchFamily="34" charset="-120"/>
              </a:rPr>
              <a:t>Finalización estimada: 20 de diciembre de 2026.</a:t>
            </a:r>
            <a:endParaRPr lang="en-US" sz="1850" dirty="0"/>
          </a:p>
          <a:p>
            <a:r>
              <a:rPr lang="en-US" sz="1850" dirty="0">
                <a:solidFill>
                  <a:srgbClr val="111111"/>
                </a:solidFill>
                <a:latin typeface="Arial" pitchFamily="34" charset="0"/>
                <a:ea typeface="Arial" pitchFamily="34" charset="-122"/>
                <a:cs typeface="Arial" pitchFamily="34" charset="-120"/>
              </a:rPr>
              <a:t>Duración: 7 semanas.</a:t>
            </a:r>
            <a:endParaRPr lang="en-US" sz="1850" dirty="0"/>
          </a:p>
          <a:p>
            <a:r>
              <a:rPr lang="en-US" sz="1850" dirty="0">
                <a:solidFill>
                  <a:srgbClr val="111111"/>
                </a:solidFill>
                <a:latin typeface="Arial" pitchFamily="34" charset="0"/>
                <a:ea typeface="Arial" pitchFamily="34" charset="-122"/>
                <a:cs typeface="Arial" pitchFamily="34" charset="-120"/>
              </a:rPr>
              <a:t>Tipo de proyecto: tecnológico, software y empresarial.</a:t>
            </a:r>
            <a:endParaRPr lang="en-US" sz="1850" dirty="0"/>
          </a:p>
          <a:p>
            <a:r>
              <a:rPr lang="en-US" sz="1850" dirty="0">
                <a:solidFill>
                  <a:srgbClr val="111111"/>
                </a:solidFill>
                <a:latin typeface="Arial" pitchFamily="34" charset="0"/>
                <a:ea typeface="Arial" pitchFamily="34" charset="-122"/>
                <a:cs typeface="Arial" pitchFamily="34" charset="-120"/>
              </a:rPr>
              <a:t>Metodología: Ágil — Scrum.</a:t>
            </a:r>
            <a:endParaRPr lang="en-US" sz="1850" dirty="0"/>
          </a:p>
        </p:txBody>
      </p:sp>
      <p:pic>
        <p:nvPicPr>
          <p:cNvPr id="5" name="Picture 4" descr="Captura de pantalla 2026-08-31 210959.png"/>
          <p:cNvPicPr>
            <a:picLocks noChangeAspect="1"/>
          </p:cNvPicPr>
          <p:nvPr/>
        </p:nvPicPr>
        <p:blipFill>
          <a:blip r:embed="rId3"/>
          <a:stretch>
            <a:fillRect/>
          </a:stretch>
        </p:blipFill>
        <p:spPr>
          <a:xfrm>
            <a:off x="7893123" y="1417320"/>
            <a:ext cx="3187553" cy="4343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2 — Formulario 2</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Situación actual: productores de café dependen de intermediarios.</a:t>
            </a:r>
            <a:endParaRPr lang="en-US" sz="1850" dirty="0"/>
          </a:p>
          <a:p>
            <a:r>
              <a:rPr lang="en-US" sz="1850" dirty="0">
                <a:solidFill>
                  <a:srgbClr val="111111"/>
                </a:solidFill>
                <a:latin typeface="Arial" pitchFamily="34" charset="0"/>
                <a:ea typeface="Arial" pitchFamily="34" charset="-122"/>
                <a:cs typeface="Arial" pitchFamily="34" charset="-120"/>
              </a:rPr>
              <a:t>Problema: falta de una plataforma segura para vender café directamente.</a:t>
            </a:r>
            <a:endParaRPr lang="en-US" sz="1850" dirty="0"/>
          </a:p>
          <a:p>
            <a:r>
              <a:rPr lang="en-US" sz="1850" dirty="0">
                <a:solidFill>
                  <a:srgbClr val="111111"/>
                </a:solidFill>
                <a:latin typeface="Arial" pitchFamily="34" charset="0"/>
                <a:ea typeface="Arial" pitchFamily="34" charset="-122"/>
                <a:cs typeface="Arial" pitchFamily="34" charset="-120"/>
              </a:rPr>
              <a:t>Necesidad: conectar productores y compradores con verificación.</a:t>
            </a:r>
            <a:endParaRPr lang="en-US" sz="1850" dirty="0"/>
          </a:p>
          <a:p>
            <a:r>
              <a:rPr lang="en-US" sz="1850" dirty="0">
                <a:solidFill>
                  <a:srgbClr val="111111"/>
                </a:solidFill>
                <a:latin typeface="Arial" pitchFamily="34" charset="0"/>
                <a:ea typeface="Arial" pitchFamily="34" charset="-122"/>
                <a:cs typeface="Arial" pitchFamily="34" charset="-120"/>
              </a:rPr>
              <a:t>Beneficiarios directos: productores, cafeterías y compradores.</a:t>
            </a:r>
            <a:endParaRPr lang="en-US" sz="1850" dirty="0"/>
          </a:p>
          <a:p>
            <a:r>
              <a:rPr lang="en-US" sz="1850" dirty="0">
                <a:solidFill>
                  <a:srgbClr val="111111"/>
                </a:solidFill>
                <a:latin typeface="Arial" pitchFamily="34" charset="0"/>
                <a:ea typeface="Arial" pitchFamily="34" charset="-122"/>
                <a:cs typeface="Arial" pitchFamily="34" charset="-120"/>
              </a:rPr>
              <a:t>Riesgos: usuarios falsos, publicaciones engañosas, fallas del servidor y retrasos en módulos.</a:t>
            </a:r>
            <a:endParaRPr lang="en-US" sz="1850" dirty="0"/>
          </a:p>
        </p:txBody>
      </p:sp>
      <p:pic>
        <p:nvPicPr>
          <p:cNvPr id="5" name="Picture 4" descr="Captura de pantalla 2026-08-31 211007.png"/>
          <p:cNvPicPr>
            <a:picLocks noChangeAspect="1"/>
          </p:cNvPicPr>
          <p:nvPr/>
        </p:nvPicPr>
        <p:blipFill>
          <a:blip r:embed="rId3"/>
          <a:stretch>
            <a:fillRect/>
          </a:stretch>
        </p:blipFill>
        <p:spPr>
          <a:xfrm>
            <a:off x="7831109" y="1417320"/>
            <a:ext cx="3311581" cy="4343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2 — Formularios 3 y 4</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Objetivo general: desarrollar un marketplace especializado en café con vendedores verificados.</a:t>
            </a:r>
            <a:endParaRPr lang="en-US" sz="1850" dirty="0"/>
          </a:p>
          <a:p>
            <a:r>
              <a:rPr lang="en-US" sz="1850" dirty="0">
                <a:solidFill>
                  <a:srgbClr val="111111"/>
                </a:solidFill>
                <a:latin typeface="Arial" pitchFamily="34" charset="0"/>
                <a:ea typeface="Arial" pitchFamily="34" charset="-122"/>
                <a:cs typeface="Arial" pitchFamily="34" charset="-120"/>
              </a:rPr>
              <a:t>Objetivos específicos: crear cuentas, verificar vendedores, publicar café y dar seguimiento a pedidos.</a:t>
            </a:r>
            <a:endParaRPr lang="en-US" sz="1850" dirty="0"/>
          </a:p>
          <a:p>
            <a:r>
              <a:rPr lang="en-US" sz="1850" dirty="0">
                <a:solidFill>
                  <a:srgbClr val="111111"/>
                </a:solidFill>
                <a:latin typeface="Arial" pitchFamily="34" charset="0"/>
                <a:ea typeface="Arial" pitchFamily="34" charset="-122"/>
                <a:cs typeface="Arial" pitchFamily="34" charset="-120"/>
              </a:rPr>
              <a:t>Alcance: plataforma web para registro, catálogo, compra, pedidos y administración.</a:t>
            </a:r>
            <a:endParaRPr lang="en-US" sz="1850" dirty="0"/>
          </a:p>
          <a:p>
            <a:r>
              <a:rPr lang="en-US" sz="1850" dirty="0">
                <a:solidFill>
                  <a:srgbClr val="111111"/>
                </a:solidFill>
                <a:latin typeface="Arial" pitchFamily="34" charset="0"/>
                <a:ea typeface="Arial" pitchFamily="34" charset="-122"/>
                <a:cs typeface="Arial" pitchFamily="34" charset="-120"/>
              </a:rPr>
              <a:t>Incluye: perfiles, verificación, catálogo, carrito, pedidos y seguimiento.</a:t>
            </a:r>
            <a:endParaRPr lang="en-US" sz="1850" dirty="0"/>
          </a:p>
          <a:p>
            <a:r>
              <a:rPr lang="en-US" sz="1850" dirty="0">
                <a:solidFill>
                  <a:srgbClr val="111111"/>
                </a:solidFill>
                <a:latin typeface="Arial" pitchFamily="34" charset="0"/>
                <a:ea typeface="Arial" pitchFamily="34" charset="-122"/>
                <a:cs typeface="Arial" pitchFamily="34" charset="-120"/>
              </a:rPr>
              <a:t>No incluye: exportaciones internacionales ni transporte propio.</a:t>
            </a:r>
            <a:endParaRPr lang="en-US" sz="1850" dirty="0"/>
          </a:p>
        </p:txBody>
      </p:sp>
      <p:pic>
        <p:nvPicPr>
          <p:cNvPr id="5" name="Picture 4" descr="Captura de pantalla 2026-08-31 211017.png"/>
          <p:cNvPicPr>
            <a:picLocks noChangeAspect="1"/>
          </p:cNvPicPr>
          <p:nvPr/>
        </p:nvPicPr>
        <p:blipFill>
          <a:blip r:embed="rId3"/>
          <a:stretch>
            <a:fillRect/>
          </a:stretch>
        </p:blipFill>
        <p:spPr>
          <a:xfrm>
            <a:off x="7543800" y="2344905"/>
            <a:ext cx="1897380" cy="2488230"/>
          </a:xfrm>
          <a:prstGeom prst="rect">
            <a:avLst/>
          </a:prstGeom>
        </p:spPr>
      </p:pic>
      <p:pic>
        <p:nvPicPr>
          <p:cNvPr id="6" name="Picture 5" descr="Captura de pantalla 2026-08-31 211025.png"/>
          <p:cNvPicPr>
            <a:picLocks noChangeAspect="1"/>
          </p:cNvPicPr>
          <p:nvPr/>
        </p:nvPicPr>
        <p:blipFill>
          <a:blip r:embed="rId4"/>
          <a:stretch>
            <a:fillRect/>
          </a:stretch>
        </p:blipFill>
        <p:spPr>
          <a:xfrm>
            <a:off x="9532620" y="2642536"/>
            <a:ext cx="1897380" cy="189296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Capturas del Ejercicio 2</a:t>
            </a:r>
            <a:endParaRPr lang="en-US" sz="3000" dirty="0"/>
          </a:p>
        </p:txBody>
      </p:sp>
      <p:sp>
        <p:nvSpPr>
          <p:cNvPr id="3" name="Shape 1"/>
          <p:cNvSpPr/>
          <p:nvPr/>
        </p:nvSpPr>
        <p:spPr>
          <a:xfrm>
            <a:off x="685800" y="1005840"/>
            <a:ext cx="10820095" cy="0"/>
          </a:xfrm>
          <a:prstGeom prst="line">
            <a:avLst/>
          </a:prstGeom>
          <a:noFill/>
          <a:ln w="12700">
            <a:solidFill>
              <a:srgbClr val="B5B5B5"/>
            </a:solidFill>
            <a:prstDash val="solid"/>
          </a:ln>
        </p:spPr>
        <p:txBody>
          <a:bodyPr/>
          <a:lstStyle/>
          <a:p>
            <a:endParaRPr/>
          </a:p>
        </p:txBody>
      </p:sp>
      <p:sp>
        <p:nvSpPr>
          <p:cNvPr id="10" name="Text 8"/>
          <p:cNvSpPr/>
          <p:nvPr/>
        </p:nvSpPr>
        <p:spPr>
          <a:xfrm>
            <a:off x="914400" y="3977640"/>
            <a:ext cx="10424160" cy="640080"/>
          </a:xfrm>
          <a:prstGeom prst="rect">
            <a:avLst/>
          </a:prstGeom>
          <a:noFill/>
          <a:ln/>
        </p:spPr>
        <p:txBody>
          <a:bodyPr wrap="square" lIns="254" tIns="254" rIns="254" bIns="254" rtlCol="0" anchor="ctr"/>
          <a:lstStyle/>
          <a:p>
            <a:pPr marL="0" indent="0" algn="ctr">
              <a:buNone/>
            </a:pPr>
            <a:endParaRPr lang="en-US" sz="2200" dirty="0"/>
          </a:p>
        </p:txBody>
      </p:sp>
      <p:pic>
        <p:nvPicPr>
          <p:cNvPr id="11" name="Picture 10" descr="image.png"/>
          <p:cNvPicPr>
            <a:picLocks noChangeAspect="1"/>
          </p:cNvPicPr>
          <p:nvPr/>
        </p:nvPicPr>
        <p:blipFill>
          <a:blip r:embed="rId3"/>
          <a:stretch>
            <a:fillRect/>
          </a:stretch>
        </p:blipFill>
        <p:spPr>
          <a:xfrm>
            <a:off x="587125" y="1934623"/>
            <a:ext cx="2193398" cy="2988753"/>
          </a:xfrm>
          <a:prstGeom prst="rect">
            <a:avLst/>
          </a:prstGeom>
        </p:spPr>
      </p:pic>
      <p:pic>
        <p:nvPicPr>
          <p:cNvPr id="12" name="Picture 11" descr="image.png"/>
          <p:cNvPicPr>
            <a:picLocks noChangeAspect="1"/>
          </p:cNvPicPr>
          <p:nvPr/>
        </p:nvPicPr>
        <p:blipFill>
          <a:blip r:embed="rId4"/>
          <a:stretch>
            <a:fillRect/>
          </a:stretch>
        </p:blipFill>
        <p:spPr>
          <a:xfrm>
            <a:off x="3332668" y="1950292"/>
            <a:ext cx="2489633" cy="3265352"/>
          </a:xfrm>
          <a:prstGeom prst="rect">
            <a:avLst/>
          </a:prstGeom>
        </p:spPr>
      </p:pic>
      <p:pic>
        <p:nvPicPr>
          <p:cNvPr id="13" name="Picture 12" descr="combo2_f34.png"/>
          <p:cNvPicPr>
            <a:picLocks noChangeAspect="1"/>
          </p:cNvPicPr>
          <p:nvPr/>
        </p:nvPicPr>
        <p:blipFill>
          <a:blip r:embed="rId5"/>
          <a:stretch>
            <a:fillRect/>
          </a:stretch>
        </p:blipFill>
        <p:spPr>
          <a:xfrm>
            <a:off x="6795485" y="1815369"/>
            <a:ext cx="5372750" cy="2988747"/>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1051560"/>
            <a:ext cx="10820095" cy="411480"/>
          </a:xfrm>
          <a:prstGeom prst="rect">
            <a:avLst/>
          </a:prstGeom>
          <a:noFill/>
          <a:ln/>
        </p:spPr>
        <p:txBody>
          <a:bodyPr wrap="square" lIns="0" tIns="0" rIns="0" bIns="0" rtlCol="0" anchor="ctr"/>
          <a:lstStyle/>
          <a:p>
            <a:pPr marL="0" indent="0">
              <a:buNone/>
            </a:pPr>
            <a:r>
              <a:rPr lang="en-US" sz="2400" dirty="0">
                <a:solidFill>
                  <a:srgbClr val="444444"/>
                </a:solidFill>
                <a:latin typeface="Arial" pitchFamily="34" charset="0"/>
                <a:ea typeface="Arial" pitchFamily="34" charset="-122"/>
                <a:cs typeface="Arial" pitchFamily="34" charset="-120"/>
              </a:rPr>
              <a:t>Ejercicio 3</a:t>
            </a:r>
            <a:endParaRPr lang="en-US" sz="2400" dirty="0"/>
          </a:p>
        </p:txBody>
      </p:sp>
      <p:sp>
        <p:nvSpPr>
          <p:cNvPr id="3" name="Text 1"/>
          <p:cNvSpPr/>
          <p:nvPr/>
        </p:nvSpPr>
        <p:spPr>
          <a:xfrm>
            <a:off x="685800" y="1554480"/>
            <a:ext cx="10820095" cy="685800"/>
          </a:xfrm>
          <a:prstGeom prst="rect">
            <a:avLst/>
          </a:prstGeom>
          <a:noFill/>
          <a:ln/>
        </p:spPr>
        <p:txBody>
          <a:bodyPr wrap="square" lIns="0" tIns="0" rIns="0" bIns="0" rtlCol="0" anchor="ctr"/>
          <a:lstStyle/>
          <a:p>
            <a:pPr marL="0" indent="0">
              <a:buNone/>
            </a:pPr>
            <a:r>
              <a:rPr lang="en-US" sz="4000" b="1" dirty="0">
                <a:solidFill>
                  <a:srgbClr val="111111"/>
                </a:solidFill>
                <a:latin typeface="Arial" pitchFamily="34" charset="0"/>
                <a:ea typeface="Arial" pitchFamily="34" charset="-122"/>
                <a:cs typeface="Arial" pitchFamily="34" charset="-120"/>
              </a:rPr>
              <a:t>LocalMarket</a:t>
            </a:r>
            <a:endParaRPr lang="en-US" sz="4000" dirty="0"/>
          </a:p>
        </p:txBody>
      </p:sp>
      <p:sp>
        <p:nvSpPr>
          <p:cNvPr id="4" name="Text 2"/>
          <p:cNvSpPr/>
          <p:nvPr/>
        </p:nvSpPr>
        <p:spPr>
          <a:xfrm>
            <a:off x="685800" y="2423160"/>
            <a:ext cx="10820095" cy="384048"/>
          </a:xfrm>
          <a:prstGeom prst="rect">
            <a:avLst/>
          </a:prstGeom>
          <a:noFill/>
          <a:ln/>
        </p:spPr>
        <p:txBody>
          <a:bodyPr wrap="square" lIns="0" tIns="0" rIns="0" bIns="0" rtlCol="0" anchor="ctr"/>
          <a:lstStyle/>
          <a:p>
            <a:pPr marL="0" indent="0">
              <a:buNone/>
            </a:pPr>
            <a:r>
              <a:rPr lang="en-US" sz="2200" dirty="0">
                <a:solidFill>
                  <a:srgbClr val="111111"/>
                </a:solidFill>
                <a:latin typeface="Arial" pitchFamily="34" charset="0"/>
                <a:ea typeface="Arial" pitchFamily="34" charset="-122"/>
                <a:cs typeface="Arial" pitchFamily="34" charset="-120"/>
              </a:rPr>
              <a:t>Responsable: Alan Eduardo Rodríguez Silvestre</a:t>
            </a:r>
            <a:endParaRPr lang="en-US" sz="2200" dirty="0"/>
          </a:p>
        </p:txBody>
      </p:sp>
      <p:sp>
        <p:nvSpPr>
          <p:cNvPr id="5" name="Text 3"/>
          <p:cNvSpPr/>
          <p:nvPr/>
        </p:nvSpPr>
        <p:spPr>
          <a:xfrm>
            <a:off x="685800" y="3063240"/>
            <a:ext cx="10820095" cy="1234440"/>
          </a:xfrm>
          <a:prstGeom prst="rect">
            <a:avLst/>
          </a:prstGeom>
          <a:noFill/>
          <a:ln/>
        </p:spPr>
        <p:txBody>
          <a:bodyPr wrap="square" lIns="254" tIns="254" rIns="254" bIns="254" rtlCol="0" anchor="ctr">
            <a:normAutofit/>
          </a:bodyPr>
          <a:lstStyle/>
          <a:p>
            <a:pPr marL="0" indent="0">
              <a:buNone/>
            </a:pPr>
            <a:r>
              <a:rPr lang="en-US" sz="2300" dirty="0">
                <a:solidFill>
                  <a:srgbClr val="111111"/>
                </a:solidFill>
                <a:latin typeface="Arial" pitchFamily="34" charset="0"/>
                <a:ea typeface="Arial" pitchFamily="34" charset="-122"/>
                <a:cs typeface="Arial" pitchFamily="34" charset="-120"/>
              </a:rPr>
              <a:t>Tienda en línea parecida a un marketplace general, donde se pueden vender productos variados y enviarlos a domicilio.</a:t>
            </a:r>
            <a:endParaRPr lang="en-US" sz="2300" dirty="0"/>
          </a:p>
        </p:txBody>
      </p:sp>
      <p:sp>
        <p:nvSpPr>
          <p:cNvPr id="6" name="Text 4"/>
          <p:cNvSpPr/>
          <p:nvPr/>
        </p:nvSpPr>
        <p:spPr>
          <a:xfrm>
            <a:off x="685800" y="4892040"/>
            <a:ext cx="10820095" cy="365760"/>
          </a:xfrm>
          <a:prstGeom prst="rect">
            <a:avLst/>
          </a:prstGeom>
          <a:noFill/>
          <a:ln/>
        </p:spPr>
        <p:txBody>
          <a:bodyPr wrap="square" lIns="0" tIns="0" rIns="0" bIns="0" rtlCol="0" anchor="ctr"/>
          <a:lstStyle/>
          <a:p>
            <a:pPr marL="0" indent="0">
              <a:buNone/>
            </a:pP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3 — Formulario 1</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Nombre del proyecto: LocalMarket.</a:t>
            </a:r>
            <a:endParaRPr lang="en-US" sz="1850" dirty="0"/>
          </a:p>
          <a:p>
            <a:r>
              <a:rPr lang="en-US" sz="1850" dirty="0">
                <a:solidFill>
                  <a:srgbClr val="111111"/>
                </a:solidFill>
                <a:latin typeface="Arial" pitchFamily="34" charset="0"/>
                <a:ea typeface="Arial" pitchFamily="34" charset="-122"/>
                <a:cs typeface="Arial" pitchFamily="34" charset="-120"/>
              </a:rPr>
              <a:t>Empresa: LocalMarket Digital.</a:t>
            </a:r>
            <a:endParaRPr lang="en-US" sz="1850" dirty="0"/>
          </a:p>
          <a:p>
            <a:r>
              <a:rPr lang="en-US" sz="1850" dirty="0">
                <a:solidFill>
                  <a:srgbClr val="111111"/>
                </a:solidFill>
                <a:latin typeface="Arial" pitchFamily="34" charset="0"/>
                <a:ea typeface="Arial" pitchFamily="34" charset="-122"/>
                <a:cs typeface="Arial" pitchFamily="34" charset="-120"/>
              </a:rPr>
              <a:t>Área: Comercio electrónico.</a:t>
            </a:r>
            <a:endParaRPr lang="en-US" sz="1850" dirty="0"/>
          </a:p>
          <a:p>
            <a:r>
              <a:rPr lang="en-US" sz="1850" dirty="0">
                <a:solidFill>
                  <a:srgbClr val="111111"/>
                </a:solidFill>
                <a:latin typeface="Arial" pitchFamily="34" charset="0"/>
                <a:ea typeface="Arial" pitchFamily="34" charset="-122"/>
                <a:cs typeface="Arial" pitchFamily="34" charset="-120"/>
              </a:rPr>
              <a:t>Fecha de inicio: 11 de enero de 2027.</a:t>
            </a:r>
            <a:endParaRPr lang="en-US" sz="1850" dirty="0"/>
          </a:p>
          <a:p>
            <a:r>
              <a:rPr lang="en-US" sz="1850" dirty="0">
                <a:solidFill>
                  <a:srgbClr val="111111"/>
                </a:solidFill>
                <a:latin typeface="Arial" pitchFamily="34" charset="0"/>
                <a:ea typeface="Arial" pitchFamily="34" charset="-122"/>
                <a:cs typeface="Arial" pitchFamily="34" charset="-120"/>
              </a:rPr>
              <a:t>Finalización estimada: 28 de febrero de 2027.</a:t>
            </a:r>
            <a:endParaRPr lang="en-US" sz="1850" dirty="0"/>
          </a:p>
          <a:p>
            <a:r>
              <a:rPr lang="en-US" sz="1850" dirty="0">
                <a:solidFill>
                  <a:srgbClr val="111111"/>
                </a:solidFill>
                <a:latin typeface="Arial" pitchFamily="34" charset="0"/>
                <a:ea typeface="Arial" pitchFamily="34" charset="-122"/>
                <a:cs typeface="Arial" pitchFamily="34" charset="-120"/>
              </a:rPr>
              <a:t>Duración: 7 semanas.</a:t>
            </a:r>
            <a:endParaRPr lang="en-US" sz="1850" dirty="0"/>
          </a:p>
          <a:p>
            <a:r>
              <a:rPr lang="en-US" sz="1850" dirty="0">
                <a:solidFill>
                  <a:srgbClr val="111111"/>
                </a:solidFill>
                <a:latin typeface="Arial" pitchFamily="34" charset="0"/>
                <a:ea typeface="Arial" pitchFamily="34" charset="-122"/>
                <a:cs typeface="Arial" pitchFamily="34" charset="-120"/>
              </a:rPr>
              <a:t>Tipo de proyecto: tecnológico, software y empresarial.</a:t>
            </a:r>
            <a:endParaRPr lang="en-US" sz="1850" dirty="0"/>
          </a:p>
          <a:p>
            <a:r>
              <a:rPr lang="en-US" sz="1850" dirty="0">
                <a:solidFill>
                  <a:srgbClr val="111111"/>
                </a:solidFill>
                <a:latin typeface="Arial" pitchFamily="34" charset="0"/>
                <a:ea typeface="Arial" pitchFamily="34" charset="-122"/>
                <a:cs typeface="Arial" pitchFamily="34" charset="-120"/>
              </a:rPr>
              <a:t>Metodología: Ágil — Kanban.</a:t>
            </a:r>
            <a:endParaRPr lang="en-US" sz="1850" dirty="0"/>
          </a:p>
        </p:txBody>
      </p:sp>
      <p:pic>
        <p:nvPicPr>
          <p:cNvPr id="5" name="Picture 4" descr="Captura de pantalla 2026-08-31 211034.png"/>
          <p:cNvPicPr>
            <a:picLocks noChangeAspect="1"/>
          </p:cNvPicPr>
          <p:nvPr/>
        </p:nvPicPr>
        <p:blipFill>
          <a:blip r:embed="rId3"/>
          <a:stretch>
            <a:fillRect/>
          </a:stretch>
        </p:blipFill>
        <p:spPr>
          <a:xfrm>
            <a:off x="7840027" y="1417320"/>
            <a:ext cx="3293745" cy="4343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3 — Formulario 2</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Situación actual: muchas ventas se realizan por redes sociales sin control formal.</a:t>
            </a:r>
            <a:endParaRPr lang="en-US" sz="1850" dirty="0"/>
          </a:p>
          <a:p>
            <a:r>
              <a:rPr lang="en-US" sz="1850" dirty="0">
                <a:solidFill>
                  <a:srgbClr val="111111"/>
                </a:solidFill>
                <a:latin typeface="Arial" pitchFamily="34" charset="0"/>
                <a:ea typeface="Arial" pitchFamily="34" charset="-122"/>
                <a:cs typeface="Arial" pitchFamily="34" charset="-120"/>
              </a:rPr>
              <a:t>Problema: no existe una plataforma que integre publicación, compra y entrega.</a:t>
            </a:r>
            <a:endParaRPr lang="en-US" sz="1850" dirty="0"/>
          </a:p>
          <a:p>
            <a:r>
              <a:rPr lang="en-US" sz="1850" dirty="0">
                <a:solidFill>
                  <a:srgbClr val="111111"/>
                </a:solidFill>
                <a:latin typeface="Arial" pitchFamily="34" charset="0"/>
                <a:ea typeface="Arial" pitchFamily="34" charset="-122"/>
                <a:cs typeface="Arial" pitchFamily="34" charset="-120"/>
              </a:rPr>
              <a:t>Necesidad: centralizar el proceso de compra y venta.</a:t>
            </a:r>
            <a:endParaRPr lang="en-US" sz="1850" dirty="0"/>
          </a:p>
          <a:p>
            <a:r>
              <a:rPr lang="en-US" sz="1850" dirty="0">
                <a:solidFill>
                  <a:srgbClr val="111111"/>
                </a:solidFill>
                <a:latin typeface="Arial" pitchFamily="34" charset="0"/>
                <a:ea typeface="Arial" pitchFamily="34" charset="-122"/>
                <a:cs typeface="Arial" pitchFamily="34" charset="-120"/>
              </a:rPr>
              <a:t>Beneficiarios directos: compradores y vendedores.</a:t>
            </a:r>
            <a:endParaRPr lang="en-US" sz="1850" dirty="0"/>
          </a:p>
          <a:p>
            <a:r>
              <a:rPr lang="en-US" sz="1850" dirty="0">
                <a:solidFill>
                  <a:srgbClr val="111111"/>
                </a:solidFill>
                <a:latin typeface="Arial" pitchFamily="34" charset="0"/>
                <a:ea typeface="Arial" pitchFamily="34" charset="-122"/>
                <a:cs typeface="Arial" pitchFamily="34" charset="-120"/>
              </a:rPr>
              <a:t>Riesgos: publicaciones falsas, cancelaciones, errores de conexión y recursos humanos limitados.</a:t>
            </a:r>
            <a:endParaRPr lang="en-US" sz="1850" dirty="0"/>
          </a:p>
        </p:txBody>
      </p:sp>
      <p:pic>
        <p:nvPicPr>
          <p:cNvPr id="5" name="Picture 4" descr="Captura de pantalla 2026-08-31 211046.png"/>
          <p:cNvPicPr>
            <a:picLocks noChangeAspect="1"/>
          </p:cNvPicPr>
          <p:nvPr/>
        </p:nvPicPr>
        <p:blipFill>
          <a:blip r:embed="rId3"/>
          <a:stretch>
            <a:fillRect/>
          </a:stretch>
        </p:blipFill>
        <p:spPr>
          <a:xfrm>
            <a:off x="7790375" y="1417320"/>
            <a:ext cx="3393049" cy="4343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Ejercicio 3 — Formularios 3 y 4</a:t>
            </a:r>
            <a:endParaRPr lang="en-US" sz="3000" dirty="0"/>
          </a:p>
        </p:txBody>
      </p:sp>
      <p:sp>
        <p:nvSpPr>
          <p:cNvPr id="4" name="Text 2"/>
          <p:cNvSpPr/>
          <p:nvPr/>
        </p:nvSpPr>
        <p:spPr>
          <a:xfrm>
            <a:off x="685800" y="1234440"/>
            <a:ext cx="6446520" cy="5029200"/>
          </a:xfrm>
          <a:prstGeom prst="rect">
            <a:avLst/>
          </a:prstGeom>
          <a:noFill/>
          <a:ln/>
        </p:spPr>
        <p:txBody>
          <a:bodyPr wrap="square" lIns="635" tIns="635" rIns="635" bIns="635" rtlCol="0" anchor="ctr">
            <a:normAutofit/>
          </a:bodyPr>
          <a:lstStyle/>
          <a:p>
            <a:r>
              <a:rPr lang="en-US" sz="1850" dirty="0">
                <a:solidFill>
                  <a:srgbClr val="111111"/>
                </a:solidFill>
                <a:latin typeface="Arial" pitchFamily="34" charset="0"/>
                <a:ea typeface="Arial" pitchFamily="34" charset="-122"/>
                <a:cs typeface="Arial" pitchFamily="34" charset="-120"/>
              </a:rPr>
              <a:t>Objetivo general: desarrollar una plataforma para vender, comprar y solicitar entregas a domicilio.</a:t>
            </a:r>
            <a:endParaRPr lang="en-US" sz="1850" dirty="0"/>
          </a:p>
          <a:p>
            <a:r>
              <a:rPr lang="en-US" sz="1850" dirty="0">
                <a:solidFill>
                  <a:srgbClr val="111111"/>
                </a:solidFill>
                <a:latin typeface="Arial" pitchFamily="34" charset="0"/>
                <a:ea typeface="Arial" pitchFamily="34" charset="-122"/>
                <a:cs typeface="Arial" pitchFamily="34" charset="-120"/>
              </a:rPr>
              <a:t>Objetivos específicos: crear cuentas, publicar productos, generar pedidos e incorporar entregas.</a:t>
            </a:r>
            <a:endParaRPr lang="en-US" sz="1850" dirty="0"/>
          </a:p>
          <a:p>
            <a:r>
              <a:rPr lang="en-US" sz="1850" dirty="0">
                <a:solidFill>
                  <a:srgbClr val="111111"/>
                </a:solidFill>
                <a:latin typeface="Arial" pitchFamily="34" charset="0"/>
                <a:ea typeface="Arial" pitchFamily="34" charset="-122"/>
                <a:cs typeface="Arial" pitchFamily="34" charset="-120"/>
              </a:rPr>
              <a:t>Alcance: plataforma web para usuarios, productos, compras, pedidos y seguimiento.</a:t>
            </a:r>
            <a:endParaRPr lang="en-US" sz="1850" dirty="0"/>
          </a:p>
          <a:p>
            <a:r>
              <a:rPr lang="en-US" sz="1850" dirty="0">
                <a:solidFill>
                  <a:srgbClr val="111111"/>
                </a:solidFill>
                <a:latin typeface="Arial" pitchFamily="34" charset="0"/>
                <a:ea typeface="Arial" pitchFamily="34" charset="-122"/>
                <a:cs typeface="Arial" pitchFamily="34" charset="-120"/>
              </a:rPr>
              <a:t>Incluye: inicio de sesión, perfiles, categorías, búsqueda, carrito y entregas.</a:t>
            </a:r>
            <a:endParaRPr lang="en-US" sz="1850" dirty="0"/>
          </a:p>
          <a:p>
            <a:r>
              <a:rPr lang="en-US" sz="1850" dirty="0">
                <a:solidFill>
                  <a:srgbClr val="111111"/>
                </a:solidFill>
                <a:latin typeface="Arial" pitchFamily="34" charset="0"/>
                <a:ea typeface="Arial" pitchFamily="34" charset="-122"/>
                <a:cs typeface="Arial" pitchFamily="34" charset="-120"/>
              </a:rPr>
              <a:t>No incluye: almacenes propios, vehículos propios ni entregas nacionales de larga distancia.</a:t>
            </a:r>
            <a:endParaRPr lang="en-US" sz="1850" dirty="0"/>
          </a:p>
        </p:txBody>
      </p:sp>
      <p:pic>
        <p:nvPicPr>
          <p:cNvPr id="5" name="Picture 4" descr="Captura de pantalla 2026-08-31 211052.png"/>
          <p:cNvPicPr>
            <a:picLocks noChangeAspect="1"/>
          </p:cNvPicPr>
          <p:nvPr/>
        </p:nvPicPr>
        <p:blipFill>
          <a:blip r:embed="rId3"/>
          <a:stretch>
            <a:fillRect/>
          </a:stretch>
        </p:blipFill>
        <p:spPr>
          <a:xfrm>
            <a:off x="7543800" y="2343201"/>
            <a:ext cx="1897380" cy="2491637"/>
          </a:xfrm>
          <a:prstGeom prst="rect">
            <a:avLst/>
          </a:prstGeom>
        </p:spPr>
      </p:pic>
      <p:pic>
        <p:nvPicPr>
          <p:cNvPr id="6" name="Picture 5" descr="Captura de pantalla 2026-08-31 211102.png"/>
          <p:cNvPicPr>
            <a:picLocks noChangeAspect="1"/>
          </p:cNvPicPr>
          <p:nvPr/>
        </p:nvPicPr>
        <p:blipFill>
          <a:blip r:embed="rId4"/>
          <a:stretch>
            <a:fillRect/>
          </a:stretch>
        </p:blipFill>
        <p:spPr>
          <a:xfrm>
            <a:off x="9532620" y="2326850"/>
            <a:ext cx="1897380" cy="25243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Capturas del Ejercicio 3</a:t>
            </a:r>
            <a:endParaRPr lang="en-US" sz="3000" dirty="0"/>
          </a:p>
        </p:txBody>
      </p:sp>
      <p:sp>
        <p:nvSpPr>
          <p:cNvPr id="10" name="Text 8"/>
          <p:cNvSpPr/>
          <p:nvPr/>
        </p:nvSpPr>
        <p:spPr>
          <a:xfrm>
            <a:off x="914400" y="3977640"/>
            <a:ext cx="10424160" cy="640080"/>
          </a:xfrm>
          <a:prstGeom prst="rect">
            <a:avLst/>
          </a:prstGeom>
          <a:noFill/>
          <a:ln/>
        </p:spPr>
        <p:txBody>
          <a:bodyPr wrap="square" lIns="254" tIns="254" rIns="254" bIns="254" rtlCol="0" anchor="ctr"/>
          <a:lstStyle/>
          <a:p>
            <a:pPr marL="0" indent="0" algn="ctr">
              <a:buNone/>
            </a:pPr>
            <a:endParaRPr lang="en-US" sz="2200" dirty="0"/>
          </a:p>
        </p:txBody>
      </p:sp>
      <p:pic>
        <p:nvPicPr>
          <p:cNvPr id="11" name="Picture 10" descr="image.png"/>
          <p:cNvPicPr>
            <a:picLocks noChangeAspect="1"/>
          </p:cNvPicPr>
          <p:nvPr/>
        </p:nvPicPr>
        <p:blipFill>
          <a:blip r:embed="rId3"/>
          <a:stretch>
            <a:fillRect/>
          </a:stretch>
        </p:blipFill>
        <p:spPr>
          <a:xfrm>
            <a:off x="743182" y="1393992"/>
            <a:ext cx="2593957" cy="3420603"/>
          </a:xfrm>
          <a:prstGeom prst="rect">
            <a:avLst/>
          </a:prstGeom>
        </p:spPr>
      </p:pic>
      <p:pic>
        <p:nvPicPr>
          <p:cNvPr id="12" name="Picture 11" descr="image.png"/>
          <p:cNvPicPr>
            <a:picLocks noChangeAspect="1"/>
          </p:cNvPicPr>
          <p:nvPr/>
        </p:nvPicPr>
        <p:blipFill>
          <a:blip r:embed="rId4"/>
          <a:stretch>
            <a:fillRect/>
          </a:stretch>
        </p:blipFill>
        <p:spPr>
          <a:xfrm>
            <a:off x="3507940" y="1513048"/>
            <a:ext cx="2528860" cy="3237163"/>
          </a:xfrm>
          <a:prstGeom prst="rect">
            <a:avLst/>
          </a:prstGeom>
        </p:spPr>
      </p:pic>
      <p:pic>
        <p:nvPicPr>
          <p:cNvPr id="13" name="Picture 12" descr="combo3_f34.png"/>
          <p:cNvPicPr>
            <a:picLocks noChangeAspect="1"/>
          </p:cNvPicPr>
          <p:nvPr/>
        </p:nvPicPr>
        <p:blipFill>
          <a:blip r:embed="rId5"/>
          <a:stretch>
            <a:fillRect/>
          </a:stretch>
        </p:blipFill>
        <p:spPr>
          <a:xfrm>
            <a:off x="6458221" y="1292294"/>
            <a:ext cx="5444601" cy="352230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3B699CBD-1942-DB8F-263D-D72D0514CDAB}"/>
              </a:ext>
            </a:extLst>
          </p:cNvPr>
          <p:cNvPicPr>
            <a:picLocks noChangeAspect="1"/>
          </p:cNvPicPr>
          <p:nvPr/>
        </p:nvPicPr>
        <p:blipFill>
          <a:blip r:embed="rId2"/>
          <a:stretch>
            <a:fillRect/>
          </a:stretch>
        </p:blipFill>
        <p:spPr>
          <a:xfrm>
            <a:off x="1795331" y="1322227"/>
            <a:ext cx="7574936" cy="4686706"/>
          </a:xfrm>
          <a:prstGeom prst="rect">
            <a:avLst/>
          </a:prstGeom>
        </p:spPr>
      </p:pic>
      <p:sp>
        <p:nvSpPr>
          <p:cNvPr id="5" name="CuadroTexto 4">
            <a:extLst>
              <a:ext uri="{FF2B5EF4-FFF2-40B4-BE49-F238E27FC236}">
                <a16:creationId xmlns:a16="http://schemas.microsoft.com/office/drawing/2014/main" id="{AB81E58E-C4CF-C89F-C987-0F1148030647}"/>
              </a:ext>
            </a:extLst>
          </p:cNvPr>
          <p:cNvSpPr txBox="1"/>
          <p:nvPr/>
        </p:nvSpPr>
        <p:spPr>
          <a:xfrm>
            <a:off x="3272713" y="295861"/>
            <a:ext cx="6097554" cy="369332"/>
          </a:xfrm>
          <a:prstGeom prst="rect">
            <a:avLst/>
          </a:prstGeom>
          <a:noFill/>
        </p:spPr>
        <p:txBody>
          <a:bodyPr wrap="square">
            <a:spAutoFit/>
          </a:bodyPr>
          <a:lstStyle/>
          <a:p>
            <a:pPr marL="0" indent="0">
              <a:buNone/>
            </a:pPr>
            <a:r>
              <a:rPr lang="en-US" sz="1800" b="1" dirty="0" err="1">
                <a:solidFill>
                  <a:srgbClr val="111111"/>
                </a:solidFill>
                <a:latin typeface="Arial" pitchFamily="34" charset="0"/>
                <a:ea typeface="Arial" pitchFamily="34" charset="-122"/>
                <a:cs typeface="Arial" pitchFamily="34" charset="-120"/>
              </a:rPr>
              <a:t>Cuadro</a:t>
            </a:r>
            <a:r>
              <a:rPr lang="en-US" sz="1800" b="1" dirty="0">
                <a:solidFill>
                  <a:srgbClr val="111111"/>
                </a:solidFill>
                <a:latin typeface="Arial" pitchFamily="34" charset="0"/>
                <a:ea typeface="Arial" pitchFamily="34" charset="-122"/>
                <a:cs typeface="Arial" pitchFamily="34" charset="-120"/>
              </a:rPr>
              <a:t> </a:t>
            </a:r>
            <a:r>
              <a:rPr lang="en-US" sz="1800" b="1" dirty="0" err="1">
                <a:solidFill>
                  <a:srgbClr val="111111"/>
                </a:solidFill>
                <a:latin typeface="Arial" pitchFamily="34" charset="0"/>
                <a:ea typeface="Arial" pitchFamily="34" charset="-122"/>
                <a:cs typeface="Arial" pitchFamily="34" charset="-120"/>
              </a:rPr>
              <a:t>comparativo</a:t>
            </a:r>
            <a:r>
              <a:rPr lang="en-US" sz="1800" b="1" dirty="0">
                <a:solidFill>
                  <a:srgbClr val="111111"/>
                </a:solidFill>
                <a:latin typeface="Arial" pitchFamily="34" charset="0"/>
                <a:ea typeface="Arial" pitchFamily="34" charset="-122"/>
                <a:cs typeface="Arial" pitchFamily="34" charset="-120"/>
              </a:rPr>
              <a:t> de </a:t>
            </a:r>
            <a:r>
              <a:rPr lang="en-US" sz="1800" b="1" dirty="0" err="1">
                <a:solidFill>
                  <a:srgbClr val="111111"/>
                </a:solidFill>
                <a:latin typeface="Arial" pitchFamily="34" charset="0"/>
                <a:ea typeface="Arial" pitchFamily="34" charset="-122"/>
                <a:cs typeface="Arial" pitchFamily="34" charset="-120"/>
              </a:rPr>
              <a:t>los</a:t>
            </a:r>
            <a:r>
              <a:rPr lang="en-US" sz="1800" b="1" dirty="0">
                <a:solidFill>
                  <a:srgbClr val="111111"/>
                </a:solidFill>
                <a:latin typeface="Arial" pitchFamily="34" charset="0"/>
                <a:ea typeface="Arial" pitchFamily="34" charset="-122"/>
                <a:cs typeface="Arial" pitchFamily="34" charset="-120"/>
              </a:rPr>
              <a:t> </a:t>
            </a:r>
            <a:r>
              <a:rPr lang="en-US" sz="1800" b="1" dirty="0" err="1">
                <a:solidFill>
                  <a:srgbClr val="111111"/>
                </a:solidFill>
                <a:latin typeface="Arial" pitchFamily="34" charset="0"/>
                <a:ea typeface="Arial" pitchFamily="34" charset="-122"/>
                <a:cs typeface="Arial" pitchFamily="34" charset="-120"/>
              </a:rPr>
              <a:t>proyectos</a:t>
            </a:r>
            <a:endParaRPr lang="en-US" sz="1800" dirty="0"/>
          </a:p>
        </p:txBody>
      </p:sp>
    </p:spTree>
    <p:extLst>
      <p:ext uri="{BB962C8B-B14F-4D97-AF65-F5344CB8AC3E}">
        <p14:creationId xmlns:p14="http://schemas.microsoft.com/office/powerpoint/2010/main" val="22640841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662F402-D17B-5BB1-E5D7-93907E8B3BAD}"/>
              </a:ext>
            </a:extLst>
          </p:cNvPr>
          <p:cNvSpPr txBox="1"/>
          <p:nvPr/>
        </p:nvSpPr>
        <p:spPr>
          <a:xfrm>
            <a:off x="2432958" y="2523072"/>
            <a:ext cx="6097554" cy="923330"/>
          </a:xfrm>
          <a:prstGeom prst="rect">
            <a:avLst/>
          </a:prstGeom>
          <a:noFill/>
        </p:spPr>
        <p:txBody>
          <a:bodyPr wrap="square">
            <a:spAutoFit/>
          </a:bodyPr>
          <a:lstStyle/>
          <a:p>
            <a:r>
              <a:rPr lang="es-MX" dirty="0"/>
              <a:t>Anexo link con el formulario utilizado https://github.com/eddiCastS/Formulario-Gestion-de-proyectos-TI.git</a:t>
            </a:r>
          </a:p>
        </p:txBody>
      </p:sp>
      <p:sp>
        <p:nvSpPr>
          <p:cNvPr id="5" name="CuadroTexto 4">
            <a:extLst>
              <a:ext uri="{FF2B5EF4-FFF2-40B4-BE49-F238E27FC236}">
                <a16:creationId xmlns:a16="http://schemas.microsoft.com/office/drawing/2014/main" id="{5A8C7D95-A050-CE28-E4F6-72424D440B69}"/>
              </a:ext>
            </a:extLst>
          </p:cNvPr>
          <p:cNvSpPr txBox="1"/>
          <p:nvPr/>
        </p:nvSpPr>
        <p:spPr>
          <a:xfrm>
            <a:off x="1369268" y="529126"/>
            <a:ext cx="6097554" cy="369332"/>
          </a:xfrm>
          <a:prstGeom prst="rect">
            <a:avLst/>
          </a:prstGeom>
          <a:noFill/>
        </p:spPr>
        <p:txBody>
          <a:bodyPr wrap="square">
            <a:spAutoFit/>
          </a:bodyPr>
          <a:lstStyle/>
          <a:p>
            <a:pPr marL="0" indent="0">
              <a:buNone/>
            </a:pPr>
            <a:r>
              <a:rPr lang="en-US" sz="1800" b="1" dirty="0">
                <a:solidFill>
                  <a:srgbClr val="111111"/>
                </a:solidFill>
                <a:latin typeface="Arial" pitchFamily="34" charset="0"/>
                <a:ea typeface="Arial" pitchFamily="34" charset="-122"/>
                <a:cs typeface="Arial" pitchFamily="34" charset="-120"/>
              </a:rPr>
              <a:t>Link de git hub</a:t>
            </a:r>
            <a:endParaRPr lang="en-US" sz="1800" dirty="0"/>
          </a:p>
        </p:txBody>
      </p:sp>
    </p:spTree>
    <p:extLst>
      <p:ext uri="{BB962C8B-B14F-4D97-AF65-F5344CB8AC3E}">
        <p14:creationId xmlns:p14="http://schemas.microsoft.com/office/powerpoint/2010/main" val="1485932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384048"/>
            <a:ext cx="10820095" cy="502920"/>
          </a:xfrm>
          <a:prstGeom prst="rect">
            <a:avLst/>
          </a:prstGeom>
          <a:noFill/>
          <a:ln/>
        </p:spPr>
        <p:txBody>
          <a:bodyPr wrap="square" lIns="0" tIns="0" rIns="0" bIns="0" rtlCol="0" anchor="ctr"/>
          <a:lstStyle/>
          <a:p>
            <a:pPr marL="0" indent="0">
              <a:buNone/>
            </a:pPr>
            <a:r>
              <a:rPr lang="en-US" sz="3000" b="1" dirty="0">
                <a:solidFill>
                  <a:srgbClr val="111111"/>
                </a:solidFill>
                <a:latin typeface="Arial" pitchFamily="34" charset="0"/>
                <a:ea typeface="Arial" pitchFamily="34" charset="-122"/>
                <a:cs typeface="Arial" pitchFamily="34" charset="-120"/>
              </a:rPr>
              <a:t>Conclusión</a:t>
            </a:r>
            <a:endParaRPr lang="en-US" sz="3000" dirty="0"/>
          </a:p>
        </p:txBody>
      </p:sp>
      <p:sp>
        <p:nvSpPr>
          <p:cNvPr id="3" name="Shape 1"/>
          <p:cNvSpPr/>
          <p:nvPr/>
        </p:nvSpPr>
        <p:spPr>
          <a:xfrm>
            <a:off x="685800" y="1005840"/>
            <a:ext cx="10820095" cy="0"/>
          </a:xfrm>
          <a:prstGeom prst="line">
            <a:avLst/>
          </a:prstGeom>
          <a:noFill/>
          <a:ln w="12700">
            <a:solidFill>
              <a:srgbClr val="B5B5B5"/>
            </a:solidFill>
            <a:prstDash val="solid"/>
          </a:ln>
        </p:spPr>
      </p:sp>
      <p:sp>
        <p:nvSpPr>
          <p:cNvPr id="4" name="Text 2"/>
          <p:cNvSpPr/>
          <p:nvPr/>
        </p:nvSpPr>
        <p:spPr>
          <a:xfrm>
            <a:off x="685800" y="1234440"/>
            <a:ext cx="10820095" cy="4389120"/>
          </a:xfrm>
          <a:prstGeom prst="rect">
            <a:avLst/>
          </a:prstGeom>
          <a:noFill/>
          <a:ln/>
        </p:spPr>
        <p:txBody>
          <a:bodyPr wrap="square" lIns="254" tIns="254" rIns="254" bIns="254" rtlCol="0" anchor="t">
            <a:normAutofit/>
          </a:bodyPr>
          <a:lstStyle/>
          <a:p>
            <a:pPr marL="0" indent="0">
              <a:buNone/>
            </a:pPr>
            <a:r>
              <a:rPr lang="en-US" sz="2100" dirty="0">
                <a:solidFill>
                  <a:srgbClr val="111111"/>
                </a:solidFill>
                <a:latin typeface="Arial" pitchFamily="34" charset="0"/>
                <a:ea typeface="Arial" pitchFamily="34" charset="-122"/>
                <a:cs typeface="Arial" pitchFamily="34" charset="-120"/>
              </a:rPr>
              <a:t>Se concluye que el banco de ejercicios permitió organizar y diferenciar tres propuestas de proyectos tecnológicos mediante formularios de gestión. Al desarrollar EstacionaTEC, Rinconcito VC y LocalMarket, se identificaron sus objetivos, usuarios, recursos, alcances y riesgos principales. Esta actividad ayuda a comprender que antes de iniciar un proyecto de TI es necesario definir claramente qué problema resolverá, qué herramientas utilizará y qué resultado se espera obtener.</a:t>
            </a:r>
            <a:endParaRPr lang="en-US" sz="2100" dirty="0"/>
          </a:p>
        </p:txBody>
      </p:sp>
    </p:spTree>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20</TotalTime>
  <Words>1041</Words>
  <Application>Microsoft Office PowerPoint</Application>
  <PresentationFormat>Panorámica</PresentationFormat>
  <Paragraphs>121</Paragraphs>
  <Slides>21</Slides>
  <Notes>18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21</vt:i4>
      </vt:variant>
    </vt:vector>
  </HeadingPairs>
  <TitlesOfParts>
    <vt:vector size="26" baseType="lpstr">
      <vt:lpstr>-apple-system</vt:lpstr>
      <vt:lpstr>Arial</vt:lpstr>
      <vt:lpstr>Trebuchet MS</vt:lpstr>
      <vt:lpstr>Wingdings 3</vt:lpstr>
      <vt:lpstr>Faceta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Banco de Ejercicios Unidad 1</dc:title>
  <dc:subject>Banco de ejercicios Unidad 1 Gestión de Proyectos de TI</dc:subject>
  <dc:creator>OpenAI</dc:creator>
  <cp:lastModifiedBy>eddi castillo</cp:lastModifiedBy>
  <cp:revision>2</cp:revision>
  <dcterms:created xsi:type="dcterms:W3CDTF">2026-09-01T02:58:13Z</dcterms:created>
  <dcterms:modified xsi:type="dcterms:W3CDTF">2026-09-01T03:46:00Z</dcterms:modified>
</cp:coreProperties>
</file>