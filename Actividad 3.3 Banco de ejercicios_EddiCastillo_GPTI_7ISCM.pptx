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260" r:id="rId5"/>
    <p:sldId id="261" r:id="rId6"/>
    <p:sldId id="262" r:id="rId7"/>
    <p:sldId id="263"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103243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002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88057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2473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56429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40842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4531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02215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278741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70390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1919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13401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60743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06690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34685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3394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199688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sz="1500" b="0" dirty="0" err="1">
                <a:solidFill>
                  <a:srgbClr val="181818"/>
                </a:solidFill>
                <a:latin typeface="Arial"/>
              </a:rPr>
              <a:t>Gestión</a:t>
            </a:r>
            <a:r>
              <a:rPr sz="1500" b="0" dirty="0">
                <a:solidFill>
                  <a:srgbClr val="181818"/>
                </a:solidFill>
                <a:latin typeface="Arial"/>
              </a:rPr>
              <a:t> de </a:t>
            </a:r>
            <a:r>
              <a:rPr sz="1500" b="0" dirty="0" err="1">
                <a:solidFill>
                  <a:srgbClr val="181818"/>
                </a:solidFill>
                <a:latin typeface="Arial"/>
              </a:rPr>
              <a:t>proyectos</a:t>
            </a:r>
            <a:r>
              <a:rPr sz="1500" b="0" dirty="0">
                <a:solidFill>
                  <a:srgbClr val="181818"/>
                </a:solidFill>
                <a:latin typeface="Arial"/>
              </a:rPr>
              <a:t> de TI</a:t>
            </a: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3</a:t>
            </a:r>
            <a:r>
              <a:rPr lang="es-MX" sz="1500" b="0" dirty="0">
                <a:solidFill>
                  <a:srgbClr val="181818"/>
                </a:solidFill>
                <a:latin typeface="Arial"/>
              </a:rPr>
              <a:t>.3 </a:t>
            </a:r>
            <a:r>
              <a:rPr sz="1500" b="0" dirty="0">
                <a:solidFill>
                  <a:srgbClr val="181818"/>
                </a:solidFill>
                <a:latin typeface="Arial"/>
              </a:rPr>
              <a:t> Banco de </a:t>
            </a:r>
            <a:r>
              <a:rPr sz="1500" b="0" dirty="0" err="1">
                <a:solidFill>
                  <a:srgbClr val="181818"/>
                </a:solidFill>
                <a:latin typeface="Arial"/>
              </a:rPr>
              <a:t>ejercicios</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b="0" dirty="0">
                <a:solidFill>
                  <a:srgbClr val="181818"/>
                </a:solidFill>
                <a:latin typeface="Arial"/>
              </a:rPr>
              <a:t>06</a:t>
            </a:r>
            <a:r>
              <a:rPr sz="1500" b="0" dirty="0">
                <a:solidFill>
                  <a:srgbClr val="181818"/>
                </a:solidFill>
                <a:latin typeface="Arial"/>
              </a:rPr>
              <a:t>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Introducción</a:t>
            </a:r>
          </a:p>
        </p:txBody>
      </p:sp>
      <p:sp>
        <p:nvSpPr>
          <p:cNvPr id="5" name="TextBox 4"/>
          <p:cNvSpPr txBox="1"/>
          <p:nvPr/>
        </p:nvSpPr>
        <p:spPr>
          <a:xfrm>
            <a:off x="877824" y="1097280"/>
            <a:ext cx="10241280" cy="4023360"/>
          </a:xfrm>
          <a:prstGeom prst="rect">
            <a:avLst/>
          </a:prstGeom>
          <a:noFill/>
        </p:spPr>
        <p:txBody>
          <a:bodyPr wrap="square" lIns="25400" tIns="12700" rIns="25400" bIns="12700">
            <a:spAutoFit/>
          </a:bodyPr>
          <a:lstStyle/>
          <a:p>
            <a:pPr algn="l"/>
            <a:r>
              <a:rPr sz="1500" b="0">
                <a:solidFill>
                  <a:srgbClr val="303030"/>
                </a:solidFill>
                <a:latin typeface="Arial"/>
              </a:rPr>
              <a:t>El banco de ejercicios tiene como propósito aplicar los temas de la Unidad 3 mediante los proyectos trabajados durante el curso. Cada ejercicio retoma un caso diferente para practicar cronogramas, EDT/WBS, matriz RACI, gestión de riesgos y ruta crítica.
Además de la respuesta escrita, se integran imágenes de apoyo para que la información se observe de forma más clara y sirva como evidencia del procedimiento realizado.</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1 · EstacionaTec</a:t>
            </a:r>
          </a:p>
        </p:txBody>
      </p:sp>
      <p:sp>
        <p:nvSpPr>
          <p:cNvPr id="6" name="TextBox 5"/>
          <p:cNvSpPr txBox="1"/>
          <p:nvPr/>
        </p:nvSpPr>
        <p:spPr>
          <a:xfrm>
            <a:off x="960120" y="1170432"/>
            <a:ext cx="1645920" cy="218008"/>
          </a:xfrm>
          <a:prstGeom prst="rect">
            <a:avLst/>
          </a:prstGeom>
          <a:noFill/>
        </p:spPr>
        <p:txBody>
          <a:bodyPr wrap="square" lIns="25400" tIns="12700" rIns="25400" bIns="12700">
            <a:spAutoFit/>
          </a:bodyPr>
          <a:lstStyle/>
          <a:p>
            <a:pPr algn="l"/>
            <a:r>
              <a:rPr sz="1250" b="1" dirty="0" err="1">
                <a:latin typeface="Arial"/>
              </a:rPr>
              <a:t>Planteamiento</a:t>
            </a:r>
            <a:endParaRPr sz="1250" b="1" dirty="0">
              <a:latin typeface="Arial"/>
            </a:endParaRPr>
          </a:p>
        </p:txBody>
      </p:sp>
      <p:sp>
        <p:nvSpPr>
          <p:cNvPr id="7" name="TextBox 6"/>
          <p:cNvSpPr txBox="1"/>
          <p:nvPr/>
        </p:nvSpPr>
        <p:spPr>
          <a:xfrm>
            <a:off x="914400" y="1481328"/>
            <a:ext cx="3429000" cy="2331720"/>
          </a:xfrm>
          <a:prstGeom prst="rect">
            <a:avLst/>
          </a:prstGeom>
          <a:noFill/>
        </p:spPr>
        <p:txBody>
          <a:bodyPr wrap="square" lIns="25400" tIns="12700" rIns="25400" bIns="12700">
            <a:spAutoFit/>
          </a:bodyPr>
          <a:lstStyle/>
          <a:p>
            <a:pPr algn="l"/>
            <a:r>
              <a:rPr sz="1060" b="0">
                <a:solidFill>
                  <a:srgbClr val="303030"/>
                </a:solidFill>
                <a:latin typeface="Arial"/>
              </a:rPr>
              <a:t>Planteamiento: EstacionaTec es un sistema de control de estacionamiento para hoteles. Se pide organizar un cronograma con actividades como requerimientos, diseño del módulo de registro, desarrollo del panel de disponibilidad, integración del lector QR, pruebas y documentación final.</a:t>
            </a:r>
          </a:p>
        </p:txBody>
      </p:sp>
      <p:sp>
        <p:nvSpPr>
          <p:cNvPr id="8" name="TextBox 7"/>
          <p:cNvSpPr txBox="1"/>
          <p:nvPr/>
        </p:nvSpPr>
        <p:spPr>
          <a:xfrm>
            <a:off x="960120" y="2782922"/>
            <a:ext cx="2011680" cy="218008"/>
          </a:xfrm>
          <a:prstGeom prst="rect">
            <a:avLst/>
          </a:prstGeom>
          <a:noFill/>
        </p:spPr>
        <p:txBody>
          <a:bodyPr wrap="square" lIns="25400" tIns="12700" rIns="25400" bIns="12700">
            <a:spAutoFit/>
          </a:bodyPr>
          <a:lstStyle/>
          <a:p>
            <a:pPr algn="l"/>
            <a:r>
              <a:rPr sz="1250" b="1" dirty="0">
                <a:latin typeface="Arial"/>
              </a:rPr>
              <a:t>Respuesta </a:t>
            </a:r>
            <a:r>
              <a:rPr sz="1250" b="1" dirty="0" err="1">
                <a:latin typeface="Arial"/>
              </a:rPr>
              <a:t>propuesta</a:t>
            </a:r>
            <a:endParaRPr sz="1250" b="1" dirty="0">
              <a:latin typeface="Arial"/>
            </a:endParaRPr>
          </a:p>
        </p:txBody>
      </p:sp>
      <p:sp>
        <p:nvSpPr>
          <p:cNvPr id="9" name="TextBox 8"/>
          <p:cNvSpPr txBox="1"/>
          <p:nvPr/>
        </p:nvSpPr>
        <p:spPr>
          <a:xfrm>
            <a:off x="884412" y="3214608"/>
            <a:ext cx="3429000" cy="1600200"/>
          </a:xfrm>
          <a:prstGeom prst="rect">
            <a:avLst/>
          </a:prstGeom>
          <a:noFill/>
        </p:spPr>
        <p:txBody>
          <a:bodyPr wrap="square" lIns="25400" tIns="12700" rIns="25400" bIns="12700">
            <a:spAutoFit/>
          </a:bodyPr>
          <a:lstStyle/>
          <a:p>
            <a:pPr algn="l"/>
            <a:r>
              <a:rPr sz="1050" b="0" dirty="0">
                <a:solidFill>
                  <a:srgbClr val="303030"/>
                </a:solidFill>
                <a:latin typeface="Arial"/>
              </a:rPr>
              <a:t>Respuesta </a:t>
            </a:r>
            <a:r>
              <a:rPr sz="1050" b="0" dirty="0" err="1">
                <a:solidFill>
                  <a:srgbClr val="303030"/>
                </a:solidFill>
                <a:latin typeface="Arial"/>
              </a:rPr>
              <a:t>propuesta</a:t>
            </a:r>
            <a:r>
              <a:rPr sz="1050" b="0" dirty="0">
                <a:solidFill>
                  <a:srgbClr val="303030"/>
                </a:solidFill>
                <a:latin typeface="Arial"/>
              </a:rPr>
              <a:t>: Se </a:t>
            </a:r>
            <a:r>
              <a:rPr sz="1050" b="0" dirty="0" err="1">
                <a:solidFill>
                  <a:srgbClr val="303030"/>
                </a:solidFill>
                <a:latin typeface="Arial"/>
              </a:rPr>
              <a:t>ordenaron</a:t>
            </a:r>
            <a:r>
              <a:rPr sz="1050" b="0" dirty="0">
                <a:solidFill>
                  <a:srgbClr val="303030"/>
                </a:solidFill>
                <a:latin typeface="Arial"/>
              </a:rPr>
              <a:t> las </a:t>
            </a:r>
            <a:r>
              <a:rPr sz="1050" b="0" dirty="0" err="1">
                <a:solidFill>
                  <a:srgbClr val="303030"/>
                </a:solidFill>
                <a:latin typeface="Arial"/>
              </a:rPr>
              <a:t>tareas</a:t>
            </a:r>
            <a:r>
              <a:rPr sz="1050" b="0" dirty="0">
                <a:solidFill>
                  <a:srgbClr val="303030"/>
                </a:solidFill>
                <a:latin typeface="Arial"/>
              </a:rPr>
              <a:t> de </a:t>
            </a:r>
            <a:r>
              <a:rPr sz="1050" b="0" dirty="0" err="1">
                <a:solidFill>
                  <a:srgbClr val="303030"/>
                </a:solidFill>
                <a:latin typeface="Arial"/>
              </a:rPr>
              <a:t>manera</a:t>
            </a:r>
            <a:r>
              <a:rPr sz="1050" b="0" dirty="0">
                <a:solidFill>
                  <a:srgbClr val="303030"/>
                </a:solidFill>
                <a:latin typeface="Arial"/>
              </a:rPr>
              <a:t> </a:t>
            </a:r>
            <a:r>
              <a:rPr sz="1050" b="0" dirty="0" err="1">
                <a:solidFill>
                  <a:srgbClr val="303030"/>
                </a:solidFill>
                <a:latin typeface="Arial"/>
              </a:rPr>
              <a:t>secuencial</a:t>
            </a:r>
            <a:r>
              <a:rPr sz="1050" b="0" dirty="0">
                <a:solidFill>
                  <a:srgbClr val="303030"/>
                </a:solidFill>
                <a:latin typeface="Arial"/>
              </a:rPr>
              <a:t> y se </a:t>
            </a:r>
            <a:r>
              <a:rPr sz="1050" b="0" dirty="0" err="1">
                <a:solidFill>
                  <a:srgbClr val="303030"/>
                </a:solidFill>
                <a:latin typeface="Arial"/>
              </a:rPr>
              <a:t>asignaron</a:t>
            </a:r>
            <a:r>
              <a:rPr sz="1050" b="0" dirty="0">
                <a:solidFill>
                  <a:srgbClr val="303030"/>
                </a:solidFill>
                <a:latin typeface="Arial"/>
              </a:rPr>
              <a:t> </a:t>
            </a:r>
            <a:r>
              <a:rPr sz="1050" b="0" dirty="0" err="1">
                <a:solidFill>
                  <a:srgbClr val="303030"/>
                </a:solidFill>
                <a:latin typeface="Arial"/>
              </a:rPr>
              <a:t>duraciones</a:t>
            </a:r>
            <a:r>
              <a:rPr sz="1050" b="0" dirty="0">
                <a:solidFill>
                  <a:srgbClr val="303030"/>
                </a:solidFill>
                <a:latin typeface="Arial"/>
              </a:rPr>
              <a:t> </a:t>
            </a:r>
            <a:r>
              <a:rPr sz="1050" b="0" dirty="0" err="1">
                <a:solidFill>
                  <a:srgbClr val="303030"/>
                </a:solidFill>
                <a:latin typeface="Arial"/>
              </a:rPr>
              <a:t>aproximadas</a:t>
            </a:r>
            <a:r>
              <a:rPr sz="1050" b="0" dirty="0">
                <a:solidFill>
                  <a:srgbClr val="303030"/>
                </a:solidFill>
                <a:latin typeface="Arial"/>
              </a:rPr>
              <a:t>. El </a:t>
            </a:r>
            <a:r>
              <a:rPr sz="1050" b="0" dirty="0" err="1">
                <a:solidFill>
                  <a:srgbClr val="303030"/>
                </a:solidFill>
                <a:latin typeface="Arial"/>
              </a:rPr>
              <a:t>cronograma</a:t>
            </a:r>
            <a:r>
              <a:rPr sz="1050" b="0" dirty="0">
                <a:solidFill>
                  <a:srgbClr val="303030"/>
                </a:solidFill>
                <a:latin typeface="Arial"/>
              </a:rPr>
              <a:t> </a:t>
            </a:r>
            <a:r>
              <a:rPr sz="1050" b="0" dirty="0" err="1">
                <a:solidFill>
                  <a:srgbClr val="303030"/>
                </a:solidFill>
                <a:latin typeface="Arial"/>
              </a:rPr>
              <a:t>permite</a:t>
            </a:r>
            <a:r>
              <a:rPr sz="1050" b="0" dirty="0">
                <a:solidFill>
                  <a:srgbClr val="303030"/>
                </a:solidFill>
                <a:latin typeface="Arial"/>
              </a:rPr>
              <a:t> </a:t>
            </a:r>
            <a:r>
              <a:rPr sz="1050" b="0" dirty="0" err="1">
                <a:solidFill>
                  <a:srgbClr val="303030"/>
                </a:solidFill>
                <a:latin typeface="Arial"/>
              </a:rPr>
              <a:t>observar</a:t>
            </a:r>
            <a:r>
              <a:rPr sz="1050" b="0" dirty="0">
                <a:solidFill>
                  <a:srgbClr val="303030"/>
                </a:solidFill>
                <a:latin typeface="Arial"/>
              </a:rPr>
              <a:t> </a:t>
            </a:r>
            <a:r>
              <a:rPr sz="1050" b="0" dirty="0" err="1">
                <a:solidFill>
                  <a:srgbClr val="303030"/>
                </a:solidFill>
                <a:latin typeface="Arial"/>
              </a:rPr>
              <a:t>el</a:t>
            </a:r>
            <a:r>
              <a:rPr sz="1050" b="0" dirty="0">
                <a:solidFill>
                  <a:srgbClr val="303030"/>
                </a:solidFill>
                <a:latin typeface="Arial"/>
              </a:rPr>
              <a:t> </a:t>
            </a:r>
            <a:r>
              <a:rPr sz="1050" b="0" dirty="0" err="1">
                <a:solidFill>
                  <a:srgbClr val="303030"/>
                </a:solidFill>
                <a:latin typeface="Arial"/>
              </a:rPr>
              <a:t>inicio</a:t>
            </a:r>
            <a:r>
              <a:rPr sz="1050" b="0" dirty="0">
                <a:solidFill>
                  <a:srgbClr val="303030"/>
                </a:solidFill>
                <a:latin typeface="Arial"/>
              </a:rPr>
              <a:t>, </a:t>
            </a:r>
            <a:r>
              <a:rPr sz="1050" b="0" dirty="0" err="1">
                <a:solidFill>
                  <a:srgbClr val="303030"/>
                </a:solidFill>
                <a:latin typeface="Arial"/>
              </a:rPr>
              <a:t>término</a:t>
            </a:r>
            <a:r>
              <a:rPr sz="1050" b="0" dirty="0">
                <a:solidFill>
                  <a:srgbClr val="303030"/>
                </a:solidFill>
                <a:latin typeface="Arial"/>
              </a:rPr>
              <a:t> y </a:t>
            </a:r>
            <a:r>
              <a:rPr sz="1050" b="0" dirty="0" err="1">
                <a:solidFill>
                  <a:srgbClr val="303030"/>
                </a:solidFill>
                <a:latin typeface="Arial"/>
              </a:rPr>
              <a:t>dependencia</a:t>
            </a:r>
            <a:r>
              <a:rPr sz="1050" b="0" dirty="0">
                <a:solidFill>
                  <a:srgbClr val="303030"/>
                </a:solidFill>
                <a:latin typeface="Arial"/>
              </a:rPr>
              <a:t> de </a:t>
            </a:r>
            <a:r>
              <a:rPr sz="1050" b="0" dirty="0" err="1">
                <a:solidFill>
                  <a:srgbClr val="303030"/>
                </a:solidFill>
                <a:latin typeface="Arial"/>
              </a:rPr>
              <a:t>cada</a:t>
            </a:r>
            <a:r>
              <a:rPr sz="1050" b="0" dirty="0">
                <a:solidFill>
                  <a:srgbClr val="303030"/>
                </a:solidFill>
                <a:latin typeface="Arial"/>
              </a:rPr>
              <a:t> </a:t>
            </a:r>
            <a:r>
              <a:rPr sz="1050" b="0" dirty="0" err="1">
                <a:solidFill>
                  <a:srgbClr val="303030"/>
                </a:solidFill>
                <a:latin typeface="Arial"/>
              </a:rPr>
              <a:t>actividad</a:t>
            </a:r>
            <a:r>
              <a:rPr sz="1050" b="0" dirty="0">
                <a:solidFill>
                  <a:srgbClr val="303030"/>
                </a:solidFill>
                <a:latin typeface="Arial"/>
              </a:rPr>
              <a:t>, </a:t>
            </a:r>
            <a:r>
              <a:rPr sz="1050" b="0" dirty="0" err="1">
                <a:solidFill>
                  <a:srgbClr val="303030"/>
                </a:solidFill>
                <a:latin typeface="Arial"/>
              </a:rPr>
              <a:t>facilitando</a:t>
            </a:r>
            <a:r>
              <a:rPr sz="1050" b="0" dirty="0">
                <a:solidFill>
                  <a:srgbClr val="303030"/>
                </a:solidFill>
                <a:latin typeface="Arial"/>
              </a:rPr>
              <a:t> </a:t>
            </a:r>
            <a:r>
              <a:rPr sz="1050" b="0" dirty="0" err="1">
                <a:solidFill>
                  <a:srgbClr val="303030"/>
                </a:solidFill>
                <a:latin typeface="Arial"/>
              </a:rPr>
              <a:t>el</a:t>
            </a:r>
            <a:r>
              <a:rPr sz="1050" b="0" dirty="0">
                <a:solidFill>
                  <a:srgbClr val="303030"/>
                </a:solidFill>
                <a:latin typeface="Arial"/>
              </a:rPr>
              <a:t> control del </a:t>
            </a:r>
            <a:r>
              <a:rPr sz="1050" b="0" dirty="0" err="1">
                <a:solidFill>
                  <a:srgbClr val="303030"/>
                </a:solidFill>
                <a:latin typeface="Arial"/>
              </a:rPr>
              <a:t>tiempo</a:t>
            </a:r>
            <a:r>
              <a:rPr sz="1050" b="0" dirty="0">
                <a:solidFill>
                  <a:srgbClr val="303030"/>
                </a:solidFill>
                <a:latin typeface="Arial"/>
              </a:rPr>
              <a:t> del </a:t>
            </a:r>
            <a:r>
              <a:rPr sz="1050" b="0" dirty="0" err="1">
                <a:solidFill>
                  <a:srgbClr val="303030"/>
                </a:solidFill>
                <a:latin typeface="Arial"/>
              </a:rPr>
              <a:t>proyecto</a:t>
            </a:r>
            <a:r>
              <a:rPr sz="1050" b="0" dirty="0">
                <a:solidFill>
                  <a:srgbClr val="303030"/>
                </a:solidFill>
                <a:latin typeface="Arial"/>
              </a:rPr>
              <a:t>.</a:t>
            </a:r>
          </a:p>
        </p:txBody>
      </p:sp>
      <p:pic>
        <p:nvPicPr>
          <p:cNvPr id="10" name="Picture 9" descr="EstacionaTec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2 · Rinconcito VC</a:t>
            </a:r>
          </a:p>
        </p:txBody>
      </p:sp>
      <p:sp>
        <p:nvSpPr>
          <p:cNvPr id="6" name="TextBox 5"/>
          <p:cNvSpPr txBox="1"/>
          <p:nvPr/>
        </p:nvSpPr>
        <p:spPr>
          <a:xfrm>
            <a:off x="960120" y="1170432"/>
            <a:ext cx="1645920" cy="218008"/>
          </a:xfrm>
          <a:prstGeom prst="rect">
            <a:avLst/>
          </a:prstGeom>
          <a:noFill/>
        </p:spPr>
        <p:txBody>
          <a:bodyPr wrap="square" lIns="25400" tIns="12700" rIns="25400" bIns="12700">
            <a:spAutoFit/>
          </a:bodyPr>
          <a:lstStyle/>
          <a:p>
            <a:pPr algn="l"/>
            <a:r>
              <a:rPr sz="1250" b="1" dirty="0" err="1">
                <a:latin typeface="Arial"/>
              </a:rPr>
              <a:t>Planteamiento</a:t>
            </a:r>
            <a:endParaRPr sz="1250" b="1" dirty="0">
              <a:latin typeface="Arial"/>
            </a:endParaRPr>
          </a:p>
        </p:txBody>
      </p:sp>
      <p:sp>
        <p:nvSpPr>
          <p:cNvPr id="7" name="TextBox 6"/>
          <p:cNvSpPr txBox="1"/>
          <p:nvPr/>
        </p:nvSpPr>
        <p:spPr>
          <a:xfrm>
            <a:off x="914400" y="1481328"/>
            <a:ext cx="3429000" cy="2331720"/>
          </a:xfrm>
          <a:prstGeom prst="rect">
            <a:avLst/>
          </a:prstGeom>
          <a:noFill/>
        </p:spPr>
        <p:txBody>
          <a:bodyPr wrap="square" lIns="25400" tIns="12700" rIns="25400" bIns="12700">
            <a:spAutoFit/>
          </a:bodyPr>
          <a:lstStyle/>
          <a:p>
            <a:pPr algn="l"/>
            <a:r>
              <a:rPr sz="1060" b="0">
                <a:solidFill>
                  <a:srgbClr val="303030"/>
                </a:solidFill>
                <a:latin typeface="Arial"/>
              </a:rPr>
              <a:t>Planteamiento: Rinconcito VC es un marketplace de café. Se solicita dividir el proyecto en paquetes de trabajo y definir quién participa en cada actividad principal mediante una matriz RACI.</a:t>
            </a:r>
          </a:p>
        </p:txBody>
      </p:sp>
      <p:sp>
        <p:nvSpPr>
          <p:cNvPr id="8" name="TextBox 7"/>
          <p:cNvSpPr txBox="1"/>
          <p:nvPr/>
        </p:nvSpPr>
        <p:spPr>
          <a:xfrm>
            <a:off x="960120" y="3913632"/>
            <a:ext cx="2011680" cy="218008"/>
          </a:xfrm>
          <a:prstGeom prst="rect">
            <a:avLst/>
          </a:prstGeom>
          <a:noFill/>
        </p:spPr>
        <p:txBody>
          <a:bodyPr wrap="square" lIns="25400" tIns="12700" rIns="25400" bIns="12700">
            <a:spAutoFit/>
          </a:bodyPr>
          <a:lstStyle/>
          <a:p>
            <a:pPr algn="l"/>
            <a:r>
              <a:rPr sz="1250" b="1" dirty="0">
                <a:latin typeface="Arial"/>
              </a:rPr>
              <a:t>Respuesta </a:t>
            </a:r>
            <a:r>
              <a:rPr sz="1250" b="1" dirty="0" err="1">
                <a:latin typeface="Arial"/>
              </a:rPr>
              <a:t>propuesta</a:t>
            </a:r>
            <a:endParaRPr sz="1250" b="1" dirty="0">
              <a:latin typeface="Arial"/>
            </a:endParaRPr>
          </a:p>
        </p:txBody>
      </p:sp>
      <p:sp>
        <p:nvSpPr>
          <p:cNvPr id="9" name="TextBox 8"/>
          <p:cNvSpPr txBox="1"/>
          <p:nvPr/>
        </p:nvSpPr>
        <p:spPr>
          <a:xfrm>
            <a:off x="914400" y="4224528"/>
            <a:ext cx="3429000" cy="1600200"/>
          </a:xfrm>
          <a:prstGeom prst="rect">
            <a:avLst/>
          </a:prstGeom>
          <a:noFill/>
        </p:spPr>
        <p:txBody>
          <a:bodyPr wrap="square" lIns="25400" tIns="12700" rIns="25400" bIns="12700">
            <a:spAutoFit/>
          </a:bodyPr>
          <a:lstStyle/>
          <a:p>
            <a:pPr algn="l"/>
            <a:r>
              <a:rPr sz="1050" b="0">
                <a:solidFill>
                  <a:srgbClr val="303030"/>
                </a:solidFill>
                <a:latin typeface="Arial"/>
              </a:rPr>
              <a:t>Respuesta propuesta: Se estructuró una EDT/WBS con fases como requerimientos, catálogo de café, pagos en línea, pruebas y cierre. Después se asignaron responsabilidades al líder del proyecto, backend, frontend, seguridad y cliente.</a:t>
            </a:r>
          </a:p>
        </p:txBody>
      </p:sp>
      <p:pic>
        <p:nvPicPr>
          <p:cNvPr id="10" name="Picture 9" descr="Rinconcito_VC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3251211" cy="415498"/>
          </a:xfrm>
          <a:prstGeom prst="rect">
            <a:avLst/>
          </a:prstGeom>
          <a:noFill/>
        </p:spPr>
        <p:txBody>
          <a:bodyPr wrap="none">
            <a:spAutoFit/>
          </a:bodyPr>
          <a:lstStyle/>
          <a:p>
            <a:pPr algn="l"/>
            <a:r>
              <a:rPr sz="2100" b="1" dirty="0" err="1">
                <a:solidFill>
                  <a:srgbClr val="181818"/>
                </a:solidFill>
                <a:latin typeface="Arial"/>
              </a:rPr>
              <a:t>Ejercicio</a:t>
            </a:r>
            <a:r>
              <a:rPr sz="2100" b="1" dirty="0">
                <a:solidFill>
                  <a:srgbClr val="181818"/>
                </a:solidFill>
                <a:latin typeface="Arial"/>
              </a:rPr>
              <a:t> 3  </a:t>
            </a:r>
            <a:r>
              <a:rPr sz="2100" b="1" dirty="0" err="1">
                <a:solidFill>
                  <a:srgbClr val="181818"/>
                </a:solidFill>
                <a:latin typeface="Arial"/>
              </a:rPr>
              <a:t>LocalMarket</a:t>
            </a:r>
            <a:endParaRPr sz="2100" b="1" dirty="0">
              <a:solidFill>
                <a:srgbClr val="181818"/>
              </a:solidFill>
              <a:latin typeface="Arial"/>
            </a:endParaRPr>
          </a:p>
        </p:txBody>
      </p:sp>
      <p:sp>
        <p:nvSpPr>
          <p:cNvPr id="6" name="TextBox 5"/>
          <p:cNvSpPr txBox="1"/>
          <p:nvPr/>
        </p:nvSpPr>
        <p:spPr>
          <a:xfrm>
            <a:off x="960120" y="1170432"/>
            <a:ext cx="1645920" cy="218008"/>
          </a:xfrm>
          <a:prstGeom prst="rect">
            <a:avLst/>
          </a:prstGeom>
          <a:noFill/>
        </p:spPr>
        <p:txBody>
          <a:bodyPr wrap="square" lIns="25400" tIns="12700" rIns="25400" bIns="12700">
            <a:spAutoFit/>
          </a:bodyPr>
          <a:lstStyle/>
          <a:p>
            <a:pPr algn="l"/>
            <a:r>
              <a:rPr sz="1250" b="1" dirty="0" err="1">
                <a:latin typeface="Arial"/>
              </a:rPr>
              <a:t>Planteamiento</a:t>
            </a:r>
            <a:endParaRPr sz="1250" b="1" dirty="0">
              <a:latin typeface="Arial"/>
            </a:endParaRPr>
          </a:p>
        </p:txBody>
      </p:sp>
      <p:sp>
        <p:nvSpPr>
          <p:cNvPr id="7" name="TextBox 6"/>
          <p:cNvSpPr txBox="1"/>
          <p:nvPr/>
        </p:nvSpPr>
        <p:spPr>
          <a:xfrm>
            <a:off x="914400" y="1481328"/>
            <a:ext cx="3429000" cy="2331720"/>
          </a:xfrm>
          <a:prstGeom prst="rect">
            <a:avLst/>
          </a:prstGeom>
          <a:noFill/>
        </p:spPr>
        <p:txBody>
          <a:bodyPr wrap="square" lIns="25400" tIns="12700" rIns="25400" bIns="12700">
            <a:spAutoFit/>
          </a:bodyPr>
          <a:lstStyle/>
          <a:p>
            <a:pPr algn="l"/>
            <a:r>
              <a:rPr sz="1060" b="0">
                <a:solidFill>
                  <a:srgbClr val="303030"/>
                </a:solidFill>
                <a:latin typeface="Arial"/>
              </a:rPr>
              <a:t>Planteamiento: LocalMarket es una plataforma de ventas en línea. Se pide elaborar un cronograma resumido con fases de planeación, diseño, desarrollo y cierre para observar la secuencia del proyecto.</a:t>
            </a:r>
          </a:p>
        </p:txBody>
      </p:sp>
      <p:sp>
        <p:nvSpPr>
          <p:cNvPr id="8" name="TextBox 7"/>
          <p:cNvSpPr txBox="1"/>
          <p:nvPr/>
        </p:nvSpPr>
        <p:spPr>
          <a:xfrm>
            <a:off x="960120" y="3913632"/>
            <a:ext cx="2011680" cy="218008"/>
          </a:xfrm>
          <a:prstGeom prst="rect">
            <a:avLst/>
          </a:prstGeom>
          <a:noFill/>
        </p:spPr>
        <p:txBody>
          <a:bodyPr wrap="square" lIns="25400" tIns="12700" rIns="25400" bIns="12700">
            <a:spAutoFit/>
          </a:bodyPr>
          <a:lstStyle/>
          <a:p>
            <a:pPr algn="l"/>
            <a:r>
              <a:rPr sz="1250" b="1" dirty="0">
                <a:latin typeface="Arial"/>
              </a:rPr>
              <a:t>Respuesta </a:t>
            </a:r>
            <a:r>
              <a:rPr sz="1250" b="1" dirty="0" err="1">
                <a:latin typeface="Arial"/>
              </a:rPr>
              <a:t>propuesta</a:t>
            </a:r>
            <a:endParaRPr sz="1250" b="1" dirty="0">
              <a:latin typeface="Arial"/>
            </a:endParaRPr>
          </a:p>
        </p:txBody>
      </p:sp>
      <p:sp>
        <p:nvSpPr>
          <p:cNvPr id="9" name="TextBox 8"/>
          <p:cNvSpPr txBox="1"/>
          <p:nvPr/>
        </p:nvSpPr>
        <p:spPr>
          <a:xfrm>
            <a:off x="914400" y="4224528"/>
            <a:ext cx="3429000" cy="1600200"/>
          </a:xfrm>
          <a:prstGeom prst="rect">
            <a:avLst/>
          </a:prstGeom>
          <a:noFill/>
        </p:spPr>
        <p:txBody>
          <a:bodyPr wrap="square" lIns="25400" tIns="12700" rIns="25400" bIns="12700">
            <a:spAutoFit/>
          </a:bodyPr>
          <a:lstStyle/>
          <a:p>
            <a:pPr algn="l"/>
            <a:r>
              <a:rPr sz="1050" b="0" dirty="0">
                <a:solidFill>
                  <a:srgbClr val="303030"/>
                </a:solidFill>
                <a:latin typeface="Arial"/>
              </a:rPr>
              <a:t>Respuesta </a:t>
            </a:r>
            <a:r>
              <a:rPr sz="1050" b="0" dirty="0" err="1">
                <a:solidFill>
                  <a:srgbClr val="303030"/>
                </a:solidFill>
                <a:latin typeface="Arial"/>
              </a:rPr>
              <a:t>propuesta</a:t>
            </a:r>
            <a:r>
              <a:rPr sz="1050" b="0" dirty="0">
                <a:solidFill>
                  <a:srgbClr val="303030"/>
                </a:solidFill>
                <a:latin typeface="Arial"/>
              </a:rPr>
              <a:t>: Se </a:t>
            </a:r>
            <a:r>
              <a:rPr sz="1050" b="0" dirty="0" err="1">
                <a:solidFill>
                  <a:srgbClr val="303030"/>
                </a:solidFill>
                <a:latin typeface="Arial"/>
              </a:rPr>
              <a:t>distribuyeron</a:t>
            </a:r>
            <a:r>
              <a:rPr sz="1050" b="0" dirty="0">
                <a:solidFill>
                  <a:srgbClr val="303030"/>
                </a:solidFill>
                <a:latin typeface="Arial"/>
              </a:rPr>
              <a:t> las </a:t>
            </a:r>
            <a:r>
              <a:rPr sz="1050" b="0" dirty="0" err="1">
                <a:solidFill>
                  <a:srgbClr val="303030"/>
                </a:solidFill>
                <a:latin typeface="Arial"/>
              </a:rPr>
              <a:t>actividades</a:t>
            </a:r>
            <a:r>
              <a:rPr sz="1050" b="0" dirty="0">
                <a:solidFill>
                  <a:srgbClr val="303030"/>
                </a:solidFill>
                <a:latin typeface="Arial"/>
              </a:rPr>
              <a:t> </a:t>
            </a:r>
            <a:r>
              <a:rPr sz="1050" b="0" dirty="0" err="1">
                <a:solidFill>
                  <a:srgbClr val="303030"/>
                </a:solidFill>
                <a:latin typeface="Arial"/>
              </a:rPr>
              <a:t>en</a:t>
            </a:r>
            <a:r>
              <a:rPr sz="1050" b="0" dirty="0">
                <a:solidFill>
                  <a:srgbClr val="303030"/>
                </a:solidFill>
                <a:latin typeface="Arial"/>
              </a:rPr>
              <a:t> un </a:t>
            </a:r>
            <a:r>
              <a:rPr sz="1050" b="0" dirty="0" err="1">
                <a:solidFill>
                  <a:srgbClr val="303030"/>
                </a:solidFill>
                <a:latin typeface="Arial"/>
              </a:rPr>
              <a:t>cronograma</a:t>
            </a:r>
            <a:r>
              <a:rPr sz="1050" b="0" dirty="0">
                <a:solidFill>
                  <a:srgbClr val="303030"/>
                </a:solidFill>
                <a:latin typeface="Arial"/>
              </a:rPr>
              <a:t> que </a:t>
            </a:r>
            <a:r>
              <a:rPr sz="1050" b="0" dirty="0" err="1">
                <a:solidFill>
                  <a:srgbClr val="303030"/>
                </a:solidFill>
                <a:latin typeface="Arial"/>
              </a:rPr>
              <a:t>muestra</a:t>
            </a:r>
            <a:r>
              <a:rPr sz="1050" b="0" dirty="0">
                <a:solidFill>
                  <a:srgbClr val="303030"/>
                </a:solidFill>
                <a:latin typeface="Arial"/>
              </a:rPr>
              <a:t> </a:t>
            </a:r>
            <a:r>
              <a:rPr sz="1050" b="0" dirty="0" err="1">
                <a:solidFill>
                  <a:srgbClr val="303030"/>
                </a:solidFill>
                <a:latin typeface="Arial"/>
              </a:rPr>
              <a:t>el</a:t>
            </a:r>
            <a:r>
              <a:rPr sz="1050" b="0" dirty="0">
                <a:solidFill>
                  <a:srgbClr val="303030"/>
                </a:solidFill>
                <a:latin typeface="Arial"/>
              </a:rPr>
              <a:t> </a:t>
            </a:r>
            <a:r>
              <a:rPr sz="1050" b="0" dirty="0" err="1">
                <a:solidFill>
                  <a:srgbClr val="303030"/>
                </a:solidFill>
                <a:latin typeface="Arial"/>
              </a:rPr>
              <a:t>orden</a:t>
            </a:r>
            <a:r>
              <a:rPr sz="1050" b="0" dirty="0">
                <a:solidFill>
                  <a:srgbClr val="303030"/>
                </a:solidFill>
                <a:latin typeface="Arial"/>
              </a:rPr>
              <a:t> del </a:t>
            </a:r>
            <a:r>
              <a:rPr sz="1050" b="0" dirty="0" err="1">
                <a:solidFill>
                  <a:srgbClr val="303030"/>
                </a:solidFill>
                <a:latin typeface="Arial"/>
              </a:rPr>
              <a:t>trabajo</a:t>
            </a:r>
            <a:r>
              <a:rPr sz="1050" b="0" dirty="0">
                <a:solidFill>
                  <a:srgbClr val="303030"/>
                </a:solidFill>
                <a:latin typeface="Arial"/>
              </a:rPr>
              <a:t> y la </a:t>
            </a:r>
            <a:r>
              <a:rPr sz="1050" b="0" dirty="0" err="1">
                <a:solidFill>
                  <a:srgbClr val="303030"/>
                </a:solidFill>
                <a:latin typeface="Arial"/>
              </a:rPr>
              <a:t>duración</a:t>
            </a:r>
            <a:r>
              <a:rPr sz="1050" b="0" dirty="0">
                <a:solidFill>
                  <a:srgbClr val="303030"/>
                </a:solidFill>
                <a:latin typeface="Arial"/>
              </a:rPr>
              <a:t> de </a:t>
            </a:r>
            <a:r>
              <a:rPr sz="1050" b="0" dirty="0" err="1">
                <a:solidFill>
                  <a:srgbClr val="303030"/>
                </a:solidFill>
                <a:latin typeface="Arial"/>
              </a:rPr>
              <a:t>cada</a:t>
            </a:r>
            <a:r>
              <a:rPr sz="1050" b="0" dirty="0">
                <a:solidFill>
                  <a:srgbClr val="303030"/>
                </a:solidFill>
                <a:latin typeface="Arial"/>
              </a:rPr>
              <a:t> </a:t>
            </a:r>
            <a:r>
              <a:rPr sz="1050" b="0" dirty="0" err="1">
                <a:solidFill>
                  <a:srgbClr val="303030"/>
                </a:solidFill>
                <a:latin typeface="Arial"/>
              </a:rPr>
              <a:t>etapa</a:t>
            </a:r>
            <a:r>
              <a:rPr sz="1050" b="0" dirty="0">
                <a:solidFill>
                  <a:srgbClr val="303030"/>
                </a:solidFill>
                <a:latin typeface="Arial"/>
              </a:rPr>
              <a:t>. </a:t>
            </a:r>
            <a:r>
              <a:rPr sz="1050" b="0" dirty="0" err="1">
                <a:solidFill>
                  <a:srgbClr val="303030"/>
                </a:solidFill>
                <a:latin typeface="Arial"/>
              </a:rPr>
              <a:t>Esto</a:t>
            </a:r>
            <a:r>
              <a:rPr sz="1050" b="0" dirty="0">
                <a:solidFill>
                  <a:srgbClr val="303030"/>
                </a:solidFill>
                <a:latin typeface="Arial"/>
              </a:rPr>
              <a:t> </a:t>
            </a:r>
            <a:r>
              <a:rPr sz="1050" b="0" dirty="0" err="1">
                <a:solidFill>
                  <a:srgbClr val="303030"/>
                </a:solidFill>
                <a:latin typeface="Arial"/>
              </a:rPr>
              <a:t>permite</a:t>
            </a:r>
            <a:r>
              <a:rPr sz="1050" b="0" dirty="0">
                <a:solidFill>
                  <a:srgbClr val="303030"/>
                </a:solidFill>
                <a:latin typeface="Arial"/>
              </a:rPr>
              <a:t> </a:t>
            </a:r>
            <a:r>
              <a:rPr sz="1050" b="0" dirty="0" err="1">
                <a:solidFill>
                  <a:srgbClr val="303030"/>
                </a:solidFill>
                <a:latin typeface="Arial"/>
              </a:rPr>
              <a:t>controlar</a:t>
            </a:r>
            <a:r>
              <a:rPr sz="1050" b="0" dirty="0">
                <a:solidFill>
                  <a:srgbClr val="303030"/>
                </a:solidFill>
                <a:latin typeface="Arial"/>
              </a:rPr>
              <a:t> </a:t>
            </a:r>
            <a:r>
              <a:rPr sz="1050" b="0" dirty="0" err="1">
                <a:solidFill>
                  <a:srgbClr val="303030"/>
                </a:solidFill>
                <a:latin typeface="Arial"/>
              </a:rPr>
              <a:t>el</a:t>
            </a:r>
            <a:r>
              <a:rPr sz="1050" b="0" dirty="0">
                <a:solidFill>
                  <a:srgbClr val="303030"/>
                </a:solidFill>
                <a:latin typeface="Arial"/>
              </a:rPr>
              <a:t> </a:t>
            </a:r>
            <a:r>
              <a:rPr sz="1050" b="0" dirty="0" err="1">
                <a:solidFill>
                  <a:srgbClr val="303030"/>
                </a:solidFill>
                <a:latin typeface="Arial"/>
              </a:rPr>
              <a:t>avance</a:t>
            </a:r>
            <a:r>
              <a:rPr sz="1050" b="0" dirty="0">
                <a:solidFill>
                  <a:srgbClr val="303030"/>
                </a:solidFill>
                <a:latin typeface="Arial"/>
              </a:rPr>
              <a:t> y </a:t>
            </a:r>
            <a:r>
              <a:rPr sz="1050" b="0" dirty="0" err="1">
                <a:solidFill>
                  <a:srgbClr val="303030"/>
                </a:solidFill>
                <a:latin typeface="Arial"/>
              </a:rPr>
              <a:t>visualizar</a:t>
            </a:r>
            <a:r>
              <a:rPr sz="1050" b="0" dirty="0">
                <a:solidFill>
                  <a:srgbClr val="303030"/>
                </a:solidFill>
                <a:latin typeface="Arial"/>
              </a:rPr>
              <a:t> </a:t>
            </a:r>
            <a:r>
              <a:rPr sz="1050" b="0" dirty="0" err="1">
                <a:solidFill>
                  <a:srgbClr val="303030"/>
                </a:solidFill>
                <a:latin typeface="Arial"/>
              </a:rPr>
              <a:t>el</a:t>
            </a:r>
            <a:r>
              <a:rPr sz="1050" b="0" dirty="0">
                <a:solidFill>
                  <a:srgbClr val="303030"/>
                </a:solidFill>
                <a:latin typeface="Arial"/>
              </a:rPr>
              <a:t> </a:t>
            </a:r>
            <a:r>
              <a:rPr sz="1050" b="0" dirty="0" err="1">
                <a:solidFill>
                  <a:srgbClr val="303030"/>
                </a:solidFill>
                <a:latin typeface="Arial"/>
              </a:rPr>
              <a:t>momento</a:t>
            </a:r>
            <a:r>
              <a:rPr sz="1050" b="0" dirty="0">
                <a:solidFill>
                  <a:srgbClr val="303030"/>
                </a:solidFill>
                <a:latin typeface="Arial"/>
              </a:rPr>
              <a:t> </a:t>
            </a:r>
            <a:r>
              <a:rPr sz="1050" b="0" dirty="0" err="1">
                <a:solidFill>
                  <a:srgbClr val="303030"/>
                </a:solidFill>
                <a:latin typeface="Arial"/>
              </a:rPr>
              <a:t>en</a:t>
            </a:r>
            <a:r>
              <a:rPr sz="1050" b="0" dirty="0">
                <a:solidFill>
                  <a:srgbClr val="303030"/>
                </a:solidFill>
                <a:latin typeface="Arial"/>
              </a:rPr>
              <a:t> que </a:t>
            </a:r>
            <a:r>
              <a:rPr sz="1050" b="0" dirty="0" err="1">
                <a:solidFill>
                  <a:srgbClr val="303030"/>
                </a:solidFill>
                <a:latin typeface="Arial"/>
              </a:rPr>
              <a:t>deben</a:t>
            </a:r>
            <a:r>
              <a:rPr sz="1050" b="0" dirty="0">
                <a:solidFill>
                  <a:srgbClr val="303030"/>
                </a:solidFill>
                <a:latin typeface="Arial"/>
              </a:rPr>
              <a:t> </a:t>
            </a:r>
            <a:r>
              <a:rPr sz="1050" b="0" dirty="0" err="1">
                <a:solidFill>
                  <a:srgbClr val="303030"/>
                </a:solidFill>
                <a:latin typeface="Arial"/>
              </a:rPr>
              <a:t>realizarse</a:t>
            </a:r>
            <a:r>
              <a:rPr sz="1050" b="0" dirty="0">
                <a:solidFill>
                  <a:srgbClr val="303030"/>
                </a:solidFill>
                <a:latin typeface="Arial"/>
              </a:rPr>
              <a:t> las </a:t>
            </a:r>
            <a:r>
              <a:rPr sz="1050" b="0" dirty="0" err="1">
                <a:solidFill>
                  <a:srgbClr val="303030"/>
                </a:solidFill>
                <a:latin typeface="Arial"/>
              </a:rPr>
              <a:t>pruebas</a:t>
            </a:r>
            <a:r>
              <a:rPr sz="1050" b="0" dirty="0">
                <a:solidFill>
                  <a:srgbClr val="303030"/>
                </a:solidFill>
                <a:latin typeface="Arial"/>
              </a:rPr>
              <a:t> y la </a:t>
            </a:r>
            <a:r>
              <a:rPr sz="1050" b="0" dirty="0" err="1">
                <a:solidFill>
                  <a:srgbClr val="303030"/>
                </a:solidFill>
                <a:latin typeface="Arial"/>
              </a:rPr>
              <a:t>entrega</a:t>
            </a:r>
            <a:r>
              <a:rPr sz="1050" b="0" dirty="0">
                <a:solidFill>
                  <a:srgbClr val="303030"/>
                </a:solidFill>
                <a:latin typeface="Arial"/>
              </a:rPr>
              <a:t> final.</a:t>
            </a:r>
          </a:p>
        </p:txBody>
      </p:sp>
      <p:pic>
        <p:nvPicPr>
          <p:cNvPr id="10" name="Picture 9" descr="cronograma_de_proyecto_localmarket.png"/>
          <p:cNvPicPr>
            <a:picLocks noChangeAspect="1"/>
          </p:cNvPicPr>
          <p:nvPr/>
        </p:nvPicPr>
        <p:blipFill>
          <a:blip r:embed="rId2"/>
          <a:stretch>
            <a:fillRect/>
          </a:stretch>
        </p:blipFill>
        <p:spPr>
          <a:xfrm>
            <a:off x="4800600" y="1078992"/>
            <a:ext cx="6492240" cy="3653826"/>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5782352" cy="415498"/>
          </a:xfrm>
          <a:prstGeom prst="rect">
            <a:avLst/>
          </a:prstGeom>
          <a:noFill/>
        </p:spPr>
        <p:txBody>
          <a:bodyPr wrap="none">
            <a:spAutoFit/>
          </a:bodyPr>
          <a:lstStyle/>
          <a:p>
            <a:pPr algn="l"/>
            <a:r>
              <a:rPr sz="2100" b="1" dirty="0" err="1">
                <a:solidFill>
                  <a:srgbClr val="181818"/>
                </a:solidFill>
                <a:latin typeface="Arial"/>
              </a:rPr>
              <a:t>Ejercicio</a:t>
            </a:r>
            <a:r>
              <a:rPr sz="2100" b="1" dirty="0">
                <a:solidFill>
                  <a:srgbClr val="181818"/>
                </a:solidFill>
                <a:latin typeface="Arial"/>
              </a:rPr>
              <a:t> 4  </a:t>
            </a:r>
            <a:r>
              <a:rPr sz="2100" b="1" dirty="0" err="1">
                <a:solidFill>
                  <a:srgbClr val="181818"/>
                </a:solidFill>
                <a:latin typeface="Arial"/>
              </a:rPr>
              <a:t>Gestión</a:t>
            </a:r>
            <a:r>
              <a:rPr sz="2100" b="1" dirty="0">
                <a:solidFill>
                  <a:srgbClr val="181818"/>
                </a:solidFill>
                <a:latin typeface="Arial"/>
              </a:rPr>
              <a:t> de </a:t>
            </a:r>
            <a:r>
              <a:rPr sz="2100" b="1" dirty="0" err="1">
                <a:solidFill>
                  <a:srgbClr val="181818"/>
                </a:solidFill>
                <a:latin typeface="Arial"/>
              </a:rPr>
              <a:t>riesgos</a:t>
            </a:r>
            <a:r>
              <a:rPr sz="2100" b="1" dirty="0">
                <a:solidFill>
                  <a:srgbClr val="181818"/>
                </a:solidFill>
                <a:latin typeface="Arial"/>
              </a:rPr>
              <a:t> y </a:t>
            </a:r>
            <a:r>
              <a:rPr sz="2100" b="1" dirty="0" err="1">
                <a:solidFill>
                  <a:srgbClr val="181818"/>
                </a:solidFill>
                <a:latin typeface="Arial"/>
              </a:rPr>
              <a:t>ruta</a:t>
            </a:r>
            <a:r>
              <a:rPr sz="2100" b="1" dirty="0">
                <a:solidFill>
                  <a:srgbClr val="181818"/>
                </a:solidFill>
                <a:latin typeface="Arial"/>
              </a:rPr>
              <a:t> </a:t>
            </a:r>
            <a:r>
              <a:rPr sz="2100" b="1" dirty="0" err="1">
                <a:solidFill>
                  <a:srgbClr val="181818"/>
                </a:solidFill>
                <a:latin typeface="Arial"/>
              </a:rPr>
              <a:t>crítica</a:t>
            </a:r>
            <a:endParaRPr sz="2100" b="1" dirty="0">
              <a:solidFill>
                <a:srgbClr val="181818"/>
              </a:solidFill>
              <a:latin typeface="Arial"/>
            </a:endParaRPr>
          </a:p>
        </p:txBody>
      </p:sp>
      <p:sp>
        <p:nvSpPr>
          <p:cNvPr id="6" name="TextBox 5"/>
          <p:cNvSpPr txBox="1"/>
          <p:nvPr/>
        </p:nvSpPr>
        <p:spPr>
          <a:xfrm>
            <a:off x="960120" y="1170432"/>
            <a:ext cx="1645920" cy="218008"/>
          </a:xfrm>
          <a:prstGeom prst="rect">
            <a:avLst/>
          </a:prstGeom>
          <a:noFill/>
        </p:spPr>
        <p:txBody>
          <a:bodyPr wrap="square" lIns="25400" tIns="12700" rIns="25400" bIns="12700">
            <a:spAutoFit/>
          </a:bodyPr>
          <a:lstStyle/>
          <a:p>
            <a:pPr algn="l"/>
            <a:r>
              <a:rPr sz="1250" b="1" dirty="0" err="1">
                <a:latin typeface="Arial"/>
              </a:rPr>
              <a:t>Planteamiento</a:t>
            </a:r>
            <a:endParaRPr sz="1250" b="1" dirty="0">
              <a:latin typeface="Arial"/>
            </a:endParaRPr>
          </a:p>
        </p:txBody>
      </p:sp>
      <p:sp>
        <p:nvSpPr>
          <p:cNvPr id="7" name="TextBox 6"/>
          <p:cNvSpPr txBox="1"/>
          <p:nvPr/>
        </p:nvSpPr>
        <p:spPr>
          <a:xfrm>
            <a:off x="914400" y="1481328"/>
            <a:ext cx="3429000" cy="2331720"/>
          </a:xfrm>
          <a:prstGeom prst="rect">
            <a:avLst/>
          </a:prstGeom>
          <a:noFill/>
        </p:spPr>
        <p:txBody>
          <a:bodyPr wrap="square" lIns="25400" tIns="12700" rIns="25400" bIns="12700">
            <a:spAutoFit/>
          </a:bodyPr>
          <a:lstStyle/>
          <a:p>
            <a:pPr algn="l"/>
            <a:r>
              <a:rPr sz="1060" b="0">
                <a:solidFill>
                  <a:srgbClr val="303030"/>
                </a:solidFill>
                <a:latin typeface="Arial"/>
              </a:rPr>
              <a:t>Planteamiento: A partir de un caso general de seguimiento, se deben identificar riesgos del proyecto y reconocer las actividades que no pueden retrasarse. Se solicita valorar probabilidad e impacto y analizar la secuencia crítica.</a:t>
            </a:r>
          </a:p>
        </p:txBody>
      </p:sp>
      <p:sp>
        <p:nvSpPr>
          <p:cNvPr id="8" name="TextBox 7"/>
          <p:cNvSpPr txBox="1"/>
          <p:nvPr/>
        </p:nvSpPr>
        <p:spPr>
          <a:xfrm>
            <a:off x="960120" y="3913632"/>
            <a:ext cx="2011680" cy="218008"/>
          </a:xfrm>
          <a:prstGeom prst="rect">
            <a:avLst/>
          </a:prstGeom>
          <a:noFill/>
        </p:spPr>
        <p:txBody>
          <a:bodyPr wrap="square" lIns="25400" tIns="12700" rIns="25400" bIns="12700">
            <a:spAutoFit/>
          </a:bodyPr>
          <a:lstStyle/>
          <a:p>
            <a:pPr algn="l"/>
            <a:r>
              <a:rPr sz="1250" b="1" dirty="0">
                <a:latin typeface="Arial"/>
              </a:rPr>
              <a:t>Respuesta </a:t>
            </a:r>
            <a:r>
              <a:rPr sz="1250" b="1" dirty="0" err="1">
                <a:latin typeface="Arial"/>
              </a:rPr>
              <a:t>propuesta</a:t>
            </a:r>
            <a:endParaRPr sz="1250" b="1" dirty="0">
              <a:latin typeface="Arial"/>
            </a:endParaRPr>
          </a:p>
        </p:txBody>
      </p:sp>
      <p:sp>
        <p:nvSpPr>
          <p:cNvPr id="9" name="TextBox 8"/>
          <p:cNvSpPr txBox="1"/>
          <p:nvPr/>
        </p:nvSpPr>
        <p:spPr>
          <a:xfrm>
            <a:off x="914400" y="4224528"/>
            <a:ext cx="3429000" cy="1600200"/>
          </a:xfrm>
          <a:prstGeom prst="rect">
            <a:avLst/>
          </a:prstGeom>
          <a:noFill/>
        </p:spPr>
        <p:txBody>
          <a:bodyPr wrap="square" lIns="25400" tIns="12700" rIns="25400" bIns="12700">
            <a:spAutoFit/>
          </a:bodyPr>
          <a:lstStyle/>
          <a:p>
            <a:pPr algn="l"/>
            <a:r>
              <a:rPr sz="1050" b="0">
                <a:solidFill>
                  <a:srgbClr val="303030"/>
                </a:solidFill>
                <a:latin typeface="Arial"/>
              </a:rPr>
              <a:t>Respuesta propuesta: Se elaboró una matriz de riesgos para ubicar amenazas de mayor criticidad y, además, se empleó una vista de ruta crítica para identificar las actividades que deben vigilarse con más cuidado durante el proyecto.</a:t>
            </a:r>
          </a:p>
        </p:txBody>
      </p:sp>
      <p:pic>
        <p:nvPicPr>
          <p:cNvPr id="10" name="Picture 9" descr="Ruta_critica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5211683" cy="415498"/>
          </a:xfrm>
          <a:prstGeom prst="rect">
            <a:avLst/>
          </a:prstGeom>
          <a:noFill/>
        </p:spPr>
        <p:txBody>
          <a:bodyPr wrap="none">
            <a:spAutoFit/>
          </a:bodyPr>
          <a:lstStyle/>
          <a:p>
            <a:pPr algn="l"/>
            <a:r>
              <a:rPr sz="2100" b="1" dirty="0" err="1">
                <a:solidFill>
                  <a:srgbClr val="181818"/>
                </a:solidFill>
                <a:latin typeface="Arial"/>
              </a:rPr>
              <a:t>Complemento</a:t>
            </a:r>
            <a:r>
              <a:rPr sz="2100" b="1" dirty="0">
                <a:solidFill>
                  <a:srgbClr val="181818"/>
                </a:solidFill>
                <a:latin typeface="Arial"/>
              </a:rPr>
              <a:t>  </a:t>
            </a:r>
            <a:r>
              <a:rPr sz="2100" b="1" dirty="0" err="1">
                <a:solidFill>
                  <a:srgbClr val="181818"/>
                </a:solidFill>
                <a:latin typeface="Arial"/>
              </a:rPr>
              <a:t>Riesgos</a:t>
            </a:r>
            <a:r>
              <a:rPr sz="2100" b="1" dirty="0">
                <a:solidFill>
                  <a:srgbClr val="181818"/>
                </a:solidFill>
                <a:latin typeface="Arial"/>
              </a:rPr>
              <a:t> de </a:t>
            </a:r>
            <a:r>
              <a:rPr sz="2100" b="1" dirty="0" err="1">
                <a:solidFill>
                  <a:srgbClr val="181818"/>
                </a:solidFill>
                <a:latin typeface="Arial"/>
              </a:rPr>
              <a:t>LocalMarket</a:t>
            </a:r>
            <a:endParaRPr sz="2100" b="1" dirty="0">
              <a:solidFill>
                <a:srgbClr val="181818"/>
              </a:solidFill>
              <a:latin typeface="Arial"/>
            </a:endParaRPr>
          </a:p>
        </p:txBody>
      </p:sp>
      <p:sp>
        <p:nvSpPr>
          <p:cNvPr id="5" name="TextBox 4"/>
          <p:cNvSpPr txBox="1"/>
          <p:nvPr/>
        </p:nvSpPr>
        <p:spPr>
          <a:xfrm>
            <a:off x="868680" y="868680"/>
            <a:ext cx="10241280" cy="411480"/>
          </a:xfrm>
          <a:prstGeom prst="rect">
            <a:avLst/>
          </a:prstGeom>
          <a:noFill/>
        </p:spPr>
        <p:txBody>
          <a:bodyPr wrap="square" lIns="25400" tIns="12700" rIns="25400" bIns="12700">
            <a:spAutoFit/>
          </a:bodyPr>
          <a:lstStyle/>
          <a:p>
            <a:pPr algn="l"/>
            <a:r>
              <a:rPr sz="1180" b="0" dirty="0">
                <a:solidFill>
                  <a:srgbClr val="303030"/>
                </a:solidFill>
                <a:latin typeface="Arial"/>
              </a:rPr>
              <a:t>Como </a:t>
            </a:r>
            <a:r>
              <a:rPr sz="1180" b="0" dirty="0" err="1">
                <a:solidFill>
                  <a:srgbClr val="303030"/>
                </a:solidFill>
                <a:latin typeface="Arial"/>
              </a:rPr>
              <a:t>apoyo</a:t>
            </a:r>
            <a:r>
              <a:rPr sz="1180" b="0" dirty="0">
                <a:solidFill>
                  <a:srgbClr val="303030"/>
                </a:solidFill>
                <a:latin typeface="Arial"/>
              </a:rPr>
              <a:t> al </a:t>
            </a:r>
            <a:r>
              <a:rPr sz="1180" b="0" dirty="0" err="1">
                <a:solidFill>
                  <a:srgbClr val="303030"/>
                </a:solidFill>
                <a:latin typeface="Arial"/>
              </a:rPr>
              <a:t>ejercicio</a:t>
            </a:r>
            <a:r>
              <a:rPr sz="1180" b="0" dirty="0">
                <a:solidFill>
                  <a:srgbClr val="303030"/>
                </a:solidFill>
                <a:latin typeface="Arial"/>
              </a:rPr>
              <a:t> anterior, </a:t>
            </a:r>
            <a:r>
              <a:rPr sz="1180" b="0" dirty="0" err="1">
                <a:solidFill>
                  <a:srgbClr val="303030"/>
                </a:solidFill>
                <a:latin typeface="Arial"/>
              </a:rPr>
              <a:t>también</a:t>
            </a:r>
            <a:r>
              <a:rPr sz="1180" b="0" dirty="0">
                <a:solidFill>
                  <a:srgbClr val="303030"/>
                </a:solidFill>
                <a:latin typeface="Arial"/>
              </a:rPr>
              <a:t> se </a:t>
            </a:r>
            <a:r>
              <a:rPr sz="1180" b="0" dirty="0" err="1">
                <a:solidFill>
                  <a:srgbClr val="303030"/>
                </a:solidFill>
                <a:latin typeface="Arial"/>
              </a:rPr>
              <a:t>integró</a:t>
            </a:r>
            <a:r>
              <a:rPr sz="1180" b="0" dirty="0">
                <a:solidFill>
                  <a:srgbClr val="303030"/>
                </a:solidFill>
                <a:latin typeface="Arial"/>
              </a:rPr>
              <a:t> la </a:t>
            </a:r>
            <a:r>
              <a:rPr sz="1180" b="0" dirty="0" err="1">
                <a:solidFill>
                  <a:srgbClr val="303030"/>
                </a:solidFill>
                <a:latin typeface="Arial"/>
              </a:rPr>
              <a:t>matriz</a:t>
            </a:r>
            <a:r>
              <a:rPr sz="1180" b="0" dirty="0">
                <a:solidFill>
                  <a:srgbClr val="303030"/>
                </a:solidFill>
                <a:latin typeface="Arial"/>
              </a:rPr>
              <a:t> de </a:t>
            </a:r>
            <a:r>
              <a:rPr sz="1180" b="0" dirty="0" err="1">
                <a:solidFill>
                  <a:srgbClr val="303030"/>
                </a:solidFill>
                <a:latin typeface="Arial"/>
              </a:rPr>
              <a:t>riesgos</a:t>
            </a:r>
            <a:r>
              <a:rPr sz="1180" b="0" dirty="0">
                <a:solidFill>
                  <a:srgbClr val="303030"/>
                </a:solidFill>
                <a:latin typeface="Arial"/>
              </a:rPr>
              <a:t> de </a:t>
            </a:r>
            <a:r>
              <a:rPr sz="1180" b="0" dirty="0" err="1">
                <a:solidFill>
                  <a:srgbClr val="303030"/>
                </a:solidFill>
                <a:latin typeface="Arial"/>
              </a:rPr>
              <a:t>LocalMarket</a:t>
            </a:r>
            <a:r>
              <a:rPr sz="1180" b="0" dirty="0">
                <a:solidFill>
                  <a:srgbClr val="303030"/>
                </a:solidFill>
                <a:latin typeface="Arial"/>
              </a:rPr>
              <a:t> para </a:t>
            </a:r>
            <a:r>
              <a:rPr sz="1180" b="0" dirty="0" err="1">
                <a:solidFill>
                  <a:srgbClr val="303030"/>
                </a:solidFill>
                <a:latin typeface="Arial"/>
              </a:rPr>
              <a:t>observar</a:t>
            </a:r>
            <a:r>
              <a:rPr sz="1180" b="0" dirty="0">
                <a:solidFill>
                  <a:srgbClr val="303030"/>
                </a:solidFill>
                <a:latin typeface="Arial"/>
              </a:rPr>
              <a:t> la </a:t>
            </a:r>
            <a:r>
              <a:rPr sz="1180" b="0" dirty="0" err="1">
                <a:solidFill>
                  <a:srgbClr val="303030"/>
                </a:solidFill>
                <a:latin typeface="Arial"/>
              </a:rPr>
              <a:t>relación</a:t>
            </a:r>
            <a:r>
              <a:rPr sz="1180" b="0" dirty="0">
                <a:solidFill>
                  <a:srgbClr val="303030"/>
                </a:solidFill>
                <a:latin typeface="Arial"/>
              </a:rPr>
              <a:t> entre </a:t>
            </a:r>
            <a:r>
              <a:rPr sz="1180" b="0" dirty="0" err="1">
                <a:solidFill>
                  <a:srgbClr val="303030"/>
                </a:solidFill>
                <a:latin typeface="Arial"/>
              </a:rPr>
              <a:t>probabilidad</a:t>
            </a:r>
            <a:r>
              <a:rPr sz="1180" b="0" dirty="0">
                <a:solidFill>
                  <a:srgbClr val="303030"/>
                </a:solidFill>
                <a:latin typeface="Arial"/>
              </a:rPr>
              <a:t>, </a:t>
            </a:r>
            <a:r>
              <a:rPr sz="1180" b="0" dirty="0" err="1">
                <a:solidFill>
                  <a:srgbClr val="303030"/>
                </a:solidFill>
                <a:latin typeface="Arial"/>
              </a:rPr>
              <a:t>impacto</a:t>
            </a:r>
            <a:r>
              <a:rPr sz="1180" b="0" dirty="0">
                <a:solidFill>
                  <a:srgbClr val="303030"/>
                </a:solidFill>
                <a:latin typeface="Arial"/>
              </a:rPr>
              <a:t> y </a:t>
            </a:r>
            <a:r>
              <a:rPr sz="1180" b="0" dirty="0" err="1">
                <a:solidFill>
                  <a:srgbClr val="303030"/>
                </a:solidFill>
                <a:latin typeface="Arial"/>
              </a:rPr>
              <a:t>respuesta</a:t>
            </a:r>
            <a:r>
              <a:rPr sz="1180" b="0" dirty="0">
                <a:solidFill>
                  <a:srgbClr val="303030"/>
                </a:solidFill>
                <a:latin typeface="Arial"/>
              </a:rPr>
              <a:t> </a:t>
            </a:r>
            <a:r>
              <a:rPr sz="1180" b="0" dirty="0" err="1">
                <a:solidFill>
                  <a:srgbClr val="303030"/>
                </a:solidFill>
                <a:latin typeface="Arial"/>
              </a:rPr>
              <a:t>propuesta</a:t>
            </a:r>
            <a:r>
              <a:rPr sz="1180" b="0" dirty="0">
                <a:solidFill>
                  <a:srgbClr val="303030"/>
                </a:solidFill>
                <a:latin typeface="Arial"/>
              </a:rPr>
              <a:t>.</a:t>
            </a:r>
          </a:p>
        </p:txBody>
      </p:sp>
      <p:pic>
        <p:nvPicPr>
          <p:cNvPr id="6" name="Picture 5" descr="LocalMarket_Windows11_recortada.png"/>
          <p:cNvPicPr>
            <a:picLocks noChangeAspect="1"/>
          </p:cNvPicPr>
          <p:nvPr/>
        </p:nvPicPr>
        <p:blipFill>
          <a:blip r:embed="rId2"/>
          <a:stretch>
            <a:fillRect/>
          </a:stretch>
        </p:blipFill>
        <p:spPr>
          <a:xfrm>
            <a:off x="777240" y="1234440"/>
            <a:ext cx="6783564" cy="4937760"/>
          </a:xfrm>
          <a:prstGeom prst="rect">
            <a:avLst/>
          </a:prstGeom>
        </p:spPr>
      </p:pic>
      <p:sp>
        <p:nvSpPr>
          <p:cNvPr id="8" name="TextBox 7"/>
          <p:cNvSpPr txBox="1"/>
          <p:nvPr/>
        </p:nvSpPr>
        <p:spPr>
          <a:xfrm>
            <a:off x="8065008" y="1645920"/>
            <a:ext cx="2011680" cy="218008"/>
          </a:xfrm>
          <a:prstGeom prst="rect">
            <a:avLst/>
          </a:prstGeom>
          <a:noFill/>
        </p:spPr>
        <p:txBody>
          <a:bodyPr wrap="square" lIns="25400" tIns="12700" rIns="25400" bIns="12700">
            <a:spAutoFit/>
          </a:bodyPr>
          <a:lstStyle/>
          <a:p>
            <a:pPr algn="l"/>
            <a:r>
              <a:rPr sz="1250" b="1" dirty="0" err="1">
                <a:latin typeface="Arial"/>
              </a:rPr>
              <a:t>Interpretación</a:t>
            </a:r>
            <a:endParaRPr sz="1250" b="1" dirty="0">
              <a:latin typeface="Arial"/>
            </a:endParaRPr>
          </a:p>
        </p:txBody>
      </p:sp>
      <p:sp>
        <p:nvSpPr>
          <p:cNvPr id="9" name="TextBox 8"/>
          <p:cNvSpPr txBox="1"/>
          <p:nvPr/>
        </p:nvSpPr>
        <p:spPr>
          <a:xfrm>
            <a:off x="8046720" y="1993392"/>
            <a:ext cx="2834640" cy="2377440"/>
          </a:xfrm>
          <a:prstGeom prst="rect">
            <a:avLst/>
          </a:prstGeom>
          <a:noFill/>
        </p:spPr>
        <p:txBody>
          <a:bodyPr wrap="square" lIns="25400" tIns="12700" rIns="25400" bIns="12700">
            <a:spAutoFit/>
          </a:bodyPr>
          <a:lstStyle/>
          <a:p>
            <a:pPr>
              <a:spcAft>
                <a:spcPts val="300"/>
              </a:spcAft>
              <a:defRPr sz="1040">
                <a:solidFill>
                  <a:srgbClr val="303030"/>
                </a:solidFill>
                <a:latin typeface="Arial"/>
              </a:defRPr>
            </a:pPr>
            <a:r>
              <a:t>La tabla muestra la criticidad de cada riesgo.</a:t>
            </a:r>
          </a:p>
          <a:p>
            <a:pPr>
              <a:spcAft>
                <a:spcPts val="300"/>
              </a:spcAft>
              <a:defRPr sz="1040">
                <a:solidFill>
                  <a:srgbClr val="303030"/>
                </a:solidFill>
                <a:latin typeface="Arial"/>
              </a:defRPr>
            </a:pPr>
            <a:r>
              <a:t>La matriz ayuda a distinguir cuáles amenazas son altas, medias o bajas.</a:t>
            </a:r>
          </a:p>
          <a:p>
            <a:pPr>
              <a:spcAft>
                <a:spcPts val="300"/>
              </a:spcAft>
              <a:defRPr sz="1040">
                <a:solidFill>
                  <a:srgbClr val="303030"/>
                </a:solidFill>
                <a:latin typeface="Arial"/>
              </a:defRPr>
            </a:pPr>
            <a:r>
              <a:t>Con esta información se definen acciones preventivas y de respuesta.</a:t>
            </a:r>
          </a:p>
          <a:p>
            <a:pPr>
              <a:spcAft>
                <a:spcPts val="300"/>
              </a:spcAft>
              <a:defRPr sz="1040">
                <a:solidFill>
                  <a:srgbClr val="303030"/>
                </a:solidFill>
                <a:latin typeface="Arial"/>
              </a:defRPr>
            </a:pPr>
            <a:r>
              <a:t>Los riesgos más altos requieren seguimiento constante.</a:t>
            </a:r>
          </a:p>
        </p:txBody>
      </p:sp>
      <p:sp>
        <p:nvSpPr>
          <p:cNvPr id="10" name="TextBox 9"/>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83DB438-B5E9-3A48-AB75-93FEEA6D4C63}"/>
              </a:ext>
            </a:extLst>
          </p:cNvPr>
          <p:cNvPicPr>
            <a:picLocks noChangeAspect="1"/>
          </p:cNvPicPr>
          <p:nvPr/>
        </p:nvPicPr>
        <p:blipFill>
          <a:blip r:embed="rId2"/>
          <a:stretch>
            <a:fillRect/>
          </a:stretch>
        </p:blipFill>
        <p:spPr>
          <a:xfrm>
            <a:off x="2058514" y="376390"/>
            <a:ext cx="7744247" cy="5256179"/>
          </a:xfrm>
          <a:prstGeom prst="rect">
            <a:avLst/>
          </a:prstGeom>
        </p:spPr>
      </p:pic>
    </p:spTree>
    <p:extLst>
      <p:ext uri="{BB962C8B-B14F-4D97-AF65-F5344CB8AC3E}">
        <p14:creationId xmlns:p14="http://schemas.microsoft.com/office/powerpoint/2010/main" val="3189966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Conclusión</a:t>
            </a:r>
          </a:p>
        </p:txBody>
      </p:sp>
      <p:sp>
        <p:nvSpPr>
          <p:cNvPr id="5" name="TextBox 4"/>
          <p:cNvSpPr txBox="1"/>
          <p:nvPr/>
        </p:nvSpPr>
        <p:spPr>
          <a:xfrm>
            <a:off x="877824" y="1078992"/>
            <a:ext cx="10241280" cy="4480560"/>
          </a:xfrm>
          <a:prstGeom prst="rect">
            <a:avLst/>
          </a:prstGeom>
          <a:noFill/>
        </p:spPr>
        <p:txBody>
          <a:bodyPr wrap="square" lIns="25400" tIns="12700" rIns="25400" bIns="12700">
            <a:spAutoFit/>
          </a:bodyPr>
          <a:lstStyle/>
          <a:p>
            <a:pPr algn="l"/>
            <a:r>
              <a:rPr sz="1420" b="0">
                <a:solidFill>
                  <a:srgbClr val="303030"/>
                </a:solidFill>
                <a:latin typeface="Arial"/>
              </a:rPr>
              <a:t>Con el banco de ejercicios se reforzó la aplicación de la planificación de proyectos en casos relacionados con el área de TI. Cada ejercicio permitió practicar una herramienta distinta: el cronograma, la EDT/WBS, la matriz RACI, la gestión de riesgos y la ruta crítica.
En conjunto, estos ejercicios muestran que planear un proyecto no solo consiste en describir lo que se hará, sino en ordenar tareas, establecer responsables, visualizar tiempos y anticipar problemas que puedan afectar la entrega. Esto ayuda a tomar decisiones más claras y a dar mejor seguimiento al avance del proyecto.</a:t>
            </a:r>
          </a:p>
        </p:txBody>
      </p:sp>
      <p:sp>
        <p:nvSpPr>
          <p:cNvPr id="7" name="TextBox 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10</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688</TotalTime>
  <Words>678</Words>
  <Application>Microsoft Office PowerPoint</Application>
  <PresentationFormat>Panorámica</PresentationFormat>
  <Paragraphs>62</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2026-09-21T04:39:01Z</dcterms:modified>
  <cp:category/>
</cp:coreProperties>
</file>