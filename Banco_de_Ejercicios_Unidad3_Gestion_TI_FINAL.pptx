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1965960" y="1005840"/>
            <a:ext cx="8138160" cy="5212080"/>
          </a:xfrm>
          <a:prstGeom prst="rect">
            <a:avLst/>
          </a:prstGeom>
          <a:noFill/>
        </p:spPr>
        <p:txBody>
          <a:bodyPr wrap="none">
            <a:spAutoFit/>
          </a:bodyPr>
          <a:lstStyle/>
          <a:p>
            <a:pPr algn="ctr"/>
            <a:r>
              <a:rPr sz="1800" b="1">
                <a:solidFill>
                  <a:srgbClr val="181818"/>
                </a:solidFill>
                <a:latin typeface="Arial"/>
              </a:rPr>
              <a:t>TECNOLÓGICO NACIONAL DE MÉXICO</a:t>
            </a:r>
          </a:p>
          <a:p>
            <a:pPr algn="ctr"/>
            <a:r>
              <a:rPr sz="1500" b="1">
                <a:solidFill>
                  <a:srgbClr val="181818"/>
                </a:solidFill>
                <a:latin typeface="Arial"/>
              </a:rPr>
              <a:t>INSTITUTO TECNOLÓGICO DE FRONTERA COMALAPA</a:t>
            </a:r>
          </a:p>
          <a:p>
            <a:pPr algn="ctr"/>
          </a:p>
          <a:p>
            <a:pPr algn="ctr"/>
            <a:r>
              <a:rPr sz="1300" b="1">
                <a:solidFill>
                  <a:srgbClr val="181818"/>
                </a:solidFill>
                <a:latin typeface="Arial"/>
              </a:rPr>
              <a:t>NOMBRE DE LA MATERIA</a:t>
            </a:r>
          </a:p>
          <a:p>
            <a:pPr algn="ctr"/>
            <a:r>
              <a:rPr sz="1500" b="0">
                <a:solidFill>
                  <a:srgbClr val="181818"/>
                </a:solidFill>
                <a:latin typeface="Arial"/>
              </a:rPr>
              <a:t>Gestión de proyectos de TI</a:t>
            </a:r>
          </a:p>
          <a:p>
            <a:pPr algn="ctr"/>
          </a:p>
          <a:p>
            <a:pPr algn="ctr"/>
            <a:r>
              <a:rPr sz="1300" b="1">
                <a:solidFill>
                  <a:srgbClr val="181818"/>
                </a:solidFill>
                <a:latin typeface="Arial"/>
              </a:rPr>
              <a:t>NOMBRE DEL ESTUDIANTE</a:t>
            </a:r>
          </a:p>
          <a:p>
            <a:pPr algn="ctr"/>
            <a:r>
              <a:rPr sz="1500" b="0">
                <a:solidFill>
                  <a:srgbClr val="181818"/>
                </a:solidFill>
                <a:latin typeface="Arial"/>
              </a:rPr>
              <a:t>EDDI URIEL CASTILLO SÁNCHEZ</a:t>
            </a:r>
          </a:p>
          <a:p>
            <a:pPr algn="ctr"/>
          </a:p>
          <a:p>
            <a:pPr algn="ctr"/>
            <a:r>
              <a:rPr sz="1300" b="1">
                <a:solidFill>
                  <a:srgbClr val="181818"/>
                </a:solidFill>
                <a:latin typeface="Arial"/>
              </a:rPr>
              <a:t>CARRERA</a:t>
            </a:r>
          </a:p>
          <a:p>
            <a:pPr algn="ctr"/>
            <a:r>
              <a:rPr sz="1500" b="0">
                <a:solidFill>
                  <a:srgbClr val="181818"/>
                </a:solidFill>
                <a:latin typeface="Arial"/>
              </a:rPr>
              <a:t>INGENIERÍA EN SISTEMAS COMPUTACIONALES</a:t>
            </a:r>
          </a:p>
          <a:p>
            <a:pPr algn="ctr"/>
          </a:p>
          <a:p>
            <a:pPr algn="ctr"/>
            <a:r>
              <a:rPr sz="1300" b="1">
                <a:solidFill>
                  <a:srgbClr val="181818"/>
                </a:solidFill>
                <a:latin typeface="Arial"/>
              </a:rPr>
              <a:t>SEMESTRE</a:t>
            </a:r>
          </a:p>
          <a:p>
            <a:pPr algn="ctr"/>
            <a:r>
              <a:rPr sz="1500" b="0">
                <a:solidFill>
                  <a:srgbClr val="181818"/>
                </a:solidFill>
                <a:latin typeface="Arial"/>
              </a:rPr>
              <a:t>SÉPTIMO SEMESTRE</a:t>
            </a:r>
          </a:p>
          <a:p>
            <a:pPr algn="ctr"/>
          </a:p>
          <a:p>
            <a:pPr algn="ctr"/>
            <a:r>
              <a:rPr sz="1300" b="1">
                <a:solidFill>
                  <a:srgbClr val="181818"/>
                </a:solidFill>
                <a:latin typeface="Arial"/>
              </a:rPr>
              <a:t>NOMBRE DEL DOCENTE</a:t>
            </a:r>
          </a:p>
          <a:p>
            <a:pPr algn="ctr"/>
            <a:r>
              <a:rPr sz="1500" b="0">
                <a:solidFill>
                  <a:srgbClr val="181818"/>
                </a:solidFill>
                <a:latin typeface="Arial"/>
              </a:rPr>
              <a:t>Ing. Javier Francisco Mingo Velázquez</a:t>
            </a:r>
          </a:p>
          <a:p>
            <a:pPr algn="ctr"/>
          </a:p>
          <a:p>
            <a:pPr algn="ctr"/>
            <a:r>
              <a:rPr sz="1300" b="1">
                <a:solidFill>
                  <a:srgbClr val="181818"/>
                </a:solidFill>
                <a:latin typeface="Arial"/>
              </a:rPr>
              <a:t>NOMBRE DEL TRABAJO</a:t>
            </a:r>
          </a:p>
          <a:p>
            <a:pPr algn="ctr"/>
            <a:r>
              <a:rPr sz="1500" b="0">
                <a:solidFill>
                  <a:srgbClr val="181818"/>
                </a:solidFill>
                <a:latin typeface="Arial"/>
              </a:rPr>
              <a:t>Actividad 3 Banco de ejercicios</a:t>
            </a:r>
          </a:p>
          <a:p>
            <a:pPr algn="ctr"/>
          </a:p>
          <a:p>
            <a:pPr algn="ctr"/>
            <a:r>
              <a:rPr sz="1300" b="1">
                <a:solidFill>
                  <a:srgbClr val="181818"/>
                </a:solidFill>
                <a:latin typeface="Arial"/>
              </a:rPr>
              <a:t>LUGAR Y FECHA</a:t>
            </a:r>
          </a:p>
          <a:p>
            <a:pPr algn="ctr"/>
            <a:r>
              <a:rPr sz="1500" b="0">
                <a:solidFill>
                  <a:srgbClr val="181818"/>
                </a:solidFill>
                <a:latin typeface="Arial"/>
              </a:rPr>
              <a:t>Frontera Comalapa, Chiapas · septiembre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Introducción</a:t>
            </a:r>
          </a:p>
        </p:txBody>
      </p:sp>
      <p:sp>
        <p:nvSpPr>
          <p:cNvPr id="5" name="TextBox 4"/>
          <p:cNvSpPr txBox="1"/>
          <p:nvPr/>
        </p:nvSpPr>
        <p:spPr>
          <a:xfrm>
            <a:off x="877824" y="1097280"/>
            <a:ext cx="10241280" cy="4023360"/>
          </a:xfrm>
          <a:prstGeom prst="rect">
            <a:avLst/>
          </a:prstGeom>
          <a:noFill/>
        </p:spPr>
        <p:txBody>
          <a:bodyPr wrap="square" lIns="25400" rIns="25400" tIns="12700" bIns="12700">
            <a:spAutoFit/>
          </a:bodyPr>
          <a:lstStyle/>
          <a:p>
            <a:pPr algn="l"/>
            <a:r>
              <a:rPr sz="1500" b="0">
                <a:solidFill>
                  <a:srgbClr val="303030"/>
                </a:solidFill>
                <a:latin typeface="Arial"/>
              </a:rPr>
              <a:t>El banco de ejercicios tiene como propósito aplicar los temas de la Unidad 3 mediante los proyectos trabajados durante el curso. Cada ejercicio retoma un caso diferente para practicar cronogramas, EDT/WBS, matriz RACI, gestión de riesgos y ruta crítica.
Además de la respuesta escrita, se integran imágenes de apoyo para que la información se observe de forma más clara y sirva como evidencia del procedimiento realizado.</a:t>
            </a:r>
          </a:p>
        </p:txBody>
      </p:sp>
      <p:sp>
        <p:nvSpPr>
          <p:cNvPr id="6" name="TextBox 5"/>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Indicaciones generales</a:t>
            </a:r>
          </a:p>
        </p:txBody>
      </p:sp>
      <p:sp>
        <p:nvSpPr>
          <p:cNvPr id="5" name="TextBox 4"/>
          <p:cNvSpPr txBox="1"/>
          <p:nvPr/>
        </p:nvSpPr>
        <p:spPr>
          <a:xfrm>
            <a:off x="868680" y="1005840"/>
            <a:ext cx="10058400" cy="411480"/>
          </a:xfrm>
          <a:prstGeom prst="rect">
            <a:avLst/>
          </a:prstGeom>
          <a:noFill/>
        </p:spPr>
        <p:txBody>
          <a:bodyPr wrap="square" lIns="25400" rIns="25400" tIns="12700" bIns="12700">
            <a:spAutoFit/>
          </a:bodyPr>
          <a:lstStyle/>
          <a:p>
            <a:pPr algn="l"/>
            <a:r>
              <a:rPr sz="1240" b="0">
                <a:solidFill>
                  <a:srgbClr val="303030"/>
                </a:solidFill>
                <a:latin typeface="Arial"/>
              </a:rPr>
              <a:t>Resuelve cada ejercicio tomando como base el proyecto indicado. Después compara tu respuesta con la propuesta incluida en cada apartado.</a:t>
            </a:r>
          </a:p>
        </p:txBody>
      </p:sp>
      <p:sp>
        <p:nvSpPr>
          <p:cNvPr id="6" name="Rounded Rectangle 5"/>
          <p:cNvSpPr/>
          <p:nvPr/>
        </p:nvSpPr>
        <p:spPr>
          <a:xfrm>
            <a:off x="868680" y="1600200"/>
            <a:ext cx="10149840" cy="292608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83080"/>
            <a:ext cx="1554480" cy="228600"/>
          </a:xfrm>
          <a:prstGeom prst="rect">
            <a:avLst/>
          </a:prstGeom>
          <a:noFill/>
        </p:spPr>
        <p:txBody>
          <a:bodyPr wrap="square" lIns="25400" rIns="25400" tIns="12700" bIns="12700">
            <a:spAutoFit/>
          </a:bodyPr>
          <a:lstStyle/>
          <a:p>
            <a:pPr algn="l"/>
            <a:r>
              <a:rPr sz="1120" b="1">
                <a:solidFill>
                  <a:srgbClr val="27486E"/>
                </a:solidFill>
                <a:latin typeface="Arial"/>
              </a:rPr>
              <a:t>Ejercicio</a:t>
            </a:r>
          </a:p>
        </p:txBody>
      </p:sp>
      <p:sp>
        <p:nvSpPr>
          <p:cNvPr id="8" name="TextBox 7"/>
          <p:cNvSpPr txBox="1"/>
          <p:nvPr/>
        </p:nvSpPr>
        <p:spPr>
          <a:xfrm>
            <a:off x="2057400" y="1783080"/>
            <a:ext cx="1554480" cy="228600"/>
          </a:xfrm>
          <a:prstGeom prst="rect">
            <a:avLst/>
          </a:prstGeom>
          <a:noFill/>
        </p:spPr>
        <p:txBody>
          <a:bodyPr wrap="square" lIns="25400" rIns="25400" tIns="12700" bIns="12700">
            <a:spAutoFit/>
          </a:bodyPr>
          <a:lstStyle/>
          <a:p>
            <a:pPr algn="l"/>
            <a:r>
              <a:rPr sz="1120" b="1">
                <a:solidFill>
                  <a:srgbClr val="27486E"/>
                </a:solidFill>
                <a:latin typeface="Arial"/>
              </a:rPr>
              <a:t>Proyecto</a:t>
            </a:r>
          </a:p>
        </p:txBody>
      </p:sp>
      <p:sp>
        <p:nvSpPr>
          <p:cNvPr id="9" name="TextBox 8"/>
          <p:cNvSpPr txBox="1"/>
          <p:nvPr/>
        </p:nvSpPr>
        <p:spPr>
          <a:xfrm>
            <a:off x="4663440" y="1783080"/>
            <a:ext cx="1554480" cy="228600"/>
          </a:xfrm>
          <a:prstGeom prst="rect">
            <a:avLst/>
          </a:prstGeom>
          <a:noFill/>
        </p:spPr>
        <p:txBody>
          <a:bodyPr wrap="square" lIns="25400" rIns="25400" tIns="12700" bIns="12700">
            <a:spAutoFit/>
          </a:bodyPr>
          <a:lstStyle/>
          <a:p>
            <a:pPr algn="l"/>
            <a:r>
              <a:rPr sz="1120" b="1">
                <a:solidFill>
                  <a:srgbClr val="27486E"/>
                </a:solidFill>
                <a:latin typeface="Arial"/>
              </a:rPr>
              <a:t>Tema que se practica</a:t>
            </a:r>
          </a:p>
        </p:txBody>
      </p:sp>
      <p:sp>
        <p:nvSpPr>
          <p:cNvPr id="10" name="TextBox 9"/>
          <p:cNvSpPr txBox="1"/>
          <p:nvPr/>
        </p:nvSpPr>
        <p:spPr>
          <a:xfrm>
            <a:off x="7772400" y="1783080"/>
            <a:ext cx="1554480" cy="228600"/>
          </a:xfrm>
          <a:prstGeom prst="rect">
            <a:avLst/>
          </a:prstGeom>
          <a:noFill/>
        </p:spPr>
        <p:txBody>
          <a:bodyPr wrap="square" lIns="25400" rIns="25400" tIns="12700" bIns="12700">
            <a:spAutoFit/>
          </a:bodyPr>
          <a:lstStyle/>
          <a:p>
            <a:pPr algn="l"/>
            <a:r>
              <a:rPr sz="1120" b="1">
                <a:solidFill>
                  <a:srgbClr val="27486E"/>
                </a:solidFill>
                <a:latin typeface="Arial"/>
              </a:rPr>
              <a:t>Producto esperado</a:t>
            </a:r>
          </a:p>
        </p:txBody>
      </p:sp>
      <p:sp>
        <p:nvSpPr>
          <p:cNvPr id="11" name="TextBox 10"/>
          <p:cNvSpPr txBox="1"/>
          <p:nvPr/>
        </p:nvSpPr>
        <p:spPr>
          <a:xfrm>
            <a:off x="1005840" y="2148840"/>
            <a:ext cx="548640" cy="228600"/>
          </a:xfrm>
          <a:prstGeom prst="rect">
            <a:avLst/>
          </a:prstGeom>
          <a:noFill/>
        </p:spPr>
        <p:txBody>
          <a:bodyPr wrap="square" lIns="25400" rIns="25400" tIns="12700" bIns="12700">
            <a:spAutoFit/>
          </a:bodyPr>
          <a:lstStyle/>
          <a:p>
            <a:pPr algn="l"/>
            <a:r>
              <a:rPr sz="1050" b="0">
                <a:solidFill>
                  <a:srgbClr val="303030"/>
                </a:solidFill>
                <a:latin typeface="Arial"/>
              </a:rPr>
              <a:t>1</a:t>
            </a:r>
          </a:p>
        </p:txBody>
      </p:sp>
      <p:sp>
        <p:nvSpPr>
          <p:cNvPr id="12" name="TextBox 11"/>
          <p:cNvSpPr txBox="1"/>
          <p:nvPr/>
        </p:nvSpPr>
        <p:spPr>
          <a:xfrm>
            <a:off x="2057400" y="2148840"/>
            <a:ext cx="2194560" cy="228600"/>
          </a:xfrm>
          <a:prstGeom prst="rect">
            <a:avLst/>
          </a:prstGeom>
          <a:noFill/>
        </p:spPr>
        <p:txBody>
          <a:bodyPr wrap="square" lIns="25400" rIns="25400" tIns="12700" bIns="12700">
            <a:spAutoFit/>
          </a:bodyPr>
          <a:lstStyle/>
          <a:p>
            <a:pPr algn="l"/>
            <a:r>
              <a:rPr sz="1050" b="0">
                <a:solidFill>
                  <a:srgbClr val="303030"/>
                </a:solidFill>
                <a:latin typeface="Arial"/>
              </a:rPr>
              <a:t>EstacionaTec</a:t>
            </a:r>
          </a:p>
        </p:txBody>
      </p:sp>
      <p:sp>
        <p:nvSpPr>
          <p:cNvPr id="13" name="TextBox 12"/>
          <p:cNvSpPr txBox="1"/>
          <p:nvPr/>
        </p:nvSpPr>
        <p:spPr>
          <a:xfrm>
            <a:off x="4663440" y="2148840"/>
            <a:ext cx="2743200" cy="320040"/>
          </a:xfrm>
          <a:prstGeom prst="rect">
            <a:avLst/>
          </a:prstGeom>
          <a:noFill/>
        </p:spPr>
        <p:txBody>
          <a:bodyPr wrap="square" lIns="25400" rIns="25400" tIns="12700" bIns="12700">
            <a:spAutoFit/>
          </a:bodyPr>
          <a:lstStyle/>
          <a:p>
            <a:pPr algn="l"/>
            <a:r>
              <a:rPr sz="1050" b="0">
                <a:solidFill>
                  <a:srgbClr val="303030"/>
                </a:solidFill>
                <a:latin typeface="Arial"/>
              </a:rPr>
              <a:t>Cronograma y secuencia de actividades</a:t>
            </a:r>
          </a:p>
        </p:txBody>
      </p:sp>
      <p:sp>
        <p:nvSpPr>
          <p:cNvPr id="14" name="TextBox 13"/>
          <p:cNvSpPr txBox="1"/>
          <p:nvPr/>
        </p:nvSpPr>
        <p:spPr>
          <a:xfrm>
            <a:off x="7772400" y="2148840"/>
            <a:ext cx="2834640" cy="320040"/>
          </a:xfrm>
          <a:prstGeom prst="rect">
            <a:avLst/>
          </a:prstGeom>
          <a:noFill/>
        </p:spPr>
        <p:txBody>
          <a:bodyPr wrap="square" lIns="25400" rIns="25400" tIns="12700" bIns="12700">
            <a:spAutoFit/>
          </a:bodyPr>
          <a:lstStyle/>
          <a:p>
            <a:pPr algn="l"/>
            <a:r>
              <a:rPr sz="1050" b="0">
                <a:solidFill>
                  <a:srgbClr val="303030"/>
                </a:solidFill>
                <a:latin typeface="Arial"/>
              </a:rPr>
              <a:t>Propuesta de Gantt</a:t>
            </a:r>
          </a:p>
        </p:txBody>
      </p:sp>
      <p:sp>
        <p:nvSpPr>
          <p:cNvPr id="15" name="TextBox 14"/>
          <p:cNvSpPr txBox="1"/>
          <p:nvPr/>
        </p:nvSpPr>
        <p:spPr>
          <a:xfrm>
            <a:off x="1005840" y="2697480"/>
            <a:ext cx="548640" cy="228600"/>
          </a:xfrm>
          <a:prstGeom prst="rect">
            <a:avLst/>
          </a:prstGeom>
          <a:noFill/>
        </p:spPr>
        <p:txBody>
          <a:bodyPr wrap="square" lIns="25400" rIns="25400" tIns="12700" bIns="12700">
            <a:spAutoFit/>
          </a:bodyPr>
          <a:lstStyle/>
          <a:p>
            <a:pPr algn="l"/>
            <a:r>
              <a:rPr sz="1050" b="0">
                <a:solidFill>
                  <a:srgbClr val="303030"/>
                </a:solidFill>
                <a:latin typeface="Arial"/>
              </a:rPr>
              <a:t>2</a:t>
            </a:r>
          </a:p>
        </p:txBody>
      </p:sp>
      <p:sp>
        <p:nvSpPr>
          <p:cNvPr id="16" name="TextBox 15"/>
          <p:cNvSpPr txBox="1"/>
          <p:nvPr/>
        </p:nvSpPr>
        <p:spPr>
          <a:xfrm>
            <a:off x="2057400" y="2697480"/>
            <a:ext cx="2194560" cy="228600"/>
          </a:xfrm>
          <a:prstGeom prst="rect">
            <a:avLst/>
          </a:prstGeom>
          <a:noFill/>
        </p:spPr>
        <p:txBody>
          <a:bodyPr wrap="square" lIns="25400" rIns="25400" tIns="12700" bIns="12700">
            <a:spAutoFit/>
          </a:bodyPr>
          <a:lstStyle/>
          <a:p>
            <a:pPr algn="l"/>
            <a:r>
              <a:rPr sz="1050" b="0">
                <a:solidFill>
                  <a:srgbClr val="303030"/>
                </a:solidFill>
                <a:latin typeface="Arial"/>
              </a:rPr>
              <a:t>Rinconcito VC</a:t>
            </a:r>
          </a:p>
        </p:txBody>
      </p:sp>
      <p:sp>
        <p:nvSpPr>
          <p:cNvPr id="17" name="TextBox 16"/>
          <p:cNvSpPr txBox="1"/>
          <p:nvPr/>
        </p:nvSpPr>
        <p:spPr>
          <a:xfrm>
            <a:off x="4663440" y="2697480"/>
            <a:ext cx="2743200" cy="320040"/>
          </a:xfrm>
          <a:prstGeom prst="rect">
            <a:avLst/>
          </a:prstGeom>
          <a:noFill/>
        </p:spPr>
        <p:txBody>
          <a:bodyPr wrap="square" lIns="25400" rIns="25400" tIns="12700" bIns="12700">
            <a:spAutoFit/>
          </a:bodyPr>
          <a:lstStyle/>
          <a:p>
            <a:pPr algn="l"/>
            <a:r>
              <a:rPr sz="1050" b="0">
                <a:solidFill>
                  <a:srgbClr val="303030"/>
                </a:solidFill>
                <a:latin typeface="Arial"/>
              </a:rPr>
              <a:t>EDT/WBS y matriz RACI</a:t>
            </a:r>
          </a:p>
        </p:txBody>
      </p:sp>
      <p:sp>
        <p:nvSpPr>
          <p:cNvPr id="18" name="TextBox 17"/>
          <p:cNvSpPr txBox="1"/>
          <p:nvPr/>
        </p:nvSpPr>
        <p:spPr>
          <a:xfrm>
            <a:off x="7772400" y="2697480"/>
            <a:ext cx="2834640" cy="320040"/>
          </a:xfrm>
          <a:prstGeom prst="rect">
            <a:avLst/>
          </a:prstGeom>
          <a:noFill/>
        </p:spPr>
        <p:txBody>
          <a:bodyPr wrap="square" lIns="25400" rIns="25400" tIns="12700" bIns="12700">
            <a:spAutoFit/>
          </a:bodyPr>
          <a:lstStyle/>
          <a:p>
            <a:pPr algn="l"/>
            <a:r>
              <a:rPr sz="1050" b="0">
                <a:solidFill>
                  <a:srgbClr val="303030"/>
                </a:solidFill>
                <a:latin typeface="Arial"/>
              </a:rPr>
              <a:t>Organización de paquetes de trabajo</a:t>
            </a:r>
          </a:p>
        </p:txBody>
      </p:sp>
      <p:sp>
        <p:nvSpPr>
          <p:cNvPr id="19" name="TextBox 18"/>
          <p:cNvSpPr txBox="1"/>
          <p:nvPr/>
        </p:nvSpPr>
        <p:spPr>
          <a:xfrm>
            <a:off x="1005840" y="3246120"/>
            <a:ext cx="548640" cy="228600"/>
          </a:xfrm>
          <a:prstGeom prst="rect">
            <a:avLst/>
          </a:prstGeom>
          <a:noFill/>
        </p:spPr>
        <p:txBody>
          <a:bodyPr wrap="square" lIns="25400" rIns="25400" tIns="12700" bIns="12700">
            <a:spAutoFit/>
          </a:bodyPr>
          <a:lstStyle/>
          <a:p>
            <a:pPr algn="l"/>
            <a:r>
              <a:rPr sz="1050" b="0">
                <a:solidFill>
                  <a:srgbClr val="303030"/>
                </a:solidFill>
                <a:latin typeface="Arial"/>
              </a:rPr>
              <a:t>3</a:t>
            </a:r>
          </a:p>
        </p:txBody>
      </p:sp>
      <p:sp>
        <p:nvSpPr>
          <p:cNvPr id="20" name="TextBox 19"/>
          <p:cNvSpPr txBox="1"/>
          <p:nvPr/>
        </p:nvSpPr>
        <p:spPr>
          <a:xfrm>
            <a:off x="2057400" y="3246120"/>
            <a:ext cx="2194560" cy="228600"/>
          </a:xfrm>
          <a:prstGeom prst="rect">
            <a:avLst/>
          </a:prstGeom>
          <a:noFill/>
        </p:spPr>
        <p:txBody>
          <a:bodyPr wrap="square" lIns="25400" rIns="25400" tIns="12700" bIns="12700">
            <a:spAutoFit/>
          </a:bodyPr>
          <a:lstStyle/>
          <a:p>
            <a:pPr algn="l"/>
            <a:r>
              <a:rPr sz="1050" b="0">
                <a:solidFill>
                  <a:srgbClr val="303030"/>
                </a:solidFill>
                <a:latin typeface="Arial"/>
              </a:rPr>
              <a:t>LocalMarket</a:t>
            </a:r>
          </a:p>
        </p:txBody>
      </p:sp>
      <p:sp>
        <p:nvSpPr>
          <p:cNvPr id="21" name="TextBox 20"/>
          <p:cNvSpPr txBox="1"/>
          <p:nvPr/>
        </p:nvSpPr>
        <p:spPr>
          <a:xfrm>
            <a:off x="4663440" y="3246120"/>
            <a:ext cx="2743200" cy="320040"/>
          </a:xfrm>
          <a:prstGeom prst="rect">
            <a:avLst/>
          </a:prstGeom>
          <a:noFill/>
        </p:spPr>
        <p:txBody>
          <a:bodyPr wrap="square" lIns="25400" rIns="25400" tIns="12700" bIns="12700">
            <a:spAutoFit/>
          </a:bodyPr>
          <a:lstStyle/>
          <a:p>
            <a:pPr algn="l"/>
            <a:r>
              <a:rPr sz="1050" b="0">
                <a:solidFill>
                  <a:srgbClr val="303030"/>
                </a:solidFill>
                <a:latin typeface="Arial"/>
              </a:rPr>
              <a:t>Cronograma general y riesgos</a:t>
            </a:r>
          </a:p>
        </p:txBody>
      </p:sp>
      <p:sp>
        <p:nvSpPr>
          <p:cNvPr id="22" name="TextBox 21"/>
          <p:cNvSpPr txBox="1"/>
          <p:nvPr/>
        </p:nvSpPr>
        <p:spPr>
          <a:xfrm>
            <a:off x="7772400" y="3246120"/>
            <a:ext cx="2834640" cy="320040"/>
          </a:xfrm>
          <a:prstGeom prst="rect">
            <a:avLst/>
          </a:prstGeom>
          <a:noFill/>
        </p:spPr>
        <p:txBody>
          <a:bodyPr wrap="square" lIns="25400" rIns="25400" tIns="12700" bIns="12700">
            <a:spAutoFit/>
          </a:bodyPr>
          <a:lstStyle/>
          <a:p>
            <a:pPr algn="l"/>
            <a:r>
              <a:rPr sz="1050" b="0">
                <a:solidFill>
                  <a:srgbClr val="303030"/>
                </a:solidFill>
                <a:latin typeface="Arial"/>
              </a:rPr>
              <a:t>Cronograma y matriz de riesgos</a:t>
            </a:r>
          </a:p>
        </p:txBody>
      </p:sp>
      <p:sp>
        <p:nvSpPr>
          <p:cNvPr id="23" name="TextBox 22"/>
          <p:cNvSpPr txBox="1"/>
          <p:nvPr/>
        </p:nvSpPr>
        <p:spPr>
          <a:xfrm>
            <a:off x="1005840" y="3794760"/>
            <a:ext cx="548640" cy="228600"/>
          </a:xfrm>
          <a:prstGeom prst="rect">
            <a:avLst/>
          </a:prstGeom>
          <a:noFill/>
        </p:spPr>
        <p:txBody>
          <a:bodyPr wrap="square" lIns="25400" rIns="25400" tIns="12700" bIns="12700">
            <a:spAutoFit/>
          </a:bodyPr>
          <a:lstStyle/>
          <a:p>
            <a:pPr algn="l"/>
            <a:r>
              <a:rPr sz="1050" b="0">
                <a:solidFill>
                  <a:srgbClr val="303030"/>
                </a:solidFill>
                <a:latin typeface="Arial"/>
              </a:rPr>
              <a:t>4</a:t>
            </a:r>
          </a:p>
        </p:txBody>
      </p:sp>
      <p:sp>
        <p:nvSpPr>
          <p:cNvPr id="24" name="TextBox 23"/>
          <p:cNvSpPr txBox="1"/>
          <p:nvPr/>
        </p:nvSpPr>
        <p:spPr>
          <a:xfrm>
            <a:off x="2057400" y="3794760"/>
            <a:ext cx="2194560" cy="228600"/>
          </a:xfrm>
          <a:prstGeom prst="rect">
            <a:avLst/>
          </a:prstGeom>
          <a:noFill/>
        </p:spPr>
        <p:txBody>
          <a:bodyPr wrap="square" lIns="25400" rIns="25400" tIns="12700" bIns="12700">
            <a:spAutoFit/>
          </a:bodyPr>
          <a:lstStyle/>
          <a:p>
            <a:pPr algn="l"/>
            <a:r>
              <a:rPr sz="1050" b="0">
                <a:solidFill>
                  <a:srgbClr val="303030"/>
                </a:solidFill>
                <a:latin typeface="Arial"/>
              </a:rPr>
              <a:t>Caso de seguimiento</a:t>
            </a:r>
          </a:p>
        </p:txBody>
      </p:sp>
      <p:sp>
        <p:nvSpPr>
          <p:cNvPr id="25" name="TextBox 24"/>
          <p:cNvSpPr txBox="1"/>
          <p:nvPr/>
        </p:nvSpPr>
        <p:spPr>
          <a:xfrm>
            <a:off x="4663440" y="3794760"/>
            <a:ext cx="2743200" cy="320040"/>
          </a:xfrm>
          <a:prstGeom prst="rect">
            <a:avLst/>
          </a:prstGeom>
          <a:noFill/>
        </p:spPr>
        <p:txBody>
          <a:bodyPr wrap="square" lIns="25400" rIns="25400" tIns="12700" bIns="12700">
            <a:spAutoFit/>
          </a:bodyPr>
          <a:lstStyle/>
          <a:p>
            <a:pPr algn="l"/>
            <a:r>
              <a:rPr sz="1050" b="0">
                <a:solidFill>
                  <a:srgbClr val="303030"/>
                </a:solidFill>
                <a:latin typeface="Arial"/>
              </a:rPr>
              <a:t>Ruta crítica y holgura</a:t>
            </a:r>
          </a:p>
        </p:txBody>
      </p:sp>
      <p:sp>
        <p:nvSpPr>
          <p:cNvPr id="26" name="TextBox 25"/>
          <p:cNvSpPr txBox="1"/>
          <p:nvPr/>
        </p:nvSpPr>
        <p:spPr>
          <a:xfrm>
            <a:off x="7772400" y="3794760"/>
            <a:ext cx="2834640" cy="320040"/>
          </a:xfrm>
          <a:prstGeom prst="rect">
            <a:avLst/>
          </a:prstGeom>
          <a:noFill/>
        </p:spPr>
        <p:txBody>
          <a:bodyPr wrap="square" lIns="25400" rIns="25400" tIns="12700" bIns="12700">
            <a:spAutoFit/>
          </a:bodyPr>
          <a:lstStyle/>
          <a:p>
            <a:pPr algn="l"/>
            <a:r>
              <a:rPr sz="1050" b="0">
                <a:solidFill>
                  <a:srgbClr val="303030"/>
                </a:solidFill>
                <a:latin typeface="Arial"/>
              </a:rPr>
              <a:t>Identificación de actividades críticas</a:t>
            </a:r>
          </a:p>
        </p:txBody>
      </p:sp>
      <p:sp>
        <p:nvSpPr>
          <p:cNvPr id="27" name="TextBox 2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1 · EstacionaTec</a:t>
            </a:r>
          </a:p>
        </p:txBody>
      </p:sp>
      <p:sp>
        <p:nvSpPr>
          <p:cNvPr id="5" name="Rounded Rectangle 4"/>
          <p:cNvSpPr/>
          <p:nvPr/>
        </p:nvSpPr>
        <p:spPr>
          <a:xfrm>
            <a:off x="749808" y="960120"/>
            <a:ext cx="3794760" cy="525780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170432"/>
            <a:ext cx="1645920" cy="228600"/>
          </a:xfrm>
          <a:prstGeom prst="rect">
            <a:avLst/>
          </a:prstGeom>
          <a:noFill/>
        </p:spPr>
        <p:txBody>
          <a:bodyPr wrap="square" lIns="25400" rIns="25400" tIns="12700" bIns="12700">
            <a:spAutoFit/>
          </a:bodyPr>
          <a:lstStyle/>
          <a:p>
            <a:pPr algn="l"/>
            <a:r>
              <a:rPr sz="1250" b="1">
                <a:solidFill>
                  <a:srgbClr val="27486E"/>
                </a:solidFill>
                <a:latin typeface="Arial"/>
              </a:rPr>
              <a:t>Planteamiento</a:t>
            </a:r>
          </a:p>
        </p:txBody>
      </p:sp>
      <p:sp>
        <p:nvSpPr>
          <p:cNvPr id="7" name="TextBox 6"/>
          <p:cNvSpPr txBox="1"/>
          <p:nvPr/>
        </p:nvSpPr>
        <p:spPr>
          <a:xfrm>
            <a:off x="914400" y="1481328"/>
            <a:ext cx="3429000" cy="2331720"/>
          </a:xfrm>
          <a:prstGeom prst="rect">
            <a:avLst/>
          </a:prstGeom>
          <a:noFill/>
        </p:spPr>
        <p:txBody>
          <a:bodyPr wrap="square" lIns="25400" rIns="25400" tIns="12700" bIns="12700">
            <a:spAutoFit/>
          </a:bodyPr>
          <a:lstStyle/>
          <a:p>
            <a:pPr algn="l"/>
            <a:r>
              <a:rPr sz="1060" b="0">
                <a:solidFill>
                  <a:srgbClr val="303030"/>
                </a:solidFill>
                <a:latin typeface="Arial"/>
              </a:rPr>
              <a:t>Planteamiento: EstacionaTec es un sistema de control de estacionamiento para hoteles. Se pide organizar un cronograma con actividades como requerimientos, diseño del módulo de registro, desarrollo del panel de disponibilidad, integración del lector QR, pruebas y documentación final.</a:t>
            </a:r>
          </a:p>
        </p:txBody>
      </p:sp>
      <p:sp>
        <p:nvSpPr>
          <p:cNvPr id="8" name="TextBox 7"/>
          <p:cNvSpPr txBox="1"/>
          <p:nvPr/>
        </p:nvSpPr>
        <p:spPr>
          <a:xfrm>
            <a:off x="960120" y="3913632"/>
            <a:ext cx="2011680" cy="228600"/>
          </a:xfrm>
          <a:prstGeom prst="rect">
            <a:avLst/>
          </a:prstGeom>
          <a:noFill/>
        </p:spPr>
        <p:txBody>
          <a:bodyPr wrap="square" lIns="25400" rIns="25400" tIns="12700" bIns="12700">
            <a:spAutoFit/>
          </a:bodyPr>
          <a:lstStyle/>
          <a:p>
            <a:pPr algn="l"/>
            <a:r>
              <a:rPr sz="1250" b="1">
                <a:solidFill>
                  <a:srgbClr val="27486E"/>
                </a:solidFill>
                <a:latin typeface="Arial"/>
              </a:rPr>
              <a:t>Respuesta propuesta</a:t>
            </a:r>
          </a:p>
        </p:txBody>
      </p:sp>
      <p:sp>
        <p:nvSpPr>
          <p:cNvPr id="9" name="TextBox 8"/>
          <p:cNvSpPr txBox="1"/>
          <p:nvPr/>
        </p:nvSpPr>
        <p:spPr>
          <a:xfrm>
            <a:off x="914400" y="4224528"/>
            <a:ext cx="3429000" cy="1600200"/>
          </a:xfrm>
          <a:prstGeom prst="rect">
            <a:avLst/>
          </a:prstGeom>
          <a:noFill/>
        </p:spPr>
        <p:txBody>
          <a:bodyPr wrap="square" lIns="25400" rIns="25400" tIns="12700" bIns="12700">
            <a:spAutoFit/>
          </a:bodyPr>
          <a:lstStyle/>
          <a:p>
            <a:pPr algn="l"/>
            <a:r>
              <a:rPr sz="1050" b="0">
                <a:solidFill>
                  <a:srgbClr val="303030"/>
                </a:solidFill>
                <a:latin typeface="Arial"/>
              </a:rPr>
              <a:t>Respuesta propuesta: Se ordenaron las tareas de manera secuencial y se asignaron duraciones aproximadas. El cronograma permite observar el inicio, término y dependencia de cada actividad, facilitando el control del tiempo del proyecto.</a:t>
            </a:r>
          </a:p>
        </p:txBody>
      </p:sp>
      <p:pic>
        <p:nvPicPr>
          <p:cNvPr id="10" name="Picture 9" descr="EstacionaTec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2 · Rinconcito VC</a:t>
            </a:r>
          </a:p>
        </p:txBody>
      </p:sp>
      <p:sp>
        <p:nvSpPr>
          <p:cNvPr id="5" name="Rounded Rectangle 4"/>
          <p:cNvSpPr/>
          <p:nvPr/>
        </p:nvSpPr>
        <p:spPr>
          <a:xfrm>
            <a:off x="749808" y="960120"/>
            <a:ext cx="3794760" cy="525780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170432"/>
            <a:ext cx="1645920" cy="228600"/>
          </a:xfrm>
          <a:prstGeom prst="rect">
            <a:avLst/>
          </a:prstGeom>
          <a:noFill/>
        </p:spPr>
        <p:txBody>
          <a:bodyPr wrap="square" lIns="25400" rIns="25400" tIns="12700" bIns="12700">
            <a:spAutoFit/>
          </a:bodyPr>
          <a:lstStyle/>
          <a:p>
            <a:pPr algn="l"/>
            <a:r>
              <a:rPr sz="1250" b="1">
                <a:solidFill>
                  <a:srgbClr val="27486E"/>
                </a:solidFill>
                <a:latin typeface="Arial"/>
              </a:rPr>
              <a:t>Planteamiento</a:t>
            </a:r>
          </a:p>
        </p:txBody>
      </p:sp>
      <p:sp>
        <p:nvSpPr>
          <p:cNvPr id="7" name="TextBox 6"/>
          <p:cNvSpPr txBox="1"/>
          <p:nvPr/>
        </p:nvSpPr>
        <p:spPr>
          <a:xfrm>
            <a:off x="914400" y="1481328"/>
            <a:ext cx="3429000" cy="2331720"/>
          </a:xfrm>
          <a:prstGeom prst="rect">
            <a:avLst/>
          </a:prstGeom>
          <a:noFill/>
        </p:spPr>
        <p:txBody>
          <a:bodyPr wrap="square" lIns="25400" rIns="25400" tIns="12700" bIns="12700">
            <a:spAutoFit/>
          </a:bodyPr>
          <a:lstStyle/>
          <a:p>
            <a:pPr algn="l"/>
            <a:r>
              <a:rPr sz="1060" b="0">
                <a:solidFill>
                  <a:srgbClr val="303030"/>
                </a:solidFill>
                <a:latin typeface="Arial"/>
              </a:rPr>
              <a:t>Planteamiento: Rinconcito VC es un marketplace de café. Se solicita dividir el proyecto en paquetes de trabajo y definir quién participa en cada actividad principal mediante una matriz RACI.</a:t>
            </a:r>
          </a:p>
        </p:txBody>
      </p:sp>
      <p:sp>
        <p:nvSpPr>
          <p:cNvPr id="8" name="TextBox 7"/>
          <p:cNvSpPr txBox="1"/>
          <p:nvPr/>
        </p:nvSpPr>
        <p:spPr>
          <a:xfrm>
            <a:off x="960120" y="3913632"/>
            <a:ext cx="2011680" cy="228600"/>
          </a:xfrm>
          <a:prstGeom prst="rect">
            <a:avLst/>
          </a:prstGeom>
          <a:noFill/>
        </p:spPr>
        <p:txBody>
          <a:bodyPr wrap="square" lIns="25400" rIns="25400" tIns="12700" bIns="12700">
            <a:spAutoFit/>
          </a:bodyPr>
          <a:lstStyle/>
          <a:p>
            <a:pPr algn="l"/>
            <a:r>
              <a:rPr sz="1250" b="1">
                <a:solidFill>
                  <a:srgbClr val="27486E"/>
                </a:solidFill>
                <a:latin typeface="Arial"/>
              </a:rPr>
              <a:t>Respuesta propuesta</a:t>
            </a:r>
          </a:p>
        </p:txBody>
      </p:sp>
      <p:sp>
        <p:nvSpPr>
          <p:cNvPr id="9" name="TextBox 8"/>
          <p:cNvSpPr txBox="1"/>
          <p:nvPr/>
        </p:nvSpPr>
        <p:spPr>
          <a:xfrm>
            <a:off x="914400" y="4224528"/>
            <a:ext cx="3429000" cy="1600200"/>
          </a:xfrm>
          <a:prstGeom prst="rect">
            <a:avLst/>
          </a:prstGeom>
          <a:noFill/>
        </p:spPr>
        <p:txBody>
          <a:bodyPr wrap="square" lIns="25400" rIns="25400" tIns="12700" bIns="12700">
            <a:spAutoFit/>
          </a:bodyPr>
          <a:lstStyle/>
          <a:p>
            <a:pPr algn="l"/>
            <a:r>
              <a:rPr sz="1050" b="0">
                <a:solidFill>
                  <a:srgbClr val="303030"/>
                </a:solidFill>
                <a:latin typeface="Arial"/>
              </a:rPr>
              <a:t>Respuesta propuesta: Se estructuró una EDT/WBS con fases como requerimientos, catálogo de café, pagos en línea, pruebas y cierre. Después se asignaron responsabilidades al líder del proyecto, backend, frontend, seguridad y cliente.</a:t>
            </a:r>
          </a:p>
        </p:txBody>
      </p:sp>
      <p:pic>
        <p:nvPicPr>
          <p:cNvPr id="10" name="Picture 9" descr="Rinconcito_VC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3 · LocalMarket</a:t>
            </a:r>
          </a:p>
        </p:txBody>
      </p:sp>
      <p:sp>
        <p:nvSpPr>
          <p:cNvPr id="5" name="Rounded Rectangle 4"/>
          <p:cNvSpPr/>
          <p:nvPr/>
        </p:nvSpPr>
        <p:spPr>
          <a:xfrm>
            <a:off x="749808" y="960120"/>
            <a:ext cx="3794760" cy="525780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170432"/>
            <a:ext cx="1645920" cy="228600"/>
          </a:xfrm>
          <a:prstGeom prst="rect">
            <a:avLst/>
          </a:prstGeom>
          <a:noFill/>
        </p:spPr>
        <p:txBody>
          <a:bodyPr wrap="square" lIns="25400" rIns="25400" tIns="12700" bIns="12700">
            <a:spAutoFit/>
          </a:bodyPr>
          <a:lstStyle/>
          <a:p>
            <a:pPr algn="l"/>
            <a:r>
              <a:rPr sz="1250" b="1">
                <a:solidFill>
                  <a:srgbClr val="27486E"/>
                </a:solidFill>
                <a:latin typeface="Arial"/>
              </a:rPr>
              <a:t>Planteamiento</a:t>
            </a:r>
          </a:p>
        </p:txBody>
      </p:sp>
      <p:sp>
        <p:nvSpPr>
          <p:cNvPr id="7" name="TextBox 6"/>
          <p:cNvSpPr txBox="1"/>
          <p:nvPr/>
        </p:nvSpPr>
        <p:spPr>
          <a:xfrm>
            <a:off x="914400" y="1481328"/>
            <a:ext cx="3429000" cy="2331720"/>
          </a:xfrm>
          <a:prstGeom prst="rect">
            <a:avLst/>
          </a:prstGeom>
          <a:noFill/>
        </p:spPr>
        <p:txBody>
          <a:bodyPr wrap="square" lIns="25400" rIns="25400" tIns="12700" bIns="12700">
            <a:spAutoFit/>
          </a:bodyPr>
          <a:lstStyle/>
          <a:p>
            <a:pPr algn="l"/>
            <a:r>
              <a:rPr sz="1060" b="0">
                <a:solidFill>
                  <a:srgbClr val="303030"/>
                </a:solidFill>
                <a:latin typeface="Arial"/>
              </a:rPr>
              <a:t>Planteamiento: LocalMarket es una plataforma de ventas en línea. Se pide elaborar un cronograma resumido con fases de planeación, diseño, desarrollo y cierre para observar la secuencia del proyecto.</a:t>
            </a:r>
          </a:p>
        </p:txBody>
      </p:sp>
      <p:sp>
        <p:nvSpPr>
          <p:cNvPr id="8" name="TextBox 7"/>
          <p:cNvSpPr txBox="1"/>
          <p:nvPr/>
        </p:nvSpPr>
        <p:spPr>
          <a:xfrm>
            <a:off x="960120" y="3913632"/>
            <a:ext cx="2011680" cy="228600"/>
          </a:xfrm>
          <a:prstGeom prst="rect">
            <a:avLst/>
          </a:prstGeom>
          <a:noFill/>
        </p:spPr>
        <p:txBody>
          <a:bodyPr wrap="square" lIns="25400" rIns="25400" tIns="12700" bIns="12700">
            <a:spAutoFit/>
          </a:bodyPr>
          <a:lstStyle/>
          <a:p>
            <a:pPr algn="l"/>
            <a:r>
              <a:rPr sz="1250" b="1">
                <a:solidFill>
                  <a:srgbClr val="27486E"/>
                </a:solidFill>
                <a:latin typeface="Arial"/>
              </a:rPr>
              <a:t>Respuesta propuesta</a:t>
            </a:r>
          </a:p>
        </p:txBody>
      </p:sp>
      <p:sp>
        <p:nvSpPr>
          <p:cNvPr id="9" name="TextBox 8"/>
          <p:cNvSpPr txBox="1"/>
          <p:nvPr/>
        </p:nvSpPr>
        <p:spPr>
          <a:xfrm>
            <a:off x="914400" y="4224528"/>
            <a:ext cx="3429000" cy="1600200"/>
          </a:xfrm>
          <a:prstGeom prst="rect">
            <a:avLst/>
          </a:prstGeom>
          <a:noFill/>
        </p:spPr>
        <p:txBody>
          <a:bodyPr wrap="square" lIns="25400" rIns="25400" tIns="12700" bIns="12700">
            <a:spAutoFit/>
          </a:bodyPr>
          <a:lstStyle/>
          <a:p>
            <a:pPr algn="l"/>
            <a:r>
              <a:rPr sz="1050" b="0">
                <a:solidFill>
                  <a:srgbClr val="303030"/>
                </a:solidFill>
                <a:latin typeface="Arial"/>
              </a:rPr>
              <a:t>Respuesta propuesta: Se distribuyeron las actividades en un cronograma que muestra el orden del trabajo y la duración de cada etapa. Esto permite controlar el avance y visualizar el momento en que deben realizarse las pruebas y la entrega final.</a:t>
            </a:r>
          </a:p>
        </p:txBody>
      </p:sp>
      <p:pic>
        <p:nvPicPr>
          <p:cNvPr id="10" name="Picture 9" descr="cronograma_de_proyecto_localmarket.png"/>
          <p:cNvPicPr>
            <a:picLocks noChangeAspect="1"/>
          </p:cNvPicPr>
          <p:nvPr/>
        </p:nvPicPr>
        <p:blipFill>
          <a:blip r:embed="rId2"/>
          <a:stretch>
            <a:fillRect/>
          </a:stretch>
        </p:blipFill>
        <p:spPr>
          <a:xfrm>
            <a:off x="4800600" y="1078992"/>
            <a:ext cx="6492240" cy="3653826"/>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Ejercicio 4 · Gestión de riesgos y ruta crítica</a:t>
            </a:r>
          </a:p>
        </p:txBody>
      </p:sp>
      <p:sp>
        <p:nvSpPr>
          <p:cNvPr id="5" name="Rounded Rectangle 4"/>
          <p:cNvSpPr/>
          <p:nvPr/>
        </p:nvSpPr>
        <p:spPr>
          <a:xfrm>
            <a:off x="749808" y="960120"/>
            <a:ext cx="3794760" cy="525780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170432"/>
            <a:ext cx="1645920" cy="228600"/>
          </a:xfrm>
          <a:prstGeom prst="rect">
            <a:avLst/>
          </a:prstGeom>
          <a:noFill/>
        </p:spPr>
        <p:txBody>
          <a:bodyPr wrap="square" lIns="25400" rIns="25400" tIns="12700" bIns="12700">
            <a:spAutoFit/>
          </a:bodyPr>
          <a:lstStyle/>
          <a:p>
            <a:pPr algn="l"/>
            <a:r>
              <a:rPr sz="1250" b="1">
                <a:solidFill>
                  <a:srgbClr val="27486E"/>
                </a:solidFill>
                <a:latin typeface="Arial"/>
              </a:rPr>
              <a:t>Planteamiento</a:t>
            </a:r>
          </a:p>
        </p:txBody>
      </p:sp>
      <p:sp>
        <p:nvSpPr>
          <p:cNvPr id="7" name="TextBox 6"/>
          <p:cNvSpPr txBox="1"/>
          <p:nvPr/>
        </p:nvSpPr>
        <p:spPr>
          <a:xfrm>
            <a:off x="914400" y="1481328"/>
            <a:ext cx="3429000" cy="2331720"/>
          </a:xfrm>
          <a:prstGeom prst="rect">
            <a:avLst/>
          </a:prstGeom>
          <a:noFill/>
        </p:spPr>
        <p:txBody>
          <a:bodyPr wrap="square" lIns="25400" rIns="25400" tIns="12700" bIns="12700">
            <a:spAutoFit/>
          </a:bodyPr>
          <a:lstStyle/>
          <a:p>
            <a:pPr algn="l"/>
            <a:r>
              <a:rPr sz="1060" b="0">
                <a:solidFill>
                  <a:srgbClr val="303030"/>
                </a:solidFill>
                <a:latin typeface="Arial"/>
              </a:rPr>
              <a:t>Planteamiento: A partir de un caso general de seguimiento, se deben identificar riesgos del proyecto y reconocer las actividades que no pueden retrasarse. Se solicita valorar probabilidad e impacto y analizar la secuencia crítica.</a:t>
            </a:r>
          </a:p>
        </p:txBody>
      </p:sp>
      <p:sp>
        <p:nvSpPr>
          <p:cNvPr id="8" name="TextBox 7"/>
          <p:cNvSpPr txBox="1"/>
          <p:nvPr/>
        </p:nvSpPr>
        <p:spPr>
          <a:xfrm>
            <a:off x="960120" y="3913632"/>
            <a:ext cx="2011680" cy="228600"/>
          </a:xfrm>
          <a:prstGeom prst="rect">
            <a:avLst/>
          </a:prstGeom>
          <a:noFill/>
        </p:spPr>
        <p:txBody>
          <a:bodyPr wrap="square" lIns="25400" rIns="25400" tIns="12700" bIns="12700">
            <a:spAutoFit/>
          </a:bodyPr>
          <a:lstStyle/>
          <a:p>
            <a:pPr algn="l"/>
            <a:r>
              <a:rPr sz="1250" b="1">
                <a:solidFill>
                  <a:srgbClr val="27486E"/>
                </a:solidFill>
                <a:latin typeface="Arial"/>
              </a:rPr>
              <a:t>Respuesta propuesta</a:t>
            </a:r>
          </a:p>
        </p:txBody>
      </p:sp>
      <p:sp>
        <p:nvSpPr>
          <p:cNvPr id="9" name="TextBox 8"/>
          <p:cNvSpPr txBox="1"/>
          <p:nvPr/>
        </p:nvSpPr>
        <p:spPr>
          <a:xfrm>
            <a:off x="914400" y="4224528"/>
            <a:ext cx="3429000" cy="1600200"/>
          </a:xfrm>
          <a:prstGeom prst="rect">
            <a:avLst/>
          </a:prstGeom>
          <a:noFill/>
        </p:spPr>
        <p:txBody>
          <a:bodyPr wrap="square" lIns="25400" rIns="25400" tIns="12700" bIns="12700">
            <a:spAutoFit/>
          </a:bodyPr>
          <a:lstStyle/>
          <a:p>
            <a:pPr algn="l"/>
            <a:r>
              <a:rPr sz="1050" b="0">
                <a:solidFill>
                  <a:srgbClr val="303030"/>
                </a:solidFill>
                <a:latin typeface="Arial"/>
              </a:rPr>
              <a:t>Respuesta propuesta: Se elaboró una matriz de riesgos para ubicar amenazas de mayor criticidad y, además, se empleó una vista de ruta crítica para identificar las actividades que deben vigilarse con más cuidado durante el proyecto.</a:t>
            </a:r>
          </a:p>
        </p:txBody>
      </p:sp>
      <p:pic>
        <p:nvPicPr>
          <p:cNvPr id="10" name="Picture 9" descr="Ruta_critica_Windows11_recortada.png"/>
          <p:cNvPicPr>
            <a:picLocks noChangeAspect="1"/>
          </p:cNvPicPr>
          <p:nvPr/>
        </p:nvPicPr>
        <p:blipFill>
          <a:blip r:embed="rId2"/>
          <a:stretch>
            <a:fillRect/>
          </a:stretch>
        </p:blipFill>
        <p:spPr>
          <a:xfrm>
            <a:off x="4800600" y="1078992"/>
            <a:ext cx="6492240" cy="4725705"/>
          </a:xfrm>
          <a:prstGeom prst="rect">
            <a:avLst/>
          </a:prstGeom>
        </p:spPr>
      </p:pic>
      <p:sp>
        <p:nvSpPr>
          <p:cNvPr id="11" name="TextBox 10"/>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Complemento · Riesgos de LocalMarket</a:t>
            </a:r>
          </a:p>
        </p:txBody>
      </p:sp>
      <p:sp>
        <p:nvSpPr>
          <p:cNvPr id="5" name="TextBox 4"/>
          <p:cNvSpPr txBox="1"/>
          <p:nvPr/>
        </p:nvSpPr>
        <p:spPr>
          <a:xfrm>
            <a:off x="868680" y="868680"/>
            <a:ext cx="10241280" cy="411480"/>
          </a:xfrm>
          <a:prstGeom prst="rect">
            <a:avLst/>
          </a:prstGeom>
          <a:noFill/>
        </p:spPr>
        <p:txBody>
          <a:bodyPr wrap="square" lIns="25400" rIns="25400" tIns="12700" bIns="12700">
            <a:spAutoFit/>
          </a:bodyPr>
          <a:lstStyle/>
          <a:p>
            <a:pPr algn="l"/>
            <a:r>
              <a:rPr sz="1180" b="0">
                <a:solidFill>
                  <a:srgbClr val="303030"/>
                </a:solidFill>
                <a:latin typeface="Arial"/>
              </a:rPr>
              <a:t>Como apoyo al ejercicio anterior, también se integró la matriz de riesgos de LocalMarket para observar la relación entre probabilidad, impacto y respuesta propuesta.</a:t>
            </a:r>
          </a:p>
        </p:txBody>
      </p:sp>
      <p:pic>
        <p:nvPicPr>
          <p:cNvPr id="6" name="Picture 5" descr="LocalMarket_Windows11_recortada.png"/>
          <p:cNvPicPr>
            <a:picLocks noChangeAspect="1"/>
          </p:cNvPicPr>
          <p:nvPr/>
        </p:nvPicPr>
        <p:blipFill>
          <a:blip r:embed="rId2"/>
          <a:stretch>
            <a:fillRect/>
          </a:stretch>
        </p:blipFill>
        <p:spPr>
          <a:xfrm>
            <a:off x="777240" y="1234440"/>
            <a:ext cx="6783564" cy="4937760"/>
          </a:xfrm>
          <a:prstGeom prst="rect">
            <a:avLst/>
          </a:prstGeom>
        </p:spPr>
      </p:pic>
      <p:sp>
        <p:nvSpPr>
          <p:cNvPr id="7" name="Rounded Rectangle 6"/>
          <p:cNvSpPr/>
          <p:nvPr/>
        </p:nvSpPr>
        <p:spPr>
          <a:xfrm>
            <a:off x="7863840" y="1417320"/>
            <a:ext cx="3246120" cy="448056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65008" y="1645920"/>
            <a:ext cx="2011680" cy="228600"/>
          </a:xfrm>
          <a:prstGeom prst="rect">
            <a:avLst/>
          </a:prstGeom>
          <a:noFill/>
        </p:spPr>
        <p:txBody>
          <a:bodyPr wrap="square" lIns="25400" rIns="25400" tIns="12700" bIns="12700">
            <a:spAutoFit/>
          </a:bodyPr>
          <a:lstStyle/>
          <a:p>
            <a:pPr algn="l"/>
            <a:r>
              <a:rPr sz="1250" b="1">
                <a:solidFill>
                  <a:srgbClr val="27486E"/>
                </a:solidFill>
                <a:latin typeface="Arial"/>
              </a:rPr>
              <a:t>Interpretación</a:t>
            </a:r>
          </a:p>
        </p:txBody>
      </p:sp>
      <p:sp>
        <p:nvSpPr>
          <p:cNvPr id="9" name="TextBox 8"/>
          <p:cNvSpPr txBox="1"/>
          <p:nvPr/>
        </p:nvSpPr>
        <p:spPr>
          <a:xfrm>
            <a:off x="8046720" y="1993392"/>
            <a:ext cx="2834640" cy="2377440"/>
          </a:xfrm>
          <a:prstGeom prst="rect">
            <a:avLst/>
          </a:prstGeom>
          <a:noFill/>
        </p:spPr>
        <p:txBody>
          <a:bodyPr wrap="square" lIns="25400" rIns="25400" tIns="12700" bIns="12700">
            <a:spAutoFit/>
          </a:bodyPr>
          <a:lstStyle/>
          <a:p>
            <a:pPr>
              <a:spcAft>
                <a:spcPts val="300"/>
              </a:spcAft>
              <a:defRPr sz="1040">
                <a:solidFill>
                  <a:srgbClr val="303030"/>
                </a:solidFill>
                <a:latin typeface="Arial"/>
              </a:defRPr>
            </a:pPr>
            <a:r>
              <a:t>La tabla muestra la criticidad de cada riesgo.</a:t>
            </a:r>
          </a:p>
          <a:p>
            <a:pPr>
              <a:spcAft>
                <a:spcPts val="300"/>
              </a:spcAft>
              <a:defRPr sz="1040">
                <a:solidFill>
                  <a:srgbClr val="303030"/>
                </a:solidFill>
                <a:latin typeface="Arial"/>
              </a:defRPr>
            </a:pPr>
            <a:r>
              <a:t>La matriz ayuda a distinguir cuáles amenazas son altas, medias o bajas.</a:t>
            </a:r>
          </a:p>
          <a:p>
            <a:pPr>
              <a:spcAft>
                <a:spcPts val="300"/>
              </a:spcAft>
              <a:defRPr sz="1040">
                <a:solidFill>
                  <a:srgbClr val="303030"/>
                </a:solidFill>
                <a:latin typeface="Arial"/>
              </a:defRPr>
            </a:pPr>
            <a:r>
              <a:t>Con esta información se definen acciones preventivas y de respuesta.</a:t>
            </a:r>
          </a:p>
          <a:p>
            <a:pPr>
              <a:spcAft>
                <a:spcPts val="300"/>
              </a:spcAft>
              <a:defRPr sz="1040">
                <a:solidFill>
                  <a:srgbClr val="303030"/>
                </a:solidFill>
                <a:latin typeface="Arial"/>
              </a:defRPr>
            </a:pPr>
            <a:r>
              <a:t>Los riesgos más altos requieren seguimiento constante.</a:t>
            </a:r>
          </a:p>
        </p:txBody>
      </p:sp>
      <p:sp>
        <p:nvSpPr>
          <p:cNvPr id="10" name="TextBox 9"/>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Cuadro comparativo de los ejercicios</a:t>
            </a:r>
          </a:p>
        </p:txBody>
      </p:sp>
      <p:sp>
        <p:nvSpPr>
          <p:cNvPr id="5" name="Rounded Rectangle 4"/>
          <p:cNvSpPr/>
          <p:nvPr/>
        </p:nvSpPr>
        <p:spPr>
          <a:xfrm>
            <a:off x="868680" y="1234440"/>
            <a:ext cx="10149840" cy="4297680"/>
          </a:xfrm>
          <a:prstGeom prst="roundRect">
            <a:avLst/>
          </a:prstGeom>
          <a:solidFill>
            <a:srgbClr val="F0EFEA"/>
          </a:solidFill>
          <a:ln>
            <a:solidFill>
              <a:srgbClr val="CDCB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1737360" cy="228600"/>
          </a:xfrm>
          <a:prstGeom prst="rect">
            <a:avLst/>
          </a:prstGeom>
          <a:noFill/>
        </p:spPr>
        <p:txBody>
          <a:bodyPr wrap="square" lIns="25400" rIns="25400" tIns="12700" bIns="12700">
            <a:spAutoFit/>
          </a:bodyPr>
          <a:lstStyle/>
          <a:p>
            <a:pPr algn="l"/>
            <a:r>
              <a:rPr sz="1120" b="1">
                <a:solidFill>
                  <a:srgbClr val="27486E"/>
                </a:solidFill>
                <a:latin typeface="Arial"/>
              </a:rPr>
              <a:t>Proyecto</a:t>
            </a:r>
          </a:p>
        </p:txBody>
      </p:sp>
      <p:sp>
        <p:nvSpPr>
          <p:cNvPr id="7" name="TextBox 6"/>
          <p:cNvSpPr txBox="1"/>
          <p:nvPr/>
        </p:nvSpPr>
        <p:spPr>
          <a:xfrm>
            <a:off x="2834640" y="1463040"/>
            <a:ext cx="1737360" cy="228600"/>
          </a:xfrm>
          <a:prstGeom prst="rect">
            <a:avLst/>
          </a:prstGeom>
          <a:noFill/>
        </p:spPr>
        <p:txBody>
          <a:bodyPr wrap="square" lIns="25400" rIns="25400" tIns="12700" bIns="12700">
            <a:spAutoFit/>
          </a:bodyPr>
          <a:lstStyle/>
          <a:p>
            <a:pPr algn="l"/>
            <a:r>
              <a:rPr sz="1120" b="1">
                <a:solidFill>
                  <a:srgbClr val="27486E"/>
                </a:solidFill>
                <a:latin typeface="Arial"/>
              </a:rPr>
              <a:t>Herramienta principal</a:t>
            </a:r>
          </a:p>
        </p:txBody>
      </p:sp>
      <p:sp>
        <p:nvSpPr>
          <p:cNvPr id="8" name="TextBox 7"/>
          <p:cNvSpPr txBox="1"/>
          <p:nvPr/>
        </p:nvSpPr>
        <p:spPr>
          <a:xfrm>
            <a:off x="5532120" y="1463040"/>
            <a:ext cx="1737360" cy="228600"/>
          </a:xfrm>
          <a:prstGeom prst="rect">
            <a:avLst/>
          </a:prstGeom>
          <a:noFill/>
        </p:spPr>
        <p:txBody>
          <a:bodyPr wrap="square" lIns="25400" rIns="25400" tIns="12700" bIns="12700">
            <a:spAutoFit/>
          </a:bodyPr>
          <a:lstStyle/>
          <a:p>
            <a:pPr algn="l"/>
            <a:r>
              <a:rPr sz="1120" b="1">
                <a:solidFill>
                  <a:srgbClr val="27486E"/>
                </a:solidFill>
                <a:latin typeface="Arial"/>
              </a:rPr>
              <a:t>Aplicación</a:t>
            </a:r>
          </a:p>
        </p:txBody>
      </p:sp>
      <p:sp>
        <p:nvSpPr>
          <p:cNvPr id="9" name="TextBox 8"/>
          <p:cNvSpPr txBox="1"/>
          <p:nvPr/>
        </p:nvSpPr>
        <p:spPr>
          <a:xfrm>
            <a:off x="8366760" y="1463040"/>
            <a:ext cx="1737360" cy="228600"/>
          </a:xfrm>
          <a:prstGeom prst="rect">
            <a:avLst/>
          </a:prstGeom>
          <a:noFill/>
        </p:spPr>
        <p:txBody>
          <a:bodyPr wrap="square" lIns="25400" rIns="25400" tIns="12700" bIns="12700">
            <a:spAutoFit/>
          </a:bodyPr>
          <a:lstStyle/>
          <a:p>
            <a:pPr algn="l"/>
            <a:r>
              <a:rPr sz="1120" b="1">
                <a:solidFill>
                  <a:srgbClr val="27486E"/>
                </a:solidFill>
                <a:latin typeface="Arial"/>
              </a:rPr>
              <a:t>Resultado</a:t>
            </a:r>
          </a:p>
        </p:txBody>
      </p:sp>
      <p:sp>
        <p:nvSpPr>
          <p:cNvPr id="10" name="TextBox 9"/>
          <p:cNvSpPr txBox="1"/>
          <p:nvPr/>
        </p:nvSpPr>
        <p:spPr>
          <a:xfrm>
            <a:off x="1005840" y="1847088"/>
            <a:ext cx="1554480" cy="274320"/>
          </a:xfrm>
          <a:prstGeom prst="rect">
            <a:avLst/>
          </a:prstGeom>
          <a:noFill/>
        </p:spPr>
        <p:txBody>
          <a:bodyPr wrap="square" lIns="25400" rIns="25400" tIns="12700" bIns="12700">
            <a:spAutoFit/>
          </a:bodyPr>
          <a:lstStyle/>
          <a:p>
            <a:pPr algn="l"/>
            <a:r>
              <a:rPr sz="1040" b="0">
                <a:solidFill>
                  <a:srgbClr val="303030"/>
                </a:solidFill>
                <a:latin typeface="Arial"/>
              </a:rPr>
              <a:t>EstacionaTec</a:t>
            </a:r>
          </a:p>
        </p:txBody>
      </p:sp>
      <p:sp>
        <p:nvSpPr>
          <p:cNvPr id="11" name="TextBox 10"/>
          <p:cNvSpPr txBox="1"/>
          <p:nvPr/>
        </p:nvSpPr>
        <p:spPr>
          <a:xfrm>
            <a:off x="2834640" y="1847088"/>
            <a:ext cx="2286000" cy="274320"/>
          </a:xfrm>
          <a:prstGeom prst="rect">
            <a:avLst/>
          </a:prstGeom>
          <a:noFill/>
        </p:spPr>
        <p:txBody>
          <a:bodyPr wrap="square" lIns="25400" rIns="25400" tIns="12700" bIns="12700">
            <a:spAutoFit/>
          </a:bodyPr>
          <a:lstStyle/>
          <a:p>
            <a:pPr algn="l"/>
            <a:r>
              <a:rPr sz="1040" b="0">
                <a:solidFill>
                  <a:srgbClr val="303030"/>
                </a:solidFill>
                <a:latin typeface="Arial"/>
              </a:rPr>
              <a:t>Cronograma de Gantt</a:t>
            </a:r>
          </a:p>
        </p:txBody>
      </p:sp>
      <p:sp>
        <p:nvSpPr>
          <p:cNvPr id="12" name="TextBox 11"/>
          <p:cNvSpPr txBox="1"/>
          <p:nvPr/>
        </p:nvSpPr>
        <p:spPr>
          <a:xfrm>
            <a:off x="5532120" y="1847088"/>
            <a:ext cx="2377440" cy="365760"/>
          </a:xfrm>
          <a:prstGeom prst="rect">
            <a:avLst/>
          </a:prstGeom>
          <a:noFill/>
        </p:spPr>
        <p:txBody>
          <a:bodyPr wrap="square" lIns="25400" rIns="25400" tIns="12700" bIns="12700">
            <a:spAutoFit/>
          </a:bodyPr>
          <a:lstStyle/>
          <a:p>
            <a:pPr algn="l"/>
            <a:r>
              <a:rPr sz="1040" b="0">
                <a:solidFill>
                  <a:srgbClr val="303030"/>
                </a:solidFill>
                <a:latin typeface="Arial"/>
              </a:rPr>
              <a:t>Ordena actividades y tiempos</a:t>
            </a:r>
          </a:p>
        </p:txBody>
      </p:sp>
      <p:sp>
        <p:nvSpPr>
          <p:cNvPr id="13" name="TextBox 12"/>
          <p:cNvSpPr txBox="1"/>
          <p:nvPr/>
        </p:nvSpPr>
        <p:spPr>
          <a:xfrm>
            <a:off x="8366760" y="1847088"/>
            <a:ext cx="2103120" cy="365760"/>
          </a:xfrm>
          <a:prstGeom prst="rect">
            <a:avLst/>
          </a:prstGeom>
          <a:noFill/>
        </p:spPr>
        <p:txBody>
          <a:bodyPr wrap="square" lIns="25400" rIns="25400" tIns="12700" bIns="12700">
            <a:spAutoFit/>
          </a:bodyPr>
          <a:lstStyle/>
          <a:p>
            <a:pPr algn="l"/>
            <a:r>
              <a:rPr sz="1040" b="0">
                <a:solidFill>
                  <a:srgbClr val="303030"/>
                </a:solidFill>
                <a:latin typeface="Arial"/>
              </a:rPr>
              <a:t>Seguimiento del desarrollo</a:t>
            </a:r>
          </a:p>
        </p:txBody>
      </p:sp>
      <p:sp>
        <p:nvSpPr>
          <p:cNvPr id="14" name="TextBox 13"/>
          <p:cNvSpPr txBox="1"/>
          <p:nvPr/>
        </p:nvSpPr>
        <p:spPr>
          <a:xfrm>
            <a:off x="1005840" y="2560320"/>
            <a:ext cx="1554480" cy="274320"/>
          </a:xfrm>
          <a:prstGeom prst="rect">
            <a:avLst/>
          </a:prstGeom>
          <a:noFill/>
        </p:spPr>
        <p:txBody>
          <a:bodyPr wrap="square" lIns="25400" rIns="25400" tIns="12700" bIns="12700">
            <a:spAutoFit/>
          </a:bodyPr>
          <a:lstStyle/>
          <a:p>
            <a:pPr algn="l"/>
            <a:r>
              <a:rPr sz="1040" b="0">
                <a:solidFill>
                  <a:srgbClr val="303030"/>
                </a:solidFill>
                <a:latin typeface="Arial"/>
              </a:rPr>
              <a:t>Rinconcito VC</a:t>
            </a:r>
          </a:p>
        </p:txBody>
      </p:sp>
      <p:sp>
        <p:nvSpPr>
          <p:cNvPr id="15" name="TextBox 14"/>
          <p:cNvSpPr txBox="1"/>
          <p:nvPr/>
        </p:nvSpPr>
        <p:spPr>
          <a:xfrm>
            <a:off x="2834640" y="2560320"/>
            <a:ext cx="2286000" cy="274320"/>
          </a:xfrm>
          <a:prstGeom prst="rect">
            <a:avLst/>
          </a:prstGeom>
          <a:noFill/>
        </p:spPr>
        <p:txBody>
          <a:bodyPr wrap="square" lIns="25400" rIns="25400" tIns="12700" bIns="12700">
            <a:spAutoFit/>
          </a:bodyPr>
          <a:lstStyle/>
          <a:p>
            <a:pPr algn="l"/>
            <a:r>
              <a:rPr sz="1040" b="0">
                <a:solidFill>
                  <a:srgbClr val="303030"/>
                </a:solidFill>
                <a:latin typeface="Arial"/>
              </a:rPr>
              <a:t>EDT/WBS y RACI</a:t>
            </a:r>
          </a:p>
        </p:txBody>
      </p:sp>
      <p:sp>
        <p:nvSpPr>
          <p:cNvPr id="16" name="TextBox 15"/>
          <p:cNvSpPr txBox="1"/>
          <p:nvPr/>
        </p:nvSpPr>
        <p:spPr>
          <a:xfrm>
            <a:off x="5532120" y="2560320"/>
            <a:ext cx="2377440" cy="365760"/>
          </a:xfrm>
          <a:prstGeom prst="rect">
            <a:avLst/>
          </a:prstGeom>
          <a:noFill/>
        </p:spPr>
        <p:txBody>
          <a:bodyPr wrap="square" lIns="25400" rIns="25400" tIns="12700" bIns="12700">
            <a:spAutoFit/>
          </a:bodyPr>
          <a:lstStyle/>
          <a:p>
            <a:pPr algn="l"/>
            <a:r>
              <a:rPr sz="1040" b="0">
                <a:solidFill>
                  <a:srgbClr val="303030"/>
                </a:solidFill>
                <a:latin typeface="Arial"/>
              </a:rPr>
              <a:t>Divide tareas y asigna responsables</a:t>
            </a:r>
          </a:p>
        </p:txBody>
      </p:sp>
      <p:sp>
        <p:nvSpPr>
          <p:cNvPr id="17" name="TextBox 16"/>
          <p:cNvSpPr txBox="1"/>
          <p:nvPr/>
        </p:nvSpPr>
        <p:spPr>
          <a:xfrm>
            <a:off x="8366760" y="2560320"/>
            <a:ext cx="2103120" cy="365760"/>
          </a:xfrm>
          <a:prstGeom prst="rect">
            <a:avLst/>
          </a:prstGeom>
          <a:noFill/>
        </p:spPr>
        <p:txBody>
          <a:bodyPr wrap="square" lIns="25400" rIns="25400" tIns="12700" bIns="12700">
            <a:spAutoFit/>
          </a:bodyPr>
          <a:lstStyle/>
          <a:p>
            <a:pPr algn="l"/>
            <a:r>
              <a:rPr sz="1040" b="0">
                <a:solidFill>
                  <a:srgbClr val="303030"/>
                </a:solidFill>
                <a:latin typeface="Arial"/>
              </a:rPr>
              <a:t>Control del trabajo por fases</a:t>
            </a:r>
          </a:p>
        </p:txBody>
      </p:sp>
      <p:sp>
        <p:nvSpPr>
          <p:cNvPr id="18" name="TextBox 17"/>
          <p:cNvSpPr txBox="1"/>
          <p:nvPr/>
        </p:nvSpPr>
        <p:spPr>
          <a:xfrm>
            <a:off x="1005840" y="3273552"/>
            <a:ext cx="1554480" cy="274320"/>
          </a:xfrm>
          <a:prstGeom prst="rect">
            <a:avLst/>
          </a:prstGeom>
          <a:noFill/>
        </p:spPr>
        <p:txBody>
          <a:bodyPr wrap="square" lIns="25400" rIns="25400" tIns="12700" bIns="12700">
            <a:spAutoFit/>
          </a:bodyPr>
          <a:lstStyle/>
          <a:p>
            <a:pPr algn="l"/>
            <a:r>
              <a:rPr sz="1040" b="0">
                <a:solidFill>
                  <a:srgbClr val="303030"/>
                </a:solidFill>
                <a:latin typeface="Arial"/>
              </a:rPr>
              <a:t>LocalMarket</a:t>
            </a:r>
          </a:p>
        </p:txBody>
      </p:sp>
      <p:sp>
        <p:nvSpPr>
          <p:cNvPr id="19" name="TextBox 18"/>
          <p:cNvSpPr txBox="1"/>
          <p:nvPr/>
        </p:nvSpPr>
        <p:spPr>
          <a:xfrm>
            <a:off x="2834640" y="3273552"/>
            <a:ext cx="2286000" cy="274320"/>
          </a:xfrm>
          <a:prstGeom prst="rect">
            <a:avLst/>
          </a:prstGeom>
          <a:noFill/>
        </p:spPr>
        <p:txBody>
          <a:bodyPr wrap="square" lIns="25400" rIns="25400" tIns="12700" bIns="12700">
            <a:spAutoFit/>
          </a:bodyPr>
          <a:lstStyle/>
          <a:p>
            <a:pPr algn="l"/>
            <a:r>
              <a:rPr sz="1040" b="0">
                <a:solidFill>
                  <a:srgbClr val="303030"/>
                </a:solidFill>
                <a:latin typeface="Arial"/>
              </a:rPr>
              <a:t>Cronograma resumido</a:t>
            </a:r>
          </a:p>
        </p:txBody>
      </p:sp>
      <p:sp>
        <p:nvSpPr>
          <p:cNvPr id="20" name="TextBox 19"/>
          <p:cNvSpPr txBox="1"/>
          <p:nvPr/>
        </p:nvSpPr>
        <p:spPr>
          <a:xfrm>
            <a:off x="5532120" y="3273552"/>
            <a:ext cx="2377440" cy="365760"/>
          </a:xfrm>
          <a:prstGeom prst="rect">
            <a:avLst/>
          </a:prstGeom>
          <a:noFill/>
        </p:spPr>
        <p:txBody>
          <a:bodyPr wrap="square" lIns="25400" rIns="25400" tIns="12700" bIns="12700">
            <a:spAutoFit/>
          </a:bodyPr>
          <a:lstStyle/>
          <a:p>
            <a:pPr algn="l"/>
            <a:r>
              <a:rPr sz="1040" b="0">
                <a:solidFill>
                  <a:srgbClr val="303030"/>
                </a:solidFill>
                <a:latin typeface="Arial"/>
              </a:rPr>
              <a:t>Visualiza etapas y cierre</a:t>
            </a:r>
          </a:p>
        </p:txBody>
      </p:sp>
      <p:sp>
        <p:nvSpPr>
          <p:cNvPr id="21" name="TextBox 20"/>
          <p:cNvSpPr txBox="1"/>
          <p:nvPr/>
        </p:nvSpPr>
        <p:spPr>
          <a:xfrm>
            <a:off x="8366760" y="3273552"/>
            <a:ext cx="2103120" cy="365760"/>
          </a:xfrm>
          <a:prstGeom prst="rect">
            <a:avLst/>
          </a:prstGeom>
          <a:noFill/>
        </p:spPr>
        <p:txBody>
          <a:bodyPr wrap="square" lIns="25400" rIns="25400" tIns="12700" bIns="12700">
            <a:spAutoFit/>
          </a:bodyPr>
          <a:lstStyle/>
          <a:p>
            <a:pPr algn="l"/>
            <a:r>
              <a:rPr sz="1040" b="0">
                <a:solidFill>
                  <a:srgbClr val="303030"/>
                </a:solidFill>
                <a:latin typeface="Arial"/>
              </a:rPr>
              <a:t>Control global del avance</a:t>
            </a:r>
          </a:p>
        </p:txBody>
      </p:sp>
      <p:sp>
        <p:nvSpPr>
          <p:cNvPr id="22" name="TextBox 21"/>
          <p:cNvSpPr txBox="1"/>
          <p:nvPr/>
        </p:nvSpPr>
        <p:spPr>
          <a:xfrm>
            <a:off x="1005840" y="3986784"/>
            <a:ext cx="1554480" cy="274320"/>
          </a:xfrm>
          <a:prstGeom prst="rect">
            <a:avLst/>
          </a:prstGeom>
          <a:noFill/>
        </p:spPr>
        <p:txBody>
          <a:bodyPr wrap="square" lIns="25400" rIns="25400" tIns="12700" bIns="12700">
            <a:spAutoFit/>
          </a:bodyPr>
          <a:lstStyle/>
          <a:p>
            <a:pPr algn="l"/>
            <a:r>
              <a:rPr sz="1040" b="0">
                <a:solidFill>
                  <a:srgbClr val="303030"/>
                </a:solidFill>
                <a:latin typeface="Arial"/>
              </a:rPr>
              <a:t>Caso de seguimiento</a:t>
            </a:r>
          </a:p>
        </p:txBody>
      </p:sp>
      <p:sp>
        <p:nvSpPr>
          <p:cNvPr id="23" name="TextBox 22"/>
          <p:cNvSpPr txBox="1"/>
          <p:nvPr/>
        </p:nvSpPr>
        <p:spPr>
          <a:xfrm>
            <a:off x="2834640" y="3986784"/>
            <a:ext cx="2286000" cy="274320"/>
          </a:xfrm>
          <a:prstGeom prst="rect">
            <a:avLst/>
          </a:prstGeom>
          <a:noFill/>
        </p:spPr>
        <p:txBody>
          <a:bodyPr wrap="square" lIns="25400" rIns="25400" tIns="12700" bIns="12700">
            <a:spAutoFit/>
          </a:bodyPr>
          <a:lstStyle/>
          <a:p>
            <a:pPr algn="l"/>
            <a:r>
              <a:rPr sz="1040" b="0">
                <a:solidFill>
                  <a:srgbClr val="303030"/>
                </a:solidFill>
                <a:latin typeface="Arial"/>
              </a:rPr>
              <a:t>Ruta crítica y riesgos</a:t>
            </a:r>
          </a:p>
        </p:txBody>
      </p:sp>
      <p:sp>
        <p:nvSpPr>
          <p:cNvPr id="24" name="TextBox 23"/>
          <p:cNvSpPr txBox="1"/>
          <p:nvPr/>
        </p:nvSpPr>
        <p:spPr>
          <a:xfrm>
            <a:off x="5532120" y="3986784"/>
            <a:ext cx="2377440" cy="365760"/>
          </a:xfrm>
          <a:prstGeom prst="rect">
            <a:avLst/>
          </a:prstGeom>
          <a:noFill/>
        </p:spPr>
        <p:txBody>
          <a:bodyPr wrap="square" lIns="25400" rIns="25400" tIns="12700" bIns="12700">
            <a:spAutoFit/>
          </a:bodyPr>
          <a:lstStyle/>
          <a:p>
            <a:pPr algn="l"/>
            <a:r>
              <a:rPr sz="1040" b="0">
                <a:solidFill>
                  <a:srgbClr val="303030"/>
                </a:solidFill>
                <a:latin typeface="Arial"/>
              </a:rPr>
              <a:t>Prioriza actividades y amenazas</a:t>
            </a:r>
          </a:p>
        </p:txBody>
      </p:sp>
      <p:sp>
        <p:nvSpPr>
          <p:cNvPr id="25" name="TextBox 24"/>
          <p:cNvSpPr txBox="1"/>
          <p:nvPr/>
        </p:nvSpPr>
        <p:spPr>
          <a:xfrm>
            <a:off x="8366760" y="3986784"/>
            <a:ext cx="2103120" cy="365760"/>
          </a:xfrm>
          <a:prstGeom prst="rect">
            <a:avLst/>
          </a:prstGeom>
          <a:noFill/>
        </p:spPr>
        <p:txBody>
          <a:bodyPr wrap="square" lIns="25400" rIns="25400" tIns="12700" bIns="12700">
            <a:spAutoFit/>
          </a:bodyPr>
          <a:lstStyle/>
          <a:p>
            <a:pPr algn="l"/>
            <a:r>
              <a:rPr sz="1040" b="0">
                <a:solidFill>
                  <a:srgbClr val="303030"/>
                </a:solidFill>
                <a:latin typeface="Arial"/>
              </a:rPr>
              <a:t>Mejor control del proyecto</a:t>
            </a:r>
          </a:p>
        </p:txBody>
      </p:sp>
      <p:sp>
        <p:nvSpPr>
          <p:cNvPr id="26" name="TextBox 25"/>
          <p:cNvSpPr txBox="1"/>
          <p:nvPr/>
        </p:nvSpPr>
        <p:spPr>
          <a:xfrm>
            <a:off x="896112" y="5715000"/>
            <a:ext cx="10058400" cy="320040"/>
          </a:xfrm>
          <a:prstGeom prst="rect">
            <a:avLst/>
          </a:prstGeom>
          <a:noFill/>
        </p:spPr>
        <p:txBody>
          <a:bodyPr wrap="square" lIns="25400" rIns="25400" tIns="12700" bIns="12700">
            <a:spAutoFit/>
          </a:bodyPr>
          <a:lstStyle/>
          <a:p>
            <a:pPr algn="l"/>
            <a:r>
              <a:rPr sz="1060" b="0">
                <a:solidFill>
                  <a:srgbClr val="545454"/>
                </a:solidFill>
                <a:latin typeface="Arial"/>
              </a:rPr>
              <a:t>Este cuadro resume cómo cada ejercicio permitió aplicar una herramienta diferente de la planificación de proyectos de TI.</a:t>
            </a:r>
          </a:p>
        </p:txBody>
      </p:sp>
      <p:sp>
        <p:nvSpPr>
          <p:cNvPr id="27" name="TextBox 2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Rectangle 1"/>
          <p:cNvSpPr/>
          <p:nvPr/>
        </p:nvSpPr>
        <p:spPr>
          <a:xfrm>
            <a:off x="274320" y="228600"/>
            <a:ext cx="18288" cy="6172200"/>
          </a:xfrm>
          <a:prstGeom prst="rect">
            <a:avLst/>
          </a:prstGeom>
          <a:solidFill>
            <a:srgbClr val="A8A088"/>
          </a:solidFill>
          <a:ln>
            <a:solidFill>
              <a:srgbClr val="A8A0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 y="228600"/>
            <a:ext cx="13716" cy="6172200"/>
          </a:xfrm>
          <a:prstGeom prst="rect">
            <a:avLst/>
          </a:prstGeom>
          <a:solidFill>
            <a:srgbClr val="DDDDDD"/>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56032"/>
            <a:ext cx="10607040" cy="502920"/>
          </a:xfrm>
          <a:prstGeom prst="rect">
            <a:avLst/>
          </a:prstGeom>
          <a:noFill/>
        </p:spPr>
        <p:txBody>
          <a:bodyPr wrap="none">
            <a:spAutoFit/>
          </a:bodyPr>
          <a:lstStyle/>
          <a:p>
            <a:pPr algn="l"/>
            <a:r>
              <a:rPr sz="2100" b="1">
                <a:solidFill>
                  <a:srgbClr val="181818"/>
                </a:solidFill>
                <a:latin typeface="Arial"/>
              </a:rPr>
              <a:t>Conclusión</a:t>
            </a:r>
          </a:p>
        </p:txBody>
      </p:sp>
      <p:sp>
        <p:nvSpPr>
          <p:cNvPr id="5" name="TextBox 4"/>
          <p:cNvSpPr txBox="1"/>
          <p:nvPr/>
        </p:nvSpPr>
        <p:spPr>
          <a:xfrm>
            <a:off x="877824" y="1078992"/>
            <a:ext cx="10241280" cy="4480560"/>
          </a:xfrm>
          <a:prstGeom prst="rect">
            <a:avLst/>
          </a:prstGeom>
          <a:noFill/>
        </p:spPr>
        <p:txBody>
          <a:bodyPr wrap="square" lIns="25400" rIns="25400" tIns="12700" bIns="12700">
            <a:spAutoFit/>
          </a:bodyPr>
          <a:lstStyle/>
          <a:p>
            <a:pPr algn="l"/>
            <a:r>
              <a:rPr sz="1420" b="0">
                <a:solidFill>
                  <a:srgbClr val="303030"/>
                </a:solidFill>
                <a:latin typeface="Arial"/>
              </a:rPr>
              <a:t>Con el banco de ejercicios se reforzó la aplicación de la planificación de proyectos en casos relacionados con el área de TI. Cada ejercicio permitió practicar una herramienta distinta: el cronograma, la EDT/WBS, la matriz RACI, la gestión de riesgos y la ruta crítica.
En conjunto, estos ejercicios muestran que planear un proyecto no solo consiste en describir lo que se hará, sino en ordenar tareas, establecer responsables, visualizar tiempos y anticipar problemas que puedan afectar la entrega. Esto ayuda a tomar decisiones más claras y a dar mejor seguimiento al avance del proyecto.</a:t>
            </a:r>
          </a:p>
        </p:txBody>
      </p:sp>
      <p:sp>
        <p:nvSpPr>
          <p:cNvPr id="6" name="TextBox 5"/>
          <p:cNvSpPr txBox="1"/>
          <p:nvPr/>
        </p:nvSpPr>
        <p:spPr>
          <a:xfrm>
            <a:off x="877824" y="5623560"/>
            <a:ext cx="10058400" cy="320040"/>
          </a:xfrm>
          <a:prstGeom prst="rect">
            <a:avLst/>
          </a:prstGeom>
          <a:noFill/>
        </p:spPr>
        <p:txBody>
          <a:bodyPr wrap="square" lIns="25400" rIns="25400" tIns="12700" bIns="12700">
            <a:spAutoFit/>
          </a:bodyPr>
          <a:lstStyle/>
          <a:p>
            <a:pPr algn="l"/>
            <a:r>
              <a:rPr sz="1010" b="0">
                <a:solidFill>
                  <a:srgbClr val="545454"/>
                </a:solidFill>
                <a:latin typeface="Arial"/>
              </a:rPr>
              <a:t>Fuentes de apoyo: materiales de Planificación de proyectos y Gestión de riesgos proporcionados para la Unidad 3.</a:t>
            </a:r>
          </a:p>
        </p:txBody>
      </p:sp>
      <p:sp>
        <p:nvSpPr>
          <p:cNvPr id="7" name="TextBox 6"/>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