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8" r:id="rId3"/>
    <p:sldId id="269" r:id="rId4"/>
    <p:sldId id="270" r:id="rId5"/>
    <p:sldId id="271" r:id="rId6"/>
    <p:sldId id="272" r:id="rId7"/>
    <p:sldId id="273" r:id="rId8"/>
    <p:sldId id="274" r:id="rId9"/>
    <p:sldId id="275" r:id="rId10"/>
    <p:sldId id="276" r:id="rId11"/>
    <p:sldId id="280" r:id="rId12"/>
    <p:sldId id="281" r:id="rId13"/>
    <p:sldId id="282" r:id="rId14"/>
    <p:sldId id="283" r:id="rId15"/>
    <p:sldId id="277" r:id="rId16"/>
    <p:sldId id="278" r:id="rId17"/>
    <p:sldId id="279"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01554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09220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124427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790386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8271959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34503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854424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029187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25470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380659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1693059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37496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994702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409548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836341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41283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9090606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1.png"/>
          <p:cNvPicPr>
            <a:picLocks noChangeAspect="1"/>
          </p:cNvPicPr>
          <p:nvPr/>
        </p:nvPicPr>
        <p:blipFill>
          <a:blip r:embed="rId2"/>
          <a:stretch>
            <a:fillRect/>
          </a:stretch>
        </p:blipFill>
        <p:spPr>
          <a:xfrm>
            <a:off x="228600" y="109728"/>
            <a:ext cx="2651760" cy="548945"/>
          </a:xfrm>
          <a:prstGeom prst="rect">
            <a:avLst/>
          </a:prstGeom>
        </p:spPr>
      </p:pic>
      <p:pic>
        <p:nvPicPr>
          <p:cNvPr id="5" name="Picture 4" descr="image2.png"/>
          <p:cNvPicPr>
            <a:picLocks noChangeAspect="1"/>
          </p:cNvPicPr>
          <p:nvPr/>
        </p:nvPicPr>
        <p:blipFill>
          <a:blip r:embed="rId3"/>
          <a:stretch>
            <a:fillRect/>
          </a:stretch>
        </p:blipFill>
        <p:spPr>
          <a:xfrm>
            <a:off x="4352544" y="118872"/>
            <a:ext cx="1965960" cy="964292"/>
          </a:xfrm>
          <a:prstGeom prst="rect">
            <a:avLst/>
          </a:prstGeom>
        </p:spPr>
      </p:pic>
      <p:pic>
        <p:nvPicPr>
          <p:cNvPr id="6" name="Picture 5" descr="image3.jpeg"/>
          <p:cNvPicPr>
            <a:picLocks noChangeAspect="1"/>
          </p:cNvPicPr>
          <p:nvPr/>
        </p:nvPicPr>
        <p:blipFill>
          <a:blip r:embed="rId4"/>
          <a:stretch>
            <a:fillRect/>
          </a:stretch>
        </p:blipFill>
        <p:spPr>
          <a:xfrm>
            <a:off x="9966960" y="91440"/>
            <a:ext cx="1115568" cy="776047"/>
          </a:xfrm>
          <a:prstGeom prst="rect">
            <a:avLst/>
          </a:prstGeom>
        </p:spPr>
      </p:pic>
      <p:sp>
        <p:nvSpPr>
          <p:cNvPr id="7" name="TextBox 6"/>
          <p:cNvSpPr txBox="1"/>
          <p:nvPr/>
        </p:nvSpPr>
        <p:spPr>
          <a:xfrm>
            <a:off x="3403165" y="1005840"/>
            <a:ext cx="5263749" cy="5232202"/>
          </a:xfrm>
          <a:prstGeom prst="rect">
            <a:avLst/>
          </a:prstGeom>
          <a:noFill/>
        </p:spPr>
        <p:txBody>
          <a:bodyPr wrap="none">
            <a:spAutoFit/>
          </a:bodyPr>
          <a:lstStyle/>
          <a:p>
            <a:pPr algn="ctr"/>
            <a:r>
              <a:rPr sz="1800" b="1" dirty="0">
                <a:solidFill>
                  <a:srgbClr val="181818"/>
                </a:solidFill>
                <a:latin typeface="Arial"/>
              </a:rPr>
              <a:t>TECNOLÓGICO NACIONAL DE MÉXICO</a:t>
            </a:r>
          </a:p>
          <a:p>
            <a:pPr algn="ctr"/>
            <a:r>
              <a:rPr sz="1500" b="1" dirty="0">
                <a:solidFill>
                  <a:srgbClr val="181818"/>
                </a:solidFill>
                <a:latin typeface="Arial"/>
              </a:rPr>
              <a:t>INSTITUTO TECNOLÓGICO DE FRONTERA COMALAPA</a:t>
            </a:r>
          </a:p>
          <a:p>
            <a:pPr algn="ctr"/>
            <a:endParaRPr sz="1500" b="1" dirty="0">
              <a:solidFill>
                <a:srgbClr val="181818"/>
              </a:solidFill>
              <a:latin typeface="Arial"/>
            </a:endParaRPr>
          </a:p>
          <a:p>
            <a:pPr algn="ctr"/>
            <a:r>
              <a:rPr sz="1300" b="1" dirty="0">
                <a:solidFill>
                  <a:srgbClr val="181818"/>
                </a:solidFill>
                <a:latin typeface="Arial"/>
              </a:rPr>
              <a:t>NOMBRE DE LA MATERIA</a:t>
            </a:r>
          </a:p>
          <a:p>
            <a:pPr algn="ctr"/>
            <a:r>
              <a:rPr sz="1500" b="0" dirty="0" err="1">
                <a:solidFill>
                  <a:srgbClr val="181818"/>
                </a:solidFill>
                <a:latin typeface="Arial"/>
              </a:rPr>
              <a:t>Gestión</a:t>
            </a:r>
            <a:r>
              <a:rPr sz="1500" b="0" dirty="0">
                <a:solidFill>
                  <a:srgbClr val="181818"/>
                </a:solidFill>
                <a:latin typeface="Arial"/>
              </a:rPr>
              <a:t> de </a:t>
            </a:r>
            <a:r>
              <a:rPr sz="1500" b="0" dirty="0" err="1">
                <a:solidFill>
                  <a:srgbClr val="181818"/>
                </a:solidFill>
                <a:latin typeface="Arial"/>
              </a:rPr>
              <a:t>proyectos</a:t>
            </a:r>
            <a:r>
              <a:rPr sz="1500" b="0" dirty="0">
                <a:solidFill>
                  <a:srgbClr val="181818"/>
                </a:solidFill>
                <a:latin typeface="Arial"/>
              </a:rPr>
              <a:t> de TI</a:t>
            </a:r>
          </a:p>
          <a:p>
            <a:pPr algn="ctr"/>
            <a:endParaRPr sz="1500" b="0" dirty="0">
              <a:solidFill>
                <a:srgbClr val="181818"/>
              </a:solidFill>
              <a:latin typeface="Arial"/>
            </a:endParaRPr>
          </a:p>
          <a:p>
            <a:pPr algn="ctr"/>
            <a:r>
              <a:rPr sz="1300" b="1" dirty="0">
                <a:solidFill>
                  <a:srgbClr val="181818"/>
                </a:solidFill>
                <a:latin typeface="Arial"/>
              </a:rPr>
              <a:t>NOMBRE DEL ESTUDIANTE</a:t>
            </a:r>
          </a:p>
          <a:p>
            <a:pPr algn="ctr"/>
            <a:r>
              <a:rPr sz="1500" b="0" dirty="0">
                <a:solidFill>
                  <a:srgbClr val="181818"/>
                </a:solidFill>
                <a:latin typeface="Arial"/>
              </a:rPr>
              <a:t>EDDI URIEL CASTILLO SÁNCHEZ</a:t>
            </a:r>
          </a:p>
          <a:p>
            <a:pPr algn="ctr"/>
            <a:endParaRPr sz="1500" b="0" dirty="0">
              <a:solidFill>
                <a:srgbClr val="181818"/>
              </a:solidFill>
              <a:latin typeface="Arial"/>
            </a:endParaRPr>
          </a:p>
          <a:p>
            <a:pPr algn="ctr"/>
            <a:r>
              <a:rPr sz="1300" b="1" dirty="0">
                <a:solidFill>
                  <a:srgbClr val="181818"/>
                </a:solidFill>
                <a:latin typeface="Arial"/>
              </a:rPr>
              <a:t>CARRERA</a:t>
            </a:r>
          </a:p>
          <a:p>
            <a:pPr algn="ctr"/>
            <a:r>
              <a:rPr sz="1500" b="0" dirty="0">
                <a:solidFill>
                  <a:srgbClr val="181818"/>
                </a:solidFill>
                <a:latin typeface="Arial"/>
              </a:rPr>
              <a:t>INGENIERÍA EN SISTEMAS COMPUTACIONALES</a:t>
            </a:r>
          </a:p>
          <a:p>
            <a:pPr algn="ctr"/>
            <a:endParaRPr sz="1500" b="0" dirty="0">
              <a:solidFill>
                <a:srgbClr val="181818"/>
              </a:solidFill>
              <a:latin typeface="Arial"/>
            </a:endParaRPr>
          </a:p>
          <a:p>
            <a:pPr algn="ctr"/>
            <a:r>
              <a:rPr sz="1300" b="1" dirty="0">
                <a:solidFill>
                  <a:srgbClr val="181818"/>
                </a:solidFill>
                <a:latin typeface="Arial"/>
              </a:rPr>
              <a:t>SEMESTRE</a:t>
            </a:r>
          </a:p>
          <a:p>
            <a:pPr algn="ctr"/>
            <a:r>
              <a:rPr sz="1500" b="0" dirty="0">
                <a:solidFill>
                  <a:srgbClr val="181818"/>
                </a:solidFill>
                <a:latin typeface="Arial"/>
              </a:rPr>
              <a:t>SÉPTIMO SEMESTRE</a:t>
            </a:r>
          </a:p>
          <a:p>
            <a:pPr algn="ctr"/>
            <a:endParaRPr sz="1500" b="0" dirty="0">
              <a:solidFill>
                <a:srgbClr val="181818"/>
              </a:solidFill>
              <a:latin typeface="Arial"/>
            </a:endParaRPr>
          </a:p>
          <a:p>
            <a:pPr algn="ctr"/>
            <a:r>
              <a:rPr sz="1300" b="1" dirty="0">
                <a:solidFill>
                  <a:srgbClr val="181818"/>
                </a:solidFill>
                <a:latin typeface="Arial"/>
              </a:rPr>
              <a:t>NOMBRE DEL DOCENTE</a:t>
            </a:r>
          </a:p>
          <a:p>
            <a:pPr algn="ctr"/>
            <a:r>
              <a:rPr sz="1500" b="0" dirty="0">
                <a:solidFill>
                  <a:srgbClr val="181818"/>
                </a:solidFill>
                <a:latin typeface="Arial"/>
              </a:rPr>
              <a:t>Ing. Javier Francisco Mingo Velázquez</a:t>
            </a:r>
          </a:p>
          <a:p>
            <a:pPr algn="ctr"/>
            <a:endParaRPr sz="1500" b="0" dirty="0">
              <a:solidFill>
                <a:srgbClr val="181818"/>
              </a:solidFill>
              <a:latin typeface="Arial"/>
            </a:endParaRPr>
          </a:p>
          <a:p>
            <a:pPr algn="ctr"/>
            <a:r>
              <a:rPr sz="1300" b="1" dirty="0">
                <a:solidFill>
                  <a:srgbClr val="181818"/>
                </a:solidFill>
                <a:latin typeface="Arial"/>
              </a:rPr>
              <a:t>NOMBRE DEL TRABAJO</a:t>
            </a:r>
          </a:p>
          <a:p>
            <a:pPr algn="ctr"/>
            <a:r>
              <a:rPr sz="1500" b="0" dirty="0" err="1">
                <a:solidFill>
                  <a:srgbClr val="181818"/>
                </a:solidFill>
                <a:latin typeface="Arial"/>
              </a:rPr>
              <a:t>Actividad</a:t>
            </a:r>
            <a:r>
              <a:rPr sz="1500" b="0" dirty="0">
                <a:solidFill>
                  <a:srgbClr val="181818"/>
                </a:solidFill>
                <a:latin typeface="Arial"/>
              </a:rPr>
              <a:t> </a:t>
            </a:r>
            <a:r>
              <a:rPr lang="es-MX" sz="1500" dirty="0">
                <a:solidFill>
                  <a:srgbClr val="181818"/>
                </a:solidFill>
                <a:latin typeface="Arial"/>
              </a:rPr>
              <a:t>6.3 Banco de ejercicios</a:t>
            </a:r>
            <a:endParaRPr sz="1500" b="0" dirty="0">
              <a:solidFill>
                <a:srgbClr val="181818"/>
              </a:solidFill>
              <a:latin typeface="Arial"/>
            </a:endParaRPr>
          </a:p>
          <a:p>
            <a:pPr algn="ctr"/>
            <a:endParaRPr sz="1500" b="0" dirty="0">
              <a:solidFill>
                <a:srgbClr val="181818"/>
              </a:solidFill>
              <a:latin typeface="Arial"/>
            </a:endParaRPr>
          </a:p>
          <a:p>
            <a:pPr algn="ctr"/>
            <a:r>
              <a:rPr sz="1300" b="1" dirty="0">
                <a:solidFill>
                  <a:srgbClr val="181818"/>
                </a:solidFill>
                <a:latin typeface="Arial"/>
              </a:rPr>
              <a:t>LUGAR Y FECHA</a:t>
            </a:r>
          </a:p>
          <a:p>
            <a:pPr algn="ctr"/>
            <a:r>
              <a:rPr sz="1500" b="0" dirty="0">
                <a:solidFill>
                  <a:srgbClr val="181818"/>
                </a:solidFill>
                <a:latin typeface="Arial"/>
              </a:rPr>
              <a:t>Frontera </a:t>
            </a:r>
            <a:r>
              <a:rPr sz="1500" b="0" dirty="0" err="1">
                <a:solidFill>
                  <a:srgbClr val="181818"/>
                </a:solidFill>
                <a:latin typeface="Arial"/>
              </a:rPr>
              <a:t>Comalapa</a:t>
            </a:r>
            <a:r>
              <a:rPr sz="1500" b="0" dirty="0">
                <a:solidFill>
                  <a:srgbClr val="181818"/>
                </a:solidFill>
                <a:latin typeface="Arial"/>
              </a:rPr>
              <a:t>, Chiapas </a:t>
            </a:r>
            <a:r>
              <a:rPr lang="es-MX" sz="1500" dirty="0">
                <a:solidFill>
                  <a:srgbClr val="181818"/>
                </a:solidFill>
                <a:latin typeface="Arial"/>
              </a:rPr>
              <a:t> 04 de Octubre</a:t>
            </a:r>
            <a:r>
              <a:rPr sz="1500" b="0" dirty="0">
                <a:solidFill>
                  <a:srgbClr val="181818"/>
                </a:solidFill>
                <a:latin typeface="Arial"/>
              </a:rPr>
              <a:t> de 2026</a:t>
            </a:r>
          </a:p>
        </p:txBody>
      </p:sp>
      <p:sp>
        <p:nvSpPr>
          <p:cNvPr id="8" name="TextBox 7"/>
          <p:cNvSpPr txBox="1"/>
          <p:nvPr/>
        </p:nvSpPr>
        <p:spPr>
          <a:xfrm>
            <a:off x="11567160" y="6400800"/>
            <a:ext cx="228600" cy="182880"/>
          </a:xfrm>
          <a:prstGeom prst="rect">
            <a:avLst/>
          </a:prstGeom>
          <a:noFill/>
        </p:spPr>
        <p:txBody>
          <a:bodyPr wrap="none">
            <a:spAutoFit/>
          </a:bodyPr>
          <a:lstStyle/>
          <a:p>
            <a:pPr algn="ctr">
              <a:defRPr sz="900">
                <a:solidFill>
                  <a:srgbClr val="5A5A5A"/>
                </a:solidFill>
                <a:latin typeface="Arial"/>
              </a:defRPr>
            </a:pPr>
            <a:r>
              <a:rPr sz="800">
                <a:solidFill>
                  <a:srgbClr val="000000"/>
                </a:solidFill>
                <a:latin typeface="Aria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2</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Introducción</a:t>
            </a:r>
          </a:p>
        </p:txBody>
      </p:sp>
      <p:sp>
        <p:nvSpPr>
          <p:cNvPr id="7" name="TextBox 6"/>
          <p:cNvSpPr txBox="1"/>
          <p:nvPr/>
        </p:nvSpPr>
        <p:spPr>
          <a:xfrm>
            <a:off x="1508760" y="1234440"/>
            <a:ext cx="7680960" cy="4114800"/>
          </a:xfrm>
          <a:prstGeom prst="rect">
            <a:avLst/>
          </a:prstGeom>
          <a:noFill/>
        </p:spPr>
        <p:txBody>
          <a:bodyPr wrap="square" lIns="45720" rIns="45720">
            <a:normAutofit/>
          </a:bodyPr>
          <a:lstStyle/>
          <a:p>
            <a:pPr algn="ctr">
              <a:spcAft>
                <a:spcPts val="800"/>
              </a:spcAft>
            </a:pPr>
            <a:r>
              <a:rPr sz="1500">
                <a:solidFill>
                  <a:srgbClr val="373737"/>
                </a:solidFill>
              </a:rPr>
              <a:t>En esta práctica se trabajó la documentación final y el cierre formal de los proyectos EstacionaTec, Rinconcito VC y LocalMarket. El cierre de un proyecto permite confirmar que los entregables fueron aceptados, que los recursos pueden liberarse y que la información generada queda registrada para futuras actividades.</a:t>
            </a:r>
          </a:p>
          <a:p>
            <a:pPr algn="ctr">
              <a:spcAft>
                <a:spcPts val="800"/>
              </a:spcAft>
            </a:pPr>
            <a:r>
              <a:rPr sz="1500">
                <a:solidFill>
                  <a:srgbClr val="373737"/>
                </a:solidFill>
              </a:rPr>
              <a:t>La práctica se enfocó en aplicar un checklist de cierre, revisar la aceptación del alcance, identificar el estado financiero, considerar el traspaso operativo y registrar las lecciones aprendidas. Con esto se buscó representar cómo se concluye un proyecto de TI de manera ordenada y con evidencia.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3</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Justificación</a:t>
            </a:r>
          </a:p>
        </p:txBody>
      </p:sp>
      <p:sp>
        <p:nvSpPr>
          <p:cNvPr id="7" name="TextBox 6"/>
          <p:cNvSpPr txBox="1"/>
          <p:nvPr/>
        </p:nvSpPr>
        <p:spPr>
          <a:xfrm>
            <a:off x="1508760" y="1234440"/>
            <a:ext cx="7680960" cy="4114800"/>
          </a:xfrm>
          <a:prstGeom prst="rect">
            <a:avLst/>
          </a:prstGeom>
          <a:noFill/>
        </p:spPr>
        <p:txBody>
          <a:bodyPr wrap="square" lIns="45720" rIns="45720">
            <a:normAutofit/>
          </a:bodyPr>
          <a:lstStyle/>
          <a:p>
            <a:pPr algn="ctr">
              <a:spcAft>
                <a:spcPts val="800"/>
              </a:spcAft>
            </a:pPr>
            <a:r>
              <a:rPr sz="1500">
                <a:solidFill>
                  <a:srgbClr val="373737"/>
                </a:solidFill>
              </a:rPr>
              <a:t>Esta práctica se justifica porque todo proyecto de TI necesita cerrarse formalmente para evitar pendientes, responsabilidades indefinidas o pérdida de información. Cuando un proyecto no se documenta al final, puede ser difícil comprobar qué se entregó, qué quedó pendiente y qué aprendizajes deben conservarse.</a:t>
            </a:r>
          </a:p>
          <a:p>
            <a:pPr algn="ctr">
              <a:spcAft>
                <a:spcPts val="800"/>
              </a:spcAft>
            </a:pPr>
            <a:r>
              <a:rPr sz="1500">
                <a:solidFill>
                  <a:srgbClr val="373737"/>
                </a:solidFill>
              </a:rPr>
              <a:t>Por eso, aplicar el cierre a EstacionaTec, Rinconcito VC y LocalMarket permite comprender la importancia de entregar evidencias, validar los resultados, registrar lecciones aprendidas y dejar claridad sobre el estado final del proyecto.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4</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Objetivo de la práctica</a:t>
            </a:r>
          </a:p>
        </p:txBody>
      </p:sp>
      <p:sp>
        <p:nvSpPr>
          <p:cNvPr id="7" name="TextBox 6"/>
          <p:cNvSpPr txBox="1"/>
          <p:nvPr/>
        </p:nvSpPr>
        <p:spPr>
          <a:xfrm>
            <a:off x="1508760" y="1234440"/>
            <a:ext cx="7680960" cy="4114800"/>
          </a:xfrm>
          <a:prstGeom prst="rect">
            <a:avLst/>
          </a:prstGeom>
          <a:noFill/>
        </p:spPr>
        <p:txBody>
          <a:bodyPr wrap="square" lIns="45720" rIns="45720">
            <a:normAutofit/>
          </a:bodyPr>
          <a:lstStyle/>
          <a:p>
            <a:pPr algn="ctr">
              <a:spcAft>
                <a:spcPts val="800"/>
              </a:spcAft>
            </a:pPr>
            <a:r>
              <a:rPr sz="1500">
                <a:solidFill>
                  <a:srgbClr val="373737"/>
                </a:solidFill>
              </a:rPr>
              <a:t>El objetivo de esta práctica fue elaborar el cierre formal de los proyectos EstacionaTec, Rinconcito VC y LocalMarket mediante el uso de checklist, documentación final y registro de lecciones aprendidas.</a:t>
            </a:r>
          </a:p>
          <a:p>
            <a:pPr algn="ctr">
              <a:spcAft>
                <a:spcPts val="800"/>
              </a:spcAft>
            </a:pPr>
            <a:r>
              <a:rPr sz="1500">
                <a:solidFill>
                  <a:srgbClr val="373737"/>
                </a:solidFill>
              </a:rPr>
              <a:t>También se buscó identificar los elementos principales que forman parte del cierre de un proyecto de TI, como la aceptación de entregables, el cierre financiero, el traspaso operativo, la liberación del equipo y la validación final por parte de los responsables.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5</a:t>
            </a:r>
          </a:p>
        </p:txBody>
      </p:sp>
      <p:sp>
        <p:nvSpPr>
          <p:cNvPr id="6" name="TextBox 5"/>
          <p:cNvSpPr txBox="1"/>
          <p:nvPr/>
        </p:nvSpPr>
        <p:spPr>
          <a:xfrm>
            <a:off x="3939467" y="384048"/>
            <a:ext cx="3002424" cy="307777"/>
          </a:xfrm>
          <a:prstGeom prst="rect">
            <a:avLst/>
          </a:prstGeom>
          <a:noFill/>
        </p:spPr>
        <p:txBody>
          <a:bodyPr wrap="none" lIns="0" tIns="0" rIns="0" bIns="0">
            <a:spAutoFit/>
          </a:bodyPr>
          <a:lstStyle/>
          <a:p>
            <a:pPr algn="ctr"/>
            <a:r>
              <a:rPr sz="2000" b="1" dirty="0">
                <a:solidFill>
                  <a:srgbClr val="000000"/>
                </a:solidFill>
              </a:rPr>
              <a:t> </a:t>
            </a:r>
            <a:r>
              <a:rPr sz="2000" b="1" dirty="0" err="1">
                <a:solidFill>
                  <a:srgbClr val="000000"/>
                </a:solidFill>
              </a:rPr>
              <a:t>Procedimiento</a:t>
            </a:r>
            <a:r>
              <a:rPr sz="2000" b="1" dirty="0">
                <a:solidFill>
                  <a:srgbClr val="000000"/>
                </a:solidFill>
              </a:rPr>
              <a:t> de </a:t>
            </a:r>
            <a:r>
              <a:rPr sz="2000" b="1" dirty="0" err="1">
                <a:solidFill>
                  <a:srgbClr val="000000"/>
                </a:solidFill>
              </a:rPr>
              <a:t>cierre</a:t>
            </a:r>
            <a:endParaRPr sz="2000" b="1" dirty="0">
              <a:solidFill>
                <a:srgbClr val="000000"/>
              </a:solidFill>
            </a:endParaRPr>
          </a:p>
        </p:txBody>
      </p:sp>
      <p:sp>
        <p:nvSpPr>
          <p:cNvPr id="7" name="TextBox 6"/>
          <p:cNvSpPr txBox="1"/>
          <p:nvPr/>
        </p:nvSpPr>
        <p:spPr>
          <a:xfrm>
            <a:off x="1051560" y="1143000"/>
            <a:ext cx="8778240" cy="5074920"/>
          </a:xfrm>
          <a:prstGeom prst="rect">
            <a:avLst/>
          </a:prstGeom>
          <a:noFill/>
        </p:spPr>
        <p:txBody>
          <a:bodyPr wrap="square" lIns="45720" rIns="45720">
            <a:normAutofit/>
          </a:bodyPr>
          <a:lstStyle/>
          <a:p>
            <a:pPr algn="l">
              <a:spcAft>
                <a:spcPts val="800"/>
              </a:spcAft>
            </a:pPr>
            <a:r>
              <a:rPr sz="1400">
                <a:solidFill>
                  <a:srgbClr val="373737"/>
                </a:solidFill>
              </a:rPr>
              <a:t>Para comenzar el procedimiento de cierre se revisó que cada proyecto tuviera definidos sus entregables principales y que estos estuvieran relacionados con el objetivo de cada sistema. Después se organizó la información necesaria para comprobar la aceptación del alcance, el cierre financiero, el traspaso operativo, la liberación del equipo y las firmas de conformidad.</a:t>
            </a:r>
          </a:p>
          <a:p>
            <a:pPr algn="l">
              <a:spcAft>
                <a:spcPts val="800"/>
              </a:spcAft>
            </a:pPr>
            <a:r>
              <a:rPr sz="1400">
                <a:solidFill>
                  <a:srgbClr val="373737"/>
                </a:solidFill>
              </a:rPr>
              <a:t>También se consideró la importancia de registrar las lecciones aprendidas, ya que este apartado ayuda a identificar qué funcionó bien, qué problemas se presentaron y qué recomendaciones pueden aplicarse en proyectos futuros.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6</a:t>
            </a:r>
          </a:p>
        </p:txBody>
      </p:sp>
      <p:sp>
        <p:nvSpPr>
          <p:cNvPr id="6" name="TextBox 5"/>
          <p:cNvSpPr txBox="1"/>
          <p:nvPr/>
        </p:nvSpPr>
        <p:spPr>
          <a:xfrm>
            <a:off x="2695443" y="384048"/>
            <a:ext cx="5490477" cy="307777"/>
          </a:xfrm>
          <a:prstGeom prst="rect">
            <a:avLst/>
          </a:prstGeom>
          <a:noFill/>
        </p:spPr>
        <p:txBody>
          <a:bodyPr wrap="none" lIns="0" tIns="0" rIns="0" bIns="0">
            <a:spAutoFit/>
          </a:bodyPr>
          <a:lstStyle/>
          <a:p>
            <a:pPr algn="ctr"/>
            <a:r>
              <a:rPr lang="es-MX" sz="2000" b="1" dirty="0">
                <a:solidFill>
                  <a:srgbClr val="000000"/>
                </a:solidFill>
                <a:latin typeface="Arial"/>
              </a:rPr>
              <a:t>Ejercicio 1</a:t>
            </a:r>
            <a:r>
              <a:rPr sz="2000" b="1" dirty="0">
                <a:solidFill>
                  <a:srgbClr val="000000"/>
                </a:solidFill>
                <a:latin typeface="Arial"/>
              </a:rPr>
              <a:t> Checklist de </a:t>
            </a:r>
            <a:r>
              <a:rPr sz="2000" b="1" dirty="0" err="1">
                <a:solidFill>
                  <a:srgbClr val="000000"/>
                </a:solidFill>
                <a:latin typeface="Arial"/>
              </a:rPr>
              <a:t>cierre</a:t>
            </a:r>
            <a:r>
              <a:rPr sz="2000" b="1" dirty="0">
                <a:solidFill>
                  <a:srgbClr val="000000"/>
                </a:solidFill>
                <a:latin typeface="Arial"/>
              </a:rPr>
              <a:t> - </a:t>
            </a:r>
            <a:r>
              <a:rPr sz="2000" b="1" dirty="0" err="1">
                <a:solidFill>
                  <a:srgbClr val="000000"/>
                </a:solidFill>
                <a:latin typeface="Arial"/>
              </a:rPr>
              <a:t>EstacionaTec</a:t>
            </a:r>
            <a:endParaRPr sz="2000" b="1" dirty="0">
              <a:solidFill>
                <a:srgbClr val="000000"/>
              </a:solidFill>
              <a:latin typeface="Arial"/>
            </a:endParaRPr>
          </a:p>
        </p:txBody>
      </p:sp>
      <p:sp>
        <p:nvSpPr>
          <p:cNvPr id="8" name="TextBox 7"/>
          <p:cNvSpPr txBox="1"/>
          <p:nvPr/>
        </p:nvSpPr>
        <p:spPr>
          <a:xfrm>
            <a:off x="868680" y="987552"/>
            <a:ext cx="8869680" cy="685800"/>
          </a:xfrm>
          <a:prstGeom prst="rect">
            <a:avLst/>
          </a:prstGeom>
          <a:noFill/>
        </p:spPr>
        <p:txBody>
          <a:bodyPr wrap="square" lIns="45720" rIns="45720">
            <a:spAutoFit/>
          </a:bodyPr>
          <a:lstStyle/>
          <a:p>
            <a:pPr algn="l">
              <a:spcAft>
                <a:spcPts val="800"/>
              </a:spcAft>
            </a:pPr>
            <a:r>
              <a:rPr sz="1200">
                <a:solidFill>
                  <a:srgbClr val="373737"/>
                </a:solidFill>
              </a:rPr>
              <a:t>Para EstacionaTec se revisó el cierre considerando que el sistema debía apoyar el control de espacios de estacionamiento. Se verificó la aceptación del alcance, el estado de los recursos y la preparación de la documentación para su posible operación.</a:t>
            </a:r>
          </a:p>
        </p:txBody>
      </p:sp>
      <p:pic>
        <p:nvPicPr>
          <p:cNvPr id="9" name="Picture 8" descr="tabla_estacionatec.png"/>
          <p:cNvPicPr>
            <a:picLocks noChangeAspect="1"/>
          </p:cNvPicPr>
          <p:nvPr/>
        </p:nvPicPr>
        <p:blipFill>
          <a:blip r:embed="rId2"/>
          <a:stretch>
            <a:fillRect/>
          </a:stretch>
        </p:blipFill>
        <p:spPr>
          <a:xfrm>
            <a:off x="868680" y="1847088"/>
            <a:ext cx="8869680" cy="189050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7</a:t>
            </a:r>
          </a:p>
        </p:txBody>
      </p:sp>
      <p:sp>
        <p:nvSpPr>
          <p:cNvPr id="6" name="TextBox 5"/>
          <p:cNvSpPr txBox="1"/>
          <p:nvPr/>
        </p:nvSpPr>
        <p:spPr>
          <a:xfrm>
            <a:off x="2600962" y="384048"/>
            <a:ext cx="5679440" cy="307777"/>
          </a:xfrm>
          <a:prstGeom prst="rect">
            <a:avLst/>
          </a:prstGeom>
          <a:noFill/>
        </p:spPr>
        <p:txBody>
          <a:bodyPr wrap="none" lIns="0" tIns="0" rIns="0" bIns="0">
            <a:spAutoFit/>
          </a:bodyPr>
          <a:lstStyle/>
          <a:p>
            <a:pPr algn="ctr"/>
            <a:r>
              <a:rPr lang="es-MX" sz="2000" b="1" dirty="0">
                <a:solidFill>
                  <a:srgbClr val="000000"/>
                </a:solidFill>
                <a:latin typeface="Arial"/>
              </a:rPr>
              <a:t>Ejercicio 2</a:t>
            </a:r>
            <a:r>
              <a:rPr sz="2000" b="1" dirty="0">
                <a:solidFill>
                  <a:srgbClr val="000000"/>
                </a:solidFill>
                <a:latin typeface="Arial"/>
              </a:rPr>
              <a:t>. Checklist de </a:t>
            </a:r>
            <a:r>
              <a:rPr sz="2000" b="1" dirty="0" err="1">
                <a:solidFill>
                  <a:srgbClr val="000000"/>
                </a:solidFill>
                <a:latin typeface="Arial"/>
              </a:rPr>
              <a:t>cierre</a:t>
            </a:r>
            <a:r>
              <a:rPr sz="2000" b="1" dirty="0">
                <a:solidFill>
                  <a:srgbClr val="000000"/>
                </a:solidFill>
                <a:latin typeface="Arial"/>
              </a:rPr>
              <a:t> - </a:t>
            </a:r>
            <a:r>
              <a:rPr sz="2000" b="1" dirty="0" err="1">
                <a:solidFill>
                  <a:srgbClr val="000000"/>
                </a:solidFill>
                <a:latin typeface="Arial"/>
              </a:rPr>
              <a:t>Rinconcito</a:t>
            </a:r>
            <a:r>
              <a:rPr sz="2000" b="1" dirty="0">
                <a:solidFill>
                  <a:srgbClr val="000000"/>
                </a:solidFill>
                <a:latin typeface="Arial"/>
              </a:rPr>
              <a:t> VC</a:t>
            </a:r>
          </a:p>
        </p:txBody>
      </p:sp>
      <p:sp>
        <p:nvSpPr>
          <p:cNvPr id="8" name="TextBox 7"/>
          <p:cNvSpPr txBox="1"/>
          <p:nvPr/>
        </p:nvSpPr>
        <p:spPr>
          <a:xfrm>
            <a:off x="868680" y="987552"/>
            <a:ext cx="8869680" cy="685800"/>
          </a:xfrm>
          <a:prstGeom prst="rect">
            <a:avLst/>
          </a:prstGeom>
          <a:noFill/>
        </p:spPr>
        <p:txBody>
          <a:bodyPr wrap="square" lIns="45720" rIns="45720">
            <a:spAutoFit/>
          </a:bodyPr>
          <a:lstStyle/>
          <a:p>
            <a:pPr algn="l">
              <a:spcAft>
                <a:spcPts val="800"/>
              </a:spcAft>
            </a:pPr>
            <a:r>
              <a:rPr sz="1200">
                <a:solidFill>
                  <a:srgbClr val="373737"/>
                </a:solidFill>
              </a:rPr>
              <a:t>Para Rinconcito VC se revisó el cierre tomando como base su función de marketplace de café. Se consideró la aceptación de catálogo, vendedores, pagos y compras en línea, además del registro de pendientes y aprendizajes del proyecto.</a:t>
            </a:r>
          </a:p>
        </p:txBody>
      </p:sp>
      <p:pic>
        <p:nvPicPr>
          <p:cNvPr id="9" name="Picture 8" descr="tabla_rinconcito.png"/>
          <p:cNvPicPr>
            <a:picLocks noChangeAspect="1"/>
          </p:cNvPicPr>
          <p:nvPr/>
        </p:nvPicPr>
        <p:blipFill>
          <a:blip r:embed="rId2"/>
          <a:stretch>
            <a:fillRect/>
          </a:stretch>
        </p:blipFill>
        <p:spPr>
          <a:xfrm>
            <a:off x="868680" y="1847088"/>
            <a:ext cx="8869680" cy="189050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8</a:t>
            </a:r>
          </a:p>
        </p:txBody>
      </p:sp>
      <p:sp>
        <p:nvSpPr>
          <p:cNvPr id="6" name="TextBox 5"/>
          <p:cNvSpPr txBox="1"/>
          <p:nvPr/>
        </p:nvSpPr>
        <p:spPr>
          <a:xfrm>
            <a:off x="2730002" y="384048"/>
            <a:ext cx="5421356" cy="307777"/>
          </a:xfrm>
          <a:prstGeom prst="rect">
            <a:avLst/>
          </a:prstGeom>
          <a:noFill/>
        </p:spPr>
        <p:txBody>
          <a:bodyPr wrap="none" lIns="0" tIns="0" rIns="0" bIns="0">
            <a:spAutoFit/>
          </a:bodyPr>
          <a:lstStyle/>
          <a:p>
            <a:pPr algn="ctr"/>
            <a:r>
              <a:rPr lang="es-MX" sz="2000" b="1" dirty="0">
                <a:solidFill>
                  <a:srgbClr val="000000"/>
                </a:solidFill>
                <a:latin typeface="Arial"/>
              </a:rPr>
              <a:t>Ejercicio 3. </a:t>
            </a:r>
            <a:r>
              <a:rPr sz="2000" b="1" dirty="0">
                <a:solidFill>
                  <a:srgbClr val="000000"/>
                </a:solidFill>
                <a:latin typeface="Arial"/>
              </a:rPr>
              <a:t>Checklist de </a:t>
            </a:r>
            <a:r>
              <a:rPr sz="2000" b="1" dirty="0" err="1">
                <a:solidFill>
                  <a:srgbClr val="000000"/>
                </a:solidFill>
                <a:latin typeface="Arial"/>
              </a:rPr>
              <a:t>cierre</a:t>
            </a:r>
            <a:r>
              <a:rPr sz="2000" b="1" dirty="0">
                <a:solidFill>
                  <a:srgbClr val="000000"/>
                </a:solidFill>
                <a:latin typeface="Arial"/>
              </a:rPr>
              <a:t> - </a:t>
            </a:r>
            <a:r>
              <a:rPr sz="2000" b="1" dirty="0" err="1">
                <a:solidFill>
                  <a:srgbClr val="000000"/>
                </a:solidFill>
                <a:latin typeface="Arial"/>
              </a:rPr>
              <a:t>LocalMarket</a:t>
            </a:r>
            <a:endParaRPr sz="2000" b="1" dirty="0">
              <a:solidFill>
                <a:srgbClr val="000000"/>
              </a:solidFill>
              <a:latin typeface="Arial"/>
            </a:endParaRPr>
          </a:p>
        </p:txBody>
      </p:sp>
      <p:sp>
        <p:nvSpPr>
          <p:cNvPr id="8" name="TextBox 7"/>
          <p:cNvSpPr txBox="1"/>
          <p:nvPr/>
        </p:nvSpPr>
        <p:spPr>
          <a:xfrm>
            <a:off x="868680" y="987552"/>
            <a:ext cx="8869680" cy="685800"/>
          </a:xfrm>
          <a:prstGeom prst="rect">
            <a:avLst/>
          </a:prstGeom>
          <a:noFill/>
        </p:spPr>
        <p:txBody>
          <a:bodyPr wrap="square" lIns="45720" rIns="45720">
            <a:spAutoFit/>
          </a:bodyPr>
          <a:lstStyle/>
          <a:p>
            <a:pPr algn="l">
              <a:spcAft>
                <a:spcPts val="800"/>
              </a:spcAft>
            </a:pPr>
            <a:r>
              <a:rPr sz="1200">
                <a:solidFill>
                  <a:srgbClr val="373737"/>
                </a:solidFill>
              </a:rPr>
              <a:t>Para LocalMarket se aplicó el checklist de cierre considerando su propósito como tienda en línea local. Se revisaron entregables, traspaso operativo, documentación y condiciones necesarias para dar por concluido el proyecto.</a:t>
            </a:r>
          </a:p>
        </p:txBody>
      </p:sp>
      <p:pic>
        <p:nvPicPr>
          <p:cNvPr id="9" name="Picture 8" descr="tabla_localmarket.png"/>
          <p:cNvPicPr>
            <a:picLocks noChangeAspect="1"/>
          </p:cNvPicPr>
          <p:nvPr/>
        </p:nvPicPr>
        <p:blipFill>
          <a:blip r:embed="rId2"/>
          <a:stretch>
            <a:fillRect/>
          </a:stretch>
        </p:blipFill>
        <p:spPr>
          <a:xfrm>
            <a:off x="868680" y="1847088"/>
            <a:ext cx="8869680" cy="18905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9</a:t>
            </a:r>
          </a:p>
        </p:txBody>
      </p:sp>
      <p:sp>
        <p:nvSpPr>
          <p:cNvPr id="6" name="TextBox 5"/>
          <p:cNvSpPr txBox="1"/>
          <p:nvPr/>
        </p:nvSpPr>
        <p:spPr>
          <a:xfrm>
            <a:off x="3382424" y="384048"/>
            <a:ext cx="4116512" cy="307777"/>
          </a:xfrm>
          <a:prstGeom prst="rect">
            <a:avLst/>
          </a:prstGeom>
          <a:noFill/>
        </p:spPr>
        <p:txBody>
          <a:bodyPr wrap="none" lIns="0" tIns="0" rIns="0" bIns="0">
            <a:spAutoFit/>
          </a:bodyPr>
          <a:lstStyle/>
          <a:p>
            <a:pPr algn="ctr"/>
            <a:r>
              <a:rPr lang="es-MX" sz="2000" b="1" dirty="0">
                <a:solidFill>
                  <a:srgbClr val="000000"/>
                </a:solidFill>
                <a:latin typeface="Arial"/>
              </a:rPr>
              <a:t>Ejercicio 4. </a:t>
            </a:r>
            <a:r>
              <a:rPr sz="2000" b="1" dirty="0" err="1">
                <a:solidFill>
                  <a:srgbClr val="000000"/>
                </a:solidFill>
                <a:latin typeface="Arial"/>
              </a:rPr>
              <a:t>Lecciones</a:t>
            </a:r>
            <a:r>
              <a:rPr sz="2000" b="1" dirty="0">
                <a:solidFill>
                  <a:srgbClr val="000000"/>
                </a:solidFill>
                <a:latin typeface="Arial"/>
              </a:rPr>
              <a:t> </a:t>
            </a:r>
            <a:r>
              <a:rPr sz="2000" b="1" dirty="0" err="1">
                <a:solidFill>
                  <a:srgbClr val="000000"/>
                </a:solidFill>
                <a:latin typeface="Arial"/>
              </a:rPr>
              <a:t>aprendidas</a:t>
            </a:r>
            <a:endParaRPr sz="2000" b="1" dirty="0">
              <a:solidFill>
                <a:srgbClr val="000000"/>
              </a:solidFill>
              <a:latin typeface="Arial"/>
            </a:endParaRPr>
          </a:p>
        </p:txBody>
      </p:sp>
      <p:sp>
        <p:nvSpPr>
          <p:cNvPr id="8" name="TextBox 7"/>
          <p:cNvSpPr txBox="1"/>
          <p:nvPr/>
        </p:nvSpPr>
        <p:spPr>
          <a:xfrm>
            <a:off x="868680" y="987552"/>
            <a:ext cx="8869680" cy="685800"/>
          </a:xfrm>
          <a:prstGeom prst="rect">
            <a:avLst/>
          </a:prstGeom>
          <a:noFill/>
        </p:spPr>
        <p:txBody>
          <a:bodyPr wrap="square" lIns="45720" rIns="45720">
            <a:spAutoFit/>
          </a:bodyPr>
          <a:lstStyle/>
          <a:p>
            <a:pPr algn="l">
              <a:spcAft>
                <a:spcPts val="800"/>
              </a:spcAft>
            </a:pPr>
            <a:r>
              <a:rPr sz="1200">
                <a:solidFill>
                  <a:srgbClr val="373737"/>
                </a:solidFill>
              </a:rPr>
              <a:t>En este apartado se reunieron aprendizajes obtenidos durante la planeación y evaluación de los tres proyectos. La finalidad fue identificar aciertos, problemas y recomendaciones que puedan utilizarse en trabajos posteriores.</a:t>
            </a:r>
          </a:p>
        </p:txBody>
      </p:sp>
      <p:pic>
        <p:nvPicPr>
          <p:cNvPr id="9" name="Picture 8" descr="tabla_lecciones.png"/>
          <p:cNvPicPr>
            <a:picLocks noChangeAspect="1"/>
          </p:cNvPicPr>
          <p:nvPr/>
        </p:nvPicPr>
        <p:blipFill>
          <a:blip r:embed="rId2"/>
          <a:stretch>
            <a:fillRect/>
          </a:stretch>
        </p:blipFill>
        <p:spPr>
          <a:xfrm>
            <a:off x="868680" y="1783080"/>
            <a:ext cx="9052560" cy="18154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10</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dirty="0">
                <a:solidFill>
                  <a:srgbClr val="000000"/>
                </a:solidFill>
              </a:rPr>
              <a:t>Paso 6. </a:t>
            </a:r>
            <a:r>
              <a:rPr sz="2000" b="1" dirty="0" err="1">
                <a:solidFill>
                  <a:srgbClr val="000000"/>
                </a:solidFill>
              </a:rPr>
              <a:t>Documentos</a:t>
            </a:r>
            <a:r>
              <a:rPr sz="2000" b="1" dirty="0">
                <a:solidFill>
                  <a:srgbClr val="000000"/>
                </a:solidFill>
              </a:rPr>
              <a:t> finales de </a:t>
            </a:r>
            <a:r>
              <a:rPr sz="2000" b="1" dirty="0" err="1">
                <a:solidFill>
                  <a:srgbClr val="000000"/>
                </a:solidFill>
              </a:rPr>
              <a:t>cierre</a:t>
            </a:r>
            <a:endParaRPr sz="2000" b="1" dirty="0">
              <a:solidFill>
                <a:srgbClr val="000000"/>
              </a:solidFill>
            </a:endParaRPr>
          </a:p>
        </p:txBody>
      </p:sp>
      <p:sp>
        <p:nvSpPr>
          <p:cNvPr id="7" name="TextBox 6"/>
          <p:cNvSpPr txBox="1"/>
          <p:nvPr/>
        </p:nvSpPr>
        <p:spPr>
          <a:xfrm>
            <a:off x="1051560" y="1143000"/>
            <a:ext cx="8778240" cy="5074920"/>
          </a:xfrm>
          <a:prstGeom prst="rect">
            <a:avLst/>
          </a:prstGeom>
          <a:noFill/>
        </p:spPr>
        <p:txBody>
          <a:bodyPr wrap="square" lIns="45720" rIns="45720">
            <a:normAutofit/>
          </a:bodyPr>
          <a:lstStyle/>
          <a:p>
            <a:pPr algn="l">
              <a:spcAft>
                <a:spcPts val="800"/>
              </a:spcAft>
            </a:pPr>
            <a:r>
              <a:rPr sz="1400" dirty="0">
                <a:solidFill>
                  <a:srgbClr val="373737"/>
                </a:solidFill>
              </a:rPr>
              <a:t>Para </a:t>
            </a:r>
            <a:r>
              <a:rPr sz="1400" dirty="0" err="1">
                <a:solidFill>
                  <a:srgbClr val="373737"/>
                </a:solidFill>
              </a:rPr>
              <a:t>cerrar</a:t>
            </a:r>
            <a:r>
              <a:rPr sz="1400" dirty="0">
                <a:solidFill>
                  <a:srgbClr val="373737"/>
                </a:solidFill>
              </a:rPr>
              <a:t> </a:t>
            </a:r>
            <a:r>
              <a:rPr sz="1400" dirty="0" err="1">
                <a:solidFill>
                  <a:srgbClr val="373737"/>
                </a:solidFill>
              </a:rPr>
              <a:t>los</a:t>
            </a:r>
            <a:r>
              <a:rPr sz="1400" dirty="0">
                <a:solidFill>
                  <a:srgbClr val="373737"/>
                </a:solidFill>
              </a:rPr>
              <a:t> </a:t>
            </a:r>
            <a:r>
              <a:rPr sz="1400" dirty="0" err="1">
                <a:solidFill>
                  <a:srgbClr val="373737"/>
                </a:solidFill>
              </a:rPr>
              <a:t>proyectos</a:t>
            </a:r>
            <a:r>
              <a:rPr sz="1400" dirty="0">
                <a:solidFill>
                  <a:srgbClr val="373737"/>
                </a:solidFill>
              </a:rPr>
              <a:t> se </a:t>
            </a:r>
            <a:r>
              <a:rPr sz="1400" dirty="0" err="1">
                <a:solidFill>
                  <a:srgbClr val="373737"/>
                </a:solidFill>
              </a:rPr>
              <a:t>consideraron</a:t>
            </a:r>
            <a:r>
              <a:rPr sz="1400" dirty="0">
                <a:solidFill>
                  <a:srgbClr val="373737"/>
                </a:solidFill>
              </a:rPr>
              <a:t> </a:t>
            </a:r>
            <a:r>
              <a:rPr sz="1400" dirty="0" err="1">
                <a:solidFill>
                  <a:srgbClr val="373737"/>
                </a:solidFill>
              </a:rPr>
              <a:t>los</a:t>
            </a:r>
            <a:r>
              <a:rPr sz="1400" dirty="0">
                <a:solidFill>
                  <a:srgbClr val="373737"/>
                </a:solidFill>
              </a:rPr>
              <a:t> </a:t>
            </a:r>
            <a:r>
              <a:rPr sz="1400" dirty="0" err="1">
                <a:solidFill>
                  <a:srgbClr val="373737"/>
                </a:solidFill>
              </a:rPr>
              <a:t>documentos</a:t>
            </a:r>
            <a:r>
              <a:rPr sz="1400" dirty="0">
                <a:solidFill>
                  <a:srgbClr val="373737"/>
                </a:solidFill>
              </a:rPr>
              <a:t> finales que </a:t>
            </a:r>
            <a:r>
              <a:rPr sz="1400" dirty="0" err="1">
                <a:solidFill>
                  <a:srgbClr val="373737"/>
                </a:solidFill>
              </a:rPr>
              <a:t>normalmente</a:t>
            </a:r>
            <a:r>
              <a:rPr sz="1400" dirty="0">
                <a:solidFill>
                  <a:srgbClr val="373737"/>
                </a:solidFill>
              </a:rPr>
              <a:t> </a:t>
            </a:r>
            <a:r>
              <a:rPr sz="1400" dirty="0" err="1">
                <a:solidFill>
                  <a:srgbClr val="373737"/>
                </a:solidFill>
              </a:rPr>
              <a:t>forman</a:t>
            </a:r>
            <a:r>
              <a:rPr sz="1400" dirty="0">
                <a:solidFill>
                  <a:srgbClr val="373737"/>
                </a:solidFill>
              </a:rPr>
              <a:t> </a:t>
            </a:r>
            <a:r>
              <a:rPr sz="1400" dirty="0" err="1">
                <a:solidFill>
                  <a:srgbClr val="373737"/>
                </a:solidFill>
              </a:rPr>
              <a:t>parte</a:t>
            </a:r>
            <a:r>
              <a:rPr sz="1400" dirty="0">
                <a:solidFill>
                  <a:srgbClr val="373737"/>
                </a:solidFill>
              </a:rPr>
              <a:t> de la </a:t>
            </a:r>
            <a:r>
              <a:rPr sz="1400" dirty="0" err="1">
                <a:solidFill>
                  <a:srgbClr val="373737"/>
                </a:solidFill>
              </a:rPr>
              <a:t>conclusión</a:t>
            </a:r>
            <a:r>
              <a:rPr sz="1400" dirty="0">
                <a:solidFill>
                  <a:srgbClr val="373737"/>
                </a:solidFill>
              </a:rPr>
              <a:t> formal de un </a:t>
            </a:r>
            <a:r>
              <a:rPr sz="1400" dirty="0" err="1">
                <a:solidFill>
                  <a:srgbClr val="373737"/>
                </a:solidFill>
              </a:rPr>
              <a:t>proyecto</a:t>
            </a:r>
            <a:r>
              <a:rPr sz="1400" dirty="0">
                <a:solidFill>
                  <a:srgbClr val="373737"/>
                </a:solidFill>
              </a:rPr>
              <a:t> de TI. Entre </a:t>
            </a:r>
            <a:r>
              <a:rPr sz="1400" dirty="0" err="1">
                <a:solidFill>
                  <a:srgbClr val="373737"/>
                </a:solidFill>
              </a:rPr>
              <a:t>ellos</a:t>
            </a:r>
            <a:r>
              <a:rPr sz="1400" dirty="0">
                <a:solidFill>
                  <a:srgbClr val="373737"/>
                </a:solidFill>
              </a:rPr>
              <a:t> se </a:t>
            </a:r>
            <a:r>
              <a:rPr sz="1400" dirty="0" err="1">
                <a:solidFill>
                  <a:srgbClr val="373737"/>
                </a:solidFill>
              </a:rPr>
              <a:t>encuentran</a:t>
            </a:r>
            <a:r>
              <a:rPr sz="1400" dirty="0">
                <a:solidFill>
                  <a:srgbClr val="373737"/>
                </a:solidFill>
              </a:rPr>
              <a:t> </a:t>
            </a:r>
            <a:r>
              <a:rPr sz="1400" dirty="0" err="1">
                <a:solidFill>
                  <a:srgbClr val="373737"/>
                </a:solidFill>
              </a:rPr>
              <a:t>el</a:t>
            </a:r>
            <a:r>
              <a:rPr sz="1400" dirty="0">
                <a:solidFill>
                  <a:srgbClr val="373737"/>
                </a:solidFill>
              </a:rPr>
              <a:t> acta de </a:t>
            </a:r>
            <a:r>
              <a:rPr sz="1400" dirty="0" err="1">
                <a:solidFill>
                  <a:srgbClr val="373737"/>
                </a:solidFill>
              </a:rPr>
              <a:t>cierre</a:t>
            </a:r>
            <a:r>
              <a:rPr sz="1400" dirty="0">
                <a:solidFill>
                  <a:srgbClr val="373737"/>
                </a:solidFill>
              </a:rPr>
              <a:t>, </a:t>
            </a:r>
            <a:r>
              <a:rPr sz="1400" dirty="0" err="1">
                <a:solidFill>
                  <a:srgbClr val="373737"/>
                </a:solidFill>
              </a:rPr>
              <a:t>el</a:t>
            </a:r>
            <a:r>
              <a:rPr sz="1400" dirty="0">
                <a:solidFill>
                  <a:srgbClr val="373737"/>
                </a:solidFill>
              </a:rPr>
              <a:t> </a:t>
            </a:r>
            <a:r>
              <a:rPr sz="1400" dirty="0" err="1">
                <a:solidFill>
                  <a:srgbClr val="373737"/>
                </a:solidFill>
              </a:rPr>
              <a:t>informe</a:t>
            </a:r>
            <a:r>
              <a:rPr sz="1400" dirty="0">
                <a:solidFill>
                  <a:srgbClr val="373737"/>
                </a:solidFill>
              </a:rPr>
              <a:t> final, </a:t>
            </a:r>
            <a:r>
              <a:rPr sz="1400" dirty="0" err="1">
                <a:solidFill>
                  <a:srgbClr val="373737"/>
                </a:solidFill>
              </a:rPr>
              <a:t>el</a:t>
            </a:r>
            <a:r>
              <a:rPr sz="1400" dirty="0">
                <a:solidFill>
                  <a:srgbClr val="373737"/>
                </a:solidFill>
              </a:rPr>
              <a:t> </a:t>
            </a:r>
            <a:r>
              <a:rPr sz="1400" dirty="0" err="1">
                <a:solidFill>
                  <a:srgbClr val="373737"/>
                </a:solidFill>
              </a:rPr>
              <a:t>registro</a:t>
            </a:r>
            <a:r>
              <a:rPr sz="1400" dirty="0">
                <a:solidFill>
                  <a:srgbClr val="373737"/>
                </a:solidFill>
              </a:rPr>
              <a:t> de </a:t>
            </a:r>
            <a:r>
              <a:rPr sz="1400" dirty="0" err="1">
                <a:solidFill>
                  <a:srgbClr val="373737"/>
                </a:solidFill>
              </a:rPr>
              <a:t>cambios</a:t>
            </a:r>
            <a:r>
              <a:rPr sz="1400" dirty="0">
                <a:solidFill>
                  <a:srgbClr val="373737"/>
                </a:solidFill>
              </a:rPr>
              <a:t>, </a:t>
            </a:r>
            <a:r>
              <a:rPr sz="1400" dirty="0" err="1">
                <a:solidFill>
                  <a:srgbClr val="373737"/>
                </a:solidFill>
              </a:rPr>
              <a:t>el</a:t>
            </a:r>
            <a:r>
              <a:rPr sz="1400" dirty="0">
                <a:solidFill>
                  <a:srgbClr val="373737"/>
                </a:solidFill>
              </a:rPr>
              <a:t> </a:t>
            </a:r>
            <a:r>
              <a:rPr sz="1400" dirty="0" err="1">
                <a:solidFill>
                  <a:srgbClr val="373737"/>
                </a:solidFill>
              </a:rPr>
              <a:t>registro</a:t>
            </a:r>
            <a:r>
              <a:rPr sz="1400" dirty="0">
                <a:solidFill>
                  <a:srgbClr val="373737"/>
                </a:solidFill>
              </a:rPr>
              <a:t> de </a:t>
            </a:r>
            <a:r>
              <a:rPr sz="1400" dirty="0" err="1">
                <a:solidFill>
                  <a:srgbClr val="373737"/>
                </a:solidFill>
              </a:rPr>
              <a:t>riesgos</a:t>
            </a:r>
            <a:r>
              <a:rPr sz="1400" dirty="0">
                <a:solidFill>
                  <a:srgbClr val="373737"/>
                </a:solidFill>
              </a:rPr>
              <a:t>, las </a:t>
            </a:r>
            <a:r>
              <a:rPr sz="1400" dirty="0" err="1">
                <a:solidFill>
                  <a:srgbClr val="373737"/>
                </a:solidFill>
              </a:rPr>
              <a:t>lecciones</a:t>
            </a:r>
            <a:r>
              <a:rPr sz="1400" dirty="0">
                <a:solidFill>
                  <a:srgbClr val="373737"/>
                </a:solidFill>
              </a:rPr>
              <a:t> </a:t>
            </a:r>
            <a:r>
              <a:rPr sz="1400" dirty="0" err="1">
                <a:solidFill>
                  <a:srgbClr val="373737"/>
                </a:solidFill>
              </a:rPr>
              <a:t>aprendidas</a:t>
            </a:r>
            <a:r>
              <a:rPr sz="1400" dirty="0">
                <a:solidFill>
                  <a:srgbClr val="373737"/>
                </a:solidFill>
              </a:rPr>
              <a:t>, la </a:t>
            </a:r>
            <a:r>
              <a:rPr sz="1400" dirty="0" err="1">
                <a:solidFill>
                  <a:srgbClr val="373737"/>
                </a:solidFill>
              </a:rPr>
              <a:t>documentación</a:t>
            </a:r>
            <a:r>
              <a:rPr sz="1400" dirty="0">
                <a:solidFill>
                  <a:srgbClr val="373737"/>
                </a:solidFill>
              </a:rPr>
              <a:t> </a:t>
            </a:r>
            <a:r>
              <a:rPr sz="1400" dirty="0" err="1">
                <a:solidFill>
                  <a:srgbClr val="373737"/>
                </a:solidFill>
              </a:rPr>
              <a:t>técnica</a:t>
            </a:r>
            <a:r>
              <a:rPr sz="1400" dirty="0">
                <a:solidFill>
                  <a:srgbClr val="373737"/>
                </a:solidFill>
              </a:rPr>
              <a:t> y la </a:t>
            </a:r>
            <a:r>
              <a:rPr sz="1400" dirty="0" err="1">
                <a:solidFill>
                  <a:srgbClr val="373737"/>
                </a:solidFill>
              </a:rPr>
              <a:t>evidencia</a:t>
            </a:r>
            <a:r>
              <a:rPr sz="1400" dirty="0">
                <a:solidFill>
                  <a:srgbClr val="373737"/>
                </a:solidFill>
              </a:rPr>
              <a:t> de </a:t>
            </a:r>
            <a:r>
              <a:rPr sz="1400" dirty="0" err="1">
                <a:solidFill>
                  <a:srgbClr val="373737"/>
                </a:solidFill>
              </a:rPr>
              <a:t>aceptación</a:t>
            </a:r>
            <a:r>
              <a:rPr sz="1400" dirty="0">
                <a:solidFill>
                  <a:srgbClr val="373737"/>
                </a:solidFill>
              </a:rPr>
              <a:t> de </a:t>
            </a:r>
            <a:r>
              <a:rPr sz="1400" dirty="0" err="1">
                <a:solidFill>
                  <a:srgbClr val="373737"/>
                </a:solidFill>
              </a:rPr>
              <a:t>entregables</a:t>
            </a:r>
            <a:r>
              <a:rPr sz="1400" dirty="0">
                <a:solidFill>
                  <a:srgbClr val="373737"/>
                </a:solidFill>
              </a:rPr>
              <a:t>.</a:t>
            </a:r>
          </a:p>
          <a:p>
            <a:pPr algn="l">
              <a:spcAft>
                <a:spcPts val="800"/>
              </a:spcAft>
            </a:pPr>
            <a:r>
              <a:rPr sz="1400" dirty="0" err="1">
                <a:solidFill>
                  <a:srgbClr val="373737"/>
                </a:solidFill>
              </a:rPr>
              <a:t>Estos</a:t>
            </a:r>
            <a:r>
              <a:rPr sz="1400" dirty="0">
                <a:solidFill>
                  <a:srgbClr val="373737"/>
                </a:solidFill>
              </a:rPr>
              <a:t> </a:t>
            </a:r>
            <a:r>
              <a:rPr sz="1400" dirty="0" err="1">
                <a:solidFill>
                  <a:srgbClr val="373737"/>
                </a:solidFill>
              </a:rPr>
              <a:t>documentos</a:t>
            </a:r>
            <a:r>
              <a:rPr sz="1400" dirty="0">
                <a:solidFill>
                  <a:srgbClr val="373737"/>
                </a:solidFill>
              </a:rPr>
              <a:t> </a:t>
            </a:r>
            <a:r>
              <a:rPr sz="1400" dirty="0" err="1">
                <a:solidFill>
                  <a:srgbClr val="373737"/>
                </a:solidFill>
              </a:rPr>
              <a:t>permiten</a:t>
            </a:r>
            <a:r>
              <a:rPr sz="1400" dirty="0">
                <a:solidFill>
                  <a:srgbClr val="373737"/>
                </a:solidFill>
              </a:rPr>
              <a:t> </a:t>
            </a:r>
            <a:r>
              <a:rPr sz="1400" dirty="0" err="1">
                <a:solidFill>
                  <a:srgbClr val="373737"/>
                </a:solidFill>
              </a:rPr>
              <a:t>dejar</a:t>
            </a:r>
            <a:r>
              <a:rPr sz="1400" dirty="0">
                <a:solidFill>
                  <a:srgbClr val="373737"/>
                </a:solidFill>
              </a:rPr>
              <a:t> </a:t>
            </a:r>
            <a:r>
              <a:rPr sz="1400" dirty="0" err="1">
                <a:solidFill>
                  <a:srgbClr val="373737"/>
                </a:solidFill>
              </a:rPr>
              <a:t>constancia</a:t>
            </a:r>
            <a:r>
              <a:rPr sz="1400" dirty="0">
                <a:solidFill>
                  <a:srgbClr val="373737"/>
                </a:solidFill>
              </a:rPr>
              <a:t> de que </a:t>
            </a:r>
            <a:r>
              <a:rPr sz="1400" dirty="0" err="1">
                <a:solidFill>
                  <a:srgbClr val="373737"/>
                </a:solidFill>
              </a:rPr>
              <a:t>el</a:t>
            </a:r>
            <a:r>
              <a:rPr sz="1400" dirty="0">
                <a:solidFill>
                  <a:srgbClr val="373737"/>
                </a:solidFill>
              </a:rPr>
              <a:t> </a:t>
            </a:r>
            <a:r>
              <a:rPr sz="1400" dirty="0" err="1">
                <a:solidFill>
                  <a:srgbClr val="373737"/>
                </a:solidFill>
              </a:rPr>
              <a:t>proyecto</a:t>
            </a:r>
            <a:r>
              <a:rPr sz="1400" dirty="0">
                <a:solidFill>
                  <a:srgbClr val="373737"/>
                </a:solidFill>
              </a:rPr>
              <a:t> </a:t>
            </a:r>
            <a:r>
              <a:rPr sz="1400" dirty="0" err="1">
                <a:solidFill>
                  <a:srgbClr val="373737"/>
                </a:solidFill>
              </a:rPr>
              <a:t>fue</a:t>
            </a:r>
            <a:r>
              <a:rPr sz="1400" dirty="0">
                <a:solidFill>
                  <a:srgbClr val="373737"/>
                </a:solidFill>
              </a:rPr>
              <a:t> </a:t>
            </a:r>
            <a:r>
              <a:rPr sz="1400" dirty="0" err="1">
                <a:solidFill>
                  <a:srgbClr val="373737"/>
                </a:solidFill>
              </a:rPr>
              <a:t>revisado</a:t>
            </a:r>
            <a:r>
              <a:rPr sz="1400" dirty="0">
                <a:solidFill>
                  <a:srgbClr val="373737"/>
                </a:solidFill>
              </a:rPr>
              <a:t>, </a:t>
            </a:r>
            <a:r>
              <a:rPr sz="1400" dirty="0" err="1">
                <a:solidFill>
                  <a:srgbClr val="373737"/>
                </a:solidFill>
              </a:rPr>
              <a:t>aceptado</a:t>
            </a:r>
            <a:r>
              <a:rPr sz="1400" dirty="0">
                <a:solidFill>
                  <a:srgbClr val="373737"/>
                </a:solidFill>
              </a:rPr>
              <a:t> y </a:t>
            </a:r>
            <a:r>
              <a:rPr sz="1400" dirty="0" err="1">
                <a:solidFill>
                  <a:srgbClr val="373737"/>
                </a:solidFill>
              </a:rPr>
              <a:t>concluido</a:t>
            </a:r>
            <a:r>
              <a:rPr sz="1400" dirty="0">
                <a:solidFill>
                  <a:srgbClr val="373737"/>
                </a:solidFill>
              </a:rPr>
              <a:t>. </a:t>
            </a:r>
            <a:r>
              <a:rPr sz="1400" dirty="0" err="1">
                <a:solidFill>
                  <a:srgbClr val="373737"/>
                </a:solidFill>
              </a:rPr>
              <a:t>Además</a:t>
            </a:r>
            <a:r>
              <a:rPr sz="1400" dirty="0">
                <a:solidFill>
                  <a:srgbClr val="373737"/>
                </a:solidFill>
              </a:rPr>
              <a:t>, </a:t>
            </a:r>
            <a:r>
              <a:rPr sz="1400" dirty="0" err="1">
                <a:solidFill>
                  <a:srgbClr val="373737"/>
                </a:solidFill>
              </a:rPr>
              <a:t>facilitan</a:t>
            </a:r>
            <a:r>
              <a:rPr sz="1400" dirty="0">
                <a:solidFill>
                  <a:srgbClr val="373737"/>
                </a:solidFill>
              </a:rPr>
              <a:t> que </a:t>
            </a:r>
            <a:r>
              <a:rPr sz="1400" dirty="0" err="1">
                <a:solidFill>
                  <a:srgbClr val="373737"/>
                </a:solidFill>
              </a:rPr>
              <a:t>el</a:t>
            </a:r>
            <a:r>
              <a:rPr sz="1400" dirty="0">
                <a:solidFill>
                  <a:srgbClr val="373737"/>
                </a:solidFill>
              </a:rPr>
              <a:t> </a:t>
            </a:r>
            <a:r>
              <a:rPr sz="1400" dirty="0" err="1">
                <a:solidFill>
                  <a:srgbClr val="373737"/>
                </a:solidFill>
              </a:rPr>
              <a:t>producto</a:t>
            </a:r>
            <a:r>
              <a:rPr sz="1400" dirty="0">
                <a:solidFill>
                  <a:srgbClr val="373737"/>
                </a:solidFill>
              </a:rPr>
              <a:t> </a:t>
            </a:r>
            <a:r>
              <a:rPr sz="1400" dirty="0" err="1">
                <a:solidFill>
                  <a:srgbClr val="373737"/>
                </a:solidFill>
              </a:rPr>
              <a:t>pueda</a:t>
            </a:r>
            <a:r>
              <a:rPr sz="1400" dirty="0">
                <a:solidFill>
                  <a:srgbClr val="373737"/>
                </a:solidFill>
              </a:rPr>
              <a:t> pasar a </a:t>
            </a:r>
            <a:r>
              <a:rPr sz="1400" dirty="0" err="1">
                <a:solidFill>
                  <a:srgbClr val="373737"/>
                </a:solidFill>
              </a:rPr>
              <a:t>una</a:t>
            </a:r>
            <a:r>
              <a:rPr sz="1400" dirty="0">
                <a:solidFill>
                  <a:srgbClr val="373737"/>
                </a:solidFill>
              </a:rPr>
              <a:t> </a:t>
            </a:r>
            <a:r>
              <a:rPr sz="1400" dirty="0" err="1">
                <a:solidFill>
                  <a:srgbClr val="373737"/>
                </a:solidFill>
              </a:rPr>
              <a:t>etapa</a:t>
            </a:r>
            <a:r>
              <a:rPr sz="1400" dirty="0">
                <a:solidFill>
                  <a:srgbClr val="373737"/>
                </a:solidFill>
              </a:rPr>
              <a:t> de </a:t>
            </a:r>
            <a:r>
              <a:rPr sz="1400" dirty="0" err="1">
                <a:solidFill>
                  <a:srgbClr val="373737"/>
                </a:solidFill>
              </a:rPr>
              <a:t>operación</a:t>
            </a:r>
            <a:r>
              <a:rPr sz="1400" dirty="0">
                <a:solidFill>
                  <a:srgbClr val="373737"/>
                </a:solidFill>
              </a:rPr>
              <a:t> o </a:t>
            </a:r>
            <a:r>
              <a:rPr sz="1400" dirty="0" err="1">
                <a:solidFill>
                  <a:srgbClr val="373737"/>
                </a:solidFill>
              </a:rPr>
              <a:t>mantenimiento</a:t>
            </a:r>
            <a:r>
              <a:rPr sz="1400" dirty="0">
                <a:solidFill>
                  <a:srgbClr val="373737"/>
                </a:solidFill>
              </a:rPr>
              <a:t> sin </a:t>
            </a:r>
            <a:r>
              <a:rPr sz="1400" dirty="0" err="1">
                <a:solidFill>
                  <a:srgbClr val="373737"/>
                </a:solidFill>
              </a:rPr>
              <a:t>perder</a:t>
            </a:r>
            <a:r>
              <a:rPr sz="1400" dirty="0">
                <a:solidFill>
                  <a:srgbClr val="373737"/>
                </a:solidFill>
              </a:rPr>
              <a:t> </a:t>
            </a:r>
            <a:r>
              <a:rPr sz="1400" dirty="0" err="1">
                <a:solidFill>
                  <a:srgbClr val="373737"/>
                </a:solidFill>
              </a:rPr>
              <a:t>información</a:t>
            </a:r>
            <a:r>
              <a:rPr sz="1400" dirty="0">
                <a:solidFill>
                  <a:srgbClr val="373737"/>
                </a:solidFill>
              </a:rPr>
              <a:t> </a:t>
            </a:r>
            <a:r>
              <a:rPr sz="1400" dirty="0" err="1">
                <a:solidFill>
                  <a:srgbClr val="373737"/>
                </a:solidFill>
              </a:rPr>
              <a:t>importante</a:t>
            </a:r>
            <a:r>
              <a:rPr sz="1400" dirty="0">
                <a:solidFill>
                  <a:srgbClr val="373737"/>
                </a:solidFill>
              </a:rPr>
              <a:t> </a:t>
            </a:r>
            <a:r>
              <a:rPr sz="1400" dirty="0" err="1">
                <a:solidFill>
                  <a:srgbClr val="373737"/>
                </a:solidFill>
              </a:rPr>
              <a:t>sobre</a:t>
            </a:r>
            <a:r>
              <a:rPr sz="1400" dirty="0">
                <a:solidFill>
                  <a:srgbClr val="373737"/>
                </a:solidFill>
              </a:rPr>
              <a:t> </a:t>
            </a:r>
            <a:r>
              <a:rPr sz="1400" dirty="0" err="1">
                <a:solidFill>
                  <a:srgbClr val="373737"/>
                </a:solidFill>
              </a:rPr>
              <a:t>su</a:t>
            </a:r>
            <a:r>
              <a:rPr sz="1400" dirty="0">
                <a:solidFill>
                  <a:srgbClr val="373737"/>
                </a:solidFill>
              </a:rPr>
              <a:t> </a:t>
            </a:r>
            <a:r>
              <a:rPr sz="1400" dirty="0" err="1">
                <a:solidFill>
                  <a:srgbClr val="373737"/>
                </a:solidFill>
              </a:rPr>
              <a:t>desarrollo</a:t>
            </a:r>
            <a:r>
              <a:rPr sz="1400" dirty="0">
                <a:solidFill>
                  <a:srgbClr val="373737"/>
                </a:solidFill>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84048"/>
            <a:ext cx="9601200" cy="457200"/>
          </a:xfrm>
          <a:prstGeom prst="rect">
            <a:avLst/>
          </a:prstGeom>
          <a:noFill/>
        </p:spPr>
        <p:txBody>
          <a:bodyPr wrap="none">
            <a:spAutoFit/>
          </a:bodyPr>
          <a:lstStyle/>
          <a:p>
            <a:pPr algn="ctr"/>
            <a:r>
              <a:rPr sz="2000" b="1">
                <a:solidFill>
                  <a:srgbClr val="000000"/>
                </a:solidFill>
                <a:latin typeface="Arial"/>
              </a:rPr>
              <a:t>Paso 6. Acta de cierre e informe final</a:t>
            </a:r>
          </a:p>
        </p:txBody>
      </p:sp>
      <p:sp>
        <p:nvSpPr>
          <p:cNvPr id="6" name="TextBox 5"/>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11</a:t>
            </a:r>
          </a:p>
        </p:txBody>
      </p:sp>
      <p:sp>
        <p:nvSpPr>
          <p:cNvPr id="7" name="TextBox 6"/>
          <p:cNvSpPr txBox="1"/>
          <p:nvPr/>
        </p:nvSpPr>
        <p:spPr>
          <a:xfrm>
            <a:off x="914400" y="896112"/>
            <a:ext cx="9326880" cy="292608"/>
          </a:xfrm>
          <a:prstGeom prst="rect">
            <a:avLst/>
          </a:prstGeom>
          <a:noFill/>
        </p:spPr>
        <p:txBody>
          <a:bodyPr wrap="square">
            <a:spAutoFit/>
          </a:bodyPr>
          <a:lstStyle/>
          <a:p>
            <a:pPr algn="l"/>
            <a:r>
              <a:rPr sz="1000" i="1">
                <a:solidFill>
                  <a:srgbClr val="606060"/>
                </a:solidFill>
                <a:latin typeface="Arial"/>
              </a:rPr>
              <a:t>Nota: las siguientes imágenes son representaciones visuales elaboradas con apoyo de inteligencia artificial para fines académicos.</a:t>
            </a:r>
          </a:p>
        </p:txBody>
      </p:sp>
      <p:pic>
        <p:nvPicPr>
          <p:cNvPr id="8" name="Picture 7" descr="acta_de_cierre_del_proyecto_estacionatec.png"/>
          <p:cNvPicPr>
            <a:picLocks noChangeAspect="1"/>
          </p:cNvPicPr>
          <p:nvPr/>
        </p:nvPicPr>
        <p:blipFill>
          <a:blip r:embed="rId2"/>
          <a:stretch>
            <a:fillRect/>
          </a:stretch>
        </p:blipFill>
        <p:spPr>
          <a:xfrm>
            <a:off x="731520" y="1325880"/>
            <a:ext cx="5257800" cy="3943350"/>
          </a:xfrm>
          <a:prstGeom prst="rect">
            <a:avLst/>
          </a:prstGeom>
        </p:spPr>
      </p:pic>
      <p:sp>
        <p:nvSpPr>
          <p:cNvPr id="9" name="TextBox 8"/>
          <p:cNvSpPr txBox="1"/>
          <p:nvPr/>
        </p:nvSpPr>
        <p:spPr>
          <a:xfrm>
            <a:off x="731520" y="5285232"/>
            <a:ext cx="5257800" cy="274320"/>
          </a:xfrm>
          <a:prstGeom prst="rect">
            <a:avLst/>
          </a:prstGeom>
          <a:noFill/>
        </p:spPr>
        <p:txBody>
          <a:bodyPr wrap="none">
            <a:spAutoFit/>
          </a:bodyPr>
          <a:lstStyle/>
          <a:p>
            <a:pPr algn="ctr"/>
            <a:r>
              <a:rPr sz="1100" b="1">
                <a:solidFill>
                  <a:srgbClr val="464646"/>
                </a:solidFill>
                <a:latin typeface="Arial"/>
              </a:rPr>
              <a:t>Acta de cierre del proyecto</a:t>
            </a:r>
          </a:p>
        </p:txBody>
      </p:sp>
      <p:pic>
        <p:nvPicPr>
          <p:cNvPr id="10" name="Picture 9" descr="informe_final_del_proyecto_estacionatec.png"/>
          <p:cNvPicPr>
            <a:picLocks noChangeAspect="1"/>
          </p:cNvPicPr>
          <p:nvPr/>
        </p:nvPicPr>
        <p:blipFill>
          <a:blip r:embed="rId3"/>
          <a:stretch>
            <a:fillRect/>
          </a:stretch>
        </p:blipFill>
        <p:spPr>
          <a:xfrm>
            <a:off x="5669280" y="1325880"/>
            <a:ext cx="5257800" cy="3943350"/>
          </a:xfrm>
          <a:prstGeom prst="rect">
            <a:avLst/>
          </a:prstGeom>
        </p:spPr>
      </p:pic>
      <p:sp>
        <p:nvSpPr>
          <p:cNvPr id="11" name="TextBox 10"/>
          <p:cNvSpPr txBox="1"/>
          <p:nvPr/>
        </p:nvSpPr>
        <p:spPr>
          <a:xfrm>
            <a:off x="5669280" y="5285232"/>
            <a:ext cx="5257800" cy="274320"/>
          </a:xfrm>
          <a:prstGeom prst="rect">
            <a:avLst/>
          </a:prstGeom>
          <a:noFill/>
        </p:spPr>
        <p:txBody>
          <a:bodyPr wrap="none">
            <a:spAutoFit/>
          </a:bodyPr>
          <a:lstStyle/>
          <a:p>
            <a:pPr algn="ctr"/>
            <a:r>
              <a:rPr sz="1100" b="1">
                <a:solidFill>
                  <a:srgbClr val="464646"/>
                </a:solidFill>
                <a:latin typeface="Arial"/>
              </a:rPr>
              <a:t>Informe final del proyecto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84048"/>
            <a:ext cx="9601200" cy="457200"/>
          </a:xfrm>
          <a:prstGeom prst="rect">
            <a:avLst/>
          </a:prstGeom>
          <a:noFill/>
        </p:spPr>
        <p:txBody>
          <a:bodyPr wrap="none">
            <a:spAutoFit/>
          </a:bodyPr>
          <a:lstStyle/>
          <a:p>
            <a:pPr algn="ctr"/>
            <a:r>
              <a:rPr sz="2000" b="1">
                <a:solidFill>
                  <a:srgbClr val="000000"/>
                </a:solidFill>
                <a:latin typeface="Arial"/>
              </a:rPr>
              <a:t>Paso 6. Registro de cambios y de riesgos</a:t>
            </a:r>
          </a:p>
        </p:txBody>
      </p:sp>
      <p:sp>
        <p:nvSpPr>
          <p:cNvPr id="6" name="TextBox 5"/>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12</a:t>
            </a:r>
          </a:p>
        </p:txBody>
      </p:sp>
      <p:sp>
        <p:nvSpPr>
          <p:cNvPr id="7" name="TextBox 6"/>
          <p:cNvSpPr txBox="1"/>
          <p:nvPr/>
        </p:nvSpPr>
        <p:spPr>
          <a:xfrm>
            <a:off x="914400" y="896112"/>
            <a:ext cx="9326880" cy="292608"/>
          </a:xfrm>
          <a:prstGeom prst="rect">
            <a:avLst/>
          </a:prstGeom>
          <a:noFill/>
        </p:spPr>
        <p:txBody>
          <a:bodyPr wrap="square">
            <a:spAutoFit/>
          </a:bodyPr>
          <a:lstStyle/>
          <a:p>
            <a:pPr algn="l"/>
            <a:r>
              <a:rPr sz="1000" i="1">
                <a:solidFill>
                  <a:srgbClr val="606060"/>
                </a:solidFill>
                <a:latin typeface="Arial"/>
              </a:rPr>
              <a:t>Nota: las siguientes imágenes son representaciones visuales elaboradas con apoyo de inteligencia artificial para fines académicos.</a:t>
            </a:r>
          </a:p>
        </p:txBody>
      </p:sp>
      <p:pic>
        <p:nvPicPr>
          <p:cNvPr id="8" name="Picture 7" descr="registro_de_cambios_estacionatec.png"/>
          <p:cNvPicPr>
            <a:picLocks noChangeAspect="1"/>
          </p:cNvPicPr>
          <p:nvPr/>
        </p:nvPicPr>
        <p:blipFill>
          <a:blip r:embed="rId2"/>
          <a:stretch>
            <a:fillRect/>
          </a:stretch>
        </p:blipFill>
        <p:spPr>
          <a:xfrm>
            <a:off x="731520" y="1325880"/>
            <a:ext cx="5257800" cy="3943350"/>
          </a:xfrm>
          <a:prstGeom prst="rect">
            <a:avLst/>
          </a:prstGeom>
        </p:spPr>
      </p:pic>
      <p:sp>
        <p:nvSpPr>
          <p:cNvPr id="9" name="TextBox 8"/>
          <p:cNvSpPr txBox="1"/>
          <p:nvPr/>
        </p:nvSpPr>
        <p:spPr>
          <a:xfrm>
            <a:off x="731520" y="5285232"/>
            <a:ext cx="5257800" cy="274320"/>
          </a:xfrm>
          <a:prstGeom prst="rect">
            <a:avLst/>
          </a:prstGeom>
          <a:noFill/>
        </p:spPr>
        <p:txBody>
          <a:bodyPr wrap="none">
            <a:spAutoFit/>
          </a:bodyPr>
          <a:lstStyle/>
          <a:p>
            <a:pPr algn="ctr"/>
            <a:r>
              <a:rPr sz="1100" b="1">
                <a:solidFill>
                  <a:srgbClr val="464646"/>
                </a:solidFill>
                <a:latin typeface="Arial"/>
              </a:rPr>
              <a:t>Registro de cambios</a:t>
            </a:r>
          </a:p>
        </p:txBody>
      </p:sp>
      <p:pic>
        <p:nvPicPr>
          <p:cNvPr id="10" name="Picture 9" descr="registro_de_riesgos_de_proyectos_ti.png"/>
          <p:cNvPicPr>
            <a:picLocks noChangeAspect="1"/>
          </p:cNvPicPr>
          <p:nvPr/>
        </p:nvPicPr>
        <p:blipFill>
          <a:blip r:embed="rId3"/>
          <a:stretch>
            <a:fillRect/>
          </a:stretch>
        </p:blipFill>
        <p:spPr>
          <a:xfrm>
            <a:off x="5669280" y="1325880"/>
            <a:ext cx="5257800" cy="3943350"/>
          </a:xfrm>
          <a:prstGeom prst="rect">
            <a:avLst/>
          </a:prstGeom>
        </p:spPr>
      </p:pic>
      <p:sp>
        <p:nvSpPr>
          <p:cNvPr id="11" name="TextBox 10"/>
          <p:cNvSpPr txBox="1"/>
          <p:nvPr/>
        </p:nvSpPr>
        <p:spPr>
          <a:xfrm>
            <a:off x="5669280" y="5285232"/>
            <a:ext cx="5257800" cy="274320"/>
          </a:xfrm>
          <a:prstGeom prst="rect">
            <a:avLst/>
          </a:prstGeom>
          <a:noFill/>
        </p:spPr>
        <p:txBody>
          <a:bodyPr wrap="none">
            <a:spAutoFit/>
          </a:bodyPr>
          <a:lstStyle/>
          <a:p>
            <a:pPr algn="ctr"/>
            <a:r>
              <a:rPr sz="1100" b="1">
                <a:solidFill>
                  <a:srgbClr val="464646"/>
                </a:solidFill>
                <a:latin typeface="Arial"/>
              </a:rPr>
              <a:t>Registro de riesgos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84048"/>
            <a:ext cx="9601200" cy="457200"/>
          </a:xfrm>
          <a:prstGeom prst="rect">
            <a:avLst/>
          </a:prstGeom>
          <a:noFill/>
        </p:spPr>
        <p:txBody>
          <a:bodyPr wrap="none">
            <a:spAutoFit/>
          </a:bodyPr>
          <a:lstStyle/>
          <a:p>
            <a:pPr algn="ctr"/>
            <a:r>
              <a:rPr sz="2000" b="1">
                <a:solidFill>
                  <a:srgbClr val="000000"/>
                </a:solidFill>
                <a:latin typeface="Arial"/>
              </a:rPr>
              <a:t>Paso 6. Lecciones aprendidas y documentación técnica</a:t>
            </a:r>
          </a:p>
        </p:txBody>
      </p:sp>
      <p:sp>
        <p:nvSpPr>
          <p:cNvPr id="6" name="TextBox 5"/>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13</a:t>
            </a:r>
          </a:p>
        </p:txBody>
      </p:sp>
      <p:sp>
        <p:nvSpPr>
          <p:cNvPr id="7" name="TextBox 6"/>
          <p:cNvSpPr txBox="1"/>
          <p:nvPr/>
        </p:nvSpPr>
        <p:spPr>
          <a:xfrm>
            <a:off x="914400" y="896112"/>
            <a:ext cx="9326880" cy="292608"/>
          </a:xfrm>
          <a:prstGeom prst="rect">
            <a:avLst/>
          </a:prstGeom>
          <a:noFill/>
        </p:spPr>
        <p:txBody>
          <a:bodyPr wrap="square">
            <a:spAutoFit/>
          </a:bodyPr>
          <a:lstStyle/>
          <a:p>
            <a:pPr algn="l"/>
            <a:r>
              <a:rPr sz="1000" i="1">
                <a:solidFill>
                  <a:srgbClr val="606060"/>
                </a:solidFill>
                <a:latin typeface="Arial"/>
              </a:rPr>
              <a:t>Nota: las siguientes imágenes son representaciones visuales elaboradas con apoyo de inteligencia artificial para fines académicos.</a:t>
            </a:r>
          </a:p>
        </p:txBody>
      </p:sp>
      <p:pic>
        <p:nvPicPr>
          <p:cNvPr id="8" name="Picture 7" descr="registro_de_lecciones_aprendidas.png"/>
          <p:cNvPicPr>
            <a:picLocks noChangeAspect="1"/>
          </p:cNvPicPr>
          <p:nvPr/>
        </p:nvPicPr>
        <p:blipFill>
          <a:blip r:embed="rId2"/>
          <a:stretch>
            <a:fillRect/>
          </a:stretch>
        </p:blipFill>
        <p:spPr>
          <a:xfrm>
            <a:off x="731520" y="1325880"/>
            <a:ext cx="5257800" cy="3943350"/>
          </a:xfrm>
          <a:prstGeom prst="rect">
            <a:avLst/>
          </a:prstGeom>
        </p:spPr>
      </p:pic>
      <p:sp>
        <p:nvSpPr>
          <p:cNvPr id="9" name="TextBox 8"/>
          <p:cNvSpPr txBox="1"/>
          <p:nvPr/>
        </p:nvSpPr>
        <p:spPr>
          <a:xfrm>
            <a:off x="731520" y="5285232"/>
            <a:ext cx="5257800" cy="274320"/>
          </a:xfrm>
          <a:prstGeom prst="rect">
            <a:avLst/>
          </a:prstGeom>
          <a:noFill/>
        </p:spPr>
        <p:txBody>
          <a:bodyPr wrap="none">
            <a:spAutoFit/>
          </a:bodyPr>
          <a:lstStyle/>
          <a:p>
            <a:pPr algn="ctr"/>
            <a:r>
              <a:rPr sz="1100" b="1">
                <a:solidFill>
                  <a:srgbClr val="464646"/>
                </a:solidFill>
                <a:latin typeface="Arial"/>
              </a:rPr>
              <a:t>Registro de lecciones aprendidas</a:t>
            </a:r>
          </a:p>
        </p:txBody>
      </p:sp>
      <p:pic>
        <p:nvPicPr>
          <p:cNvPr id="10" name="Picture 9" descr="documentación_técnica_de_estacionatec.png"/>
          <p:cNvPicPr>
            <a:picLocks noChangeAspect="1"/>
          </p:cNvPicPr>
          <p:nvPr/>
        </p:nvPicPr>
        <p:blipFill>
          <a:blip r:embed="rId3"/>
          <a:stretch>
            <a:fillRect/>
          </a:stretch>
        </p:blipFill>
        <p:spPr>
          <a:xfrm>
            <a:off x="5669280" y="1325880"/>
            <a:ext cx="5257800" cy="3943350"/>
          </a:xfrm>
          <a:prstGeom prst="rect">
            <a:avLst/>
          </a:prstGeom>
        </p:spPr>
      </p:pic>
      <p:sp>
        <p:nvSpPr>
          <p:cNvPr id="11" name="TextBox 10"/>
          <p:cNvSpPr txBox="1"/>
          <p:nvPr/>
        </p:nvSpPr>
        <p:spPr>
          <a:xfrm>
            <a:off x="5669280" y="5285232"/>
            <a:ext cx="5257800" cy="274320"/>
          </a:xfrm>
          <a:prstGeom prst="rect">
            <a:avLst/>
          </a:prstGeom>
          <a:noFill/>
        </p:spPr>
        <p:txBody>
          <a:bodyPr wrap="none">
            <a:spAutoFit/>
          </a:bodyPr>
          <a:lstStyle/>
          <a:p>
            <a:pPr algn="ctr"/>
            <a:r>
              <a:rPr sz="1100" b="1">
                <a:solidFill>
                  <a:srgbClr val="464646"/>
                </a:solidFill>
                <a:latin typeface="Arial"/>
              </a:rPr>
              <a:t>Documentación técnica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384048"/>
            <a:ext cx="9601200" cy="457200"/>
          </a:xfrm>
          <a:prstGeom prst="rect">
            <a:avLst/>
          </a:prstGeom>
          <a:noFill/>
        </p:spPr>
        <p:txBody>
          <a:bodyPr wrap="none">
            <a:spAutoFit/>
          </a:bodyPr>
          <a:lstStyle/>
          <a:p>
            <a:pPr algn="ctr"/>
            <a:r>
              <a:rPr sz="2000" b="1">
                <a:solidFill>
                  <a:srgbClr val="000000"/>
                </a:solidFill>
                <a:latin typeface="Arial"/>
              </a:rPr>
              <a:t>Paso 6. Evidencia de aceptación de entregables</a:t>
            </a:r>
          </a:p>
        </p:txBody>
      </p:sp>
      <p:sp>
        <p:nvSpPr>
          <p:cNvPr id="6" name="TextBox 5"/>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14</a:t>
            </a:r>
          </a:p>
        </p:txBody>
      </p:sp>
      <p:sp>
        <p:nvSpPr>
          <p:cNvPr id="7" name="TextBox 6"/>
          <p:cNvSpPr txBox="1"/>
          <p:nvPr/>
        </p:nvSpPr>
        <p:spPr>
          <a:xfrm>
            <a:off x="914400" y="896112"/>
            <a:ext cx="9326880" cy="292608"/>
          </a:xfrm>
          <a:prstGeom prst="rect">
            <a:avLst/>
          </a:prstGeom>
          <a:noFill/>
        </p:spPr>
        <p:txBody>
          <a:bodyPr wrap="square">
            <a:spAutoFit/>
          </a:bodyPr>
          <a:lstStyle/>
          <a:p>
            <a:pPr algn="l"/>
            <a:r>
              <a:rPr sz="1000" i="1">
                <a:solidFill>
                  <a:srgbClr val="606060"/>
                </a:solidFill>
                <a:latin typeface="Arial"/>
              </a:rPr>
              <a:t>Nota: las siguientes imágenes son representaciones visuales elaboradas con apoyo de inteligencia artificial para fines académicos.</a:t>
            </a:r>
          </a:p>
        </p:txBody>
      </p:sp>
      <p:pic>
        <p:nvPicPr>
          <p:cNvPr id="8" name="Picture 7" descr="evidencia_de_aceptación_estacionatec.png"/>
          <p:cNvPicPr>
            <a:picLocks noChangeAspect="1"/>
          </p:cNvPicPr>
          <p:nvPr/>
        </p:nvPicPr>
        <p:blipFill>
          <a:blip r:embed="rId2"/>
          <a:stretch>
            <a:fillRect/>
          </a:stretch>
        </p:blipFill>
        <p:spPr>
          <a:xfrm>
            <a:off x="1920240" y="1234440"/>
            <a:ext cx="8138160" cy="6103620"/>
          </a:xfrm>
          <a:prstGeom prst="rect">
            <a:avLst/>
          </a:prstGeom>
        </p:spPr>
      </p:pic>
      <p:sp>
        <p:nvSpPr>
          <p:cNvPr id="9" name="TextBox 8"/>
          <p:cNvSpPr txBox="1"/>
          <p:nvPr/>
        </p:nvSpPr>
        <p:spPr>
          <a:xfrm>
            <a:off x="1920240" y="5440680"/>
            <a:ext cx="8138160" cy="274320"/>
          </a:xfrm>
          <a:prstGeom prst="rect">
            <a:avLst/>
          </a:prstGeom>
          <a:noFill/>
        </p:spPr>
        <p:txBody>
          <a:bodyPr wrap="none">
            <a:spAutoFit/>
          </a:bodyPr>
          <a:lstStyle/>
          <a:p>
            <a:pPr algn="ctr"/>
            <a:r>
              <a:rPr sz="1100" b="1">
                <a:solidFill>
                  <a:srgbClr val="464646"/>
                </a:solidFill>
                <a:latin typeface="Arial"/>
              </a:rPr>
              <a:t>Evidencia de aceptación de entregables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15</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Resultados de la práctica</a:t>
            </a:r>
          </a:p>
        </p:txBody>
      </p:sp>
      <p:sp>
        <p:nvSpPr>
          <p:cNvPr id="7" name="TextBox 6"/>
          <p:cNvSpPr txBox="1"/>
          <p:nvPr/>
        </p:nvSpPr>
        <p:spPr>
          <a:xfrm>
            <a:off x="1051560" y="1417320"/>
            <a:ext cx="8686800" cy="5212080"/>
          </a:xfrm>
          <a:prstGeom prst="rect">
            <a:avLst/>
          </a:prstGeom>
          <a:noFill/>
        </p:spPr>
        <p:txBody>
          <a:bodyPr wrap="square" lIns="45720" rIns="45720">
            <a:normAutofit/>
          </a:bodyPr>
          <a:lstStyle/>
          <a:p>
            <a:pPr algn="l">
              <a:spcAft>
                <a:spcPts val="800"/>
              </a:spcAft>
            </a:pPr>
            <a:r>
              <a:rPr sz="1300">
                <a:solidFill>
                  <a:srgbClr val="373737"/>
                </a:solidFill>
              </a:rPr>
              <a:t>El cuadro comparativo resume el estado de cierre de los tres proyectos. En él se observan los elementos revisados para concluir cada propuesta, como la aceptación del alcance, el cierre financiero, el traspaso operativo, la liberación del equipo y la validación final.</a:t>
            </a:r>
          </a:p>
        </p:txBody>
      </p:sp>
      <p:pic>
        <p:nvPicPr>
          <p:cNvPr id="8" name="Picture 7" descr="cuadro_comparativo_unidad6_3_cropped.png"/>
          <p:cNvPicPr>
            <a:picLocks noChangeAspect="1"/>
          </p:cNvPicPr>
          <p:nvPr/>
        </p:nvPicPr>
        <p:blipFill>
          <a:blip r:embed="rId2"/>
          <a:stretch>
            <a:fillRect/>
          </a:stretch>
        </p:blipFill>
        <p:spPr>
          <a:xfrm>
            <a:off x="914400" y="2057400"/>
            <a:ext cx="9418320" cy="36700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16</a:t>
            </a:r>
          </a:p>
        </p:txBody>
      </p:sp>
      <p:sp>
        <p:nvSpPr>
          <p:cNvPr id="6" name="TextBox 5"/>
          <p:cNvSpPr txBox="1"/>
          <p:nvPr/>
        </p:nvSpPr>
        <p:spPr>
          <a:xfrm>
            <a:off x="822960" y="384048"/>
            <a:ext cx="9235440" cy="457200"/>
          </a:xfrm>
          <a:prstGeom prst="rect">
            <a:avLst/>
          </a:prstGeom>
          <a:noFill/>
        </p:spPr>
        <p:txBody>
          <a:bodyPr wrap="none" lIns="0" tIns="0" rIns="0" bIns="0">
            <a:spAutoFit/>
          </a:bodyPr>
          <a:lstStyle/>
          <a:p>
            <a:pPr algn="ctr"/>
            <a:r>
              <a:rPr sz="2000" b="1">
                <a:solidFill>
                  <a:srgbClr val="000000"/>
                </a:solidFill>
              </a:rPr>
              <a:t>Conclusión</a:t>
            </a:r>
          </a:p>
        </p:txBody>
      </p:sp>
      <p:sp>
        <p:nvSpPr>
          <p:cNvPr id="7" name="TextBox 6"/>
          <p:cNvSpPr txBox="1"/>
          <p:nvPr/>
        </p:nvSpPr>
        <p:spPr>
          <a:xfrm>
            <a:off x="1508760" y="1234440"/>
            <a:ext cx="7680960" cy="4114800"/>
          </a:xfrm>
          <a:prstGeom prst="rect">
            <a:avLst/>
          </a:prstGeom>
          <a:noFill/>
        </p:spPr>
        <p:txBody>
          <a:bodyPr wrap="square" lIns="45720" rIns="45720">
            <a:normAutofit/>
          </a:bodyPr>
          <a:lstStyle/>
          <a:p>
            <a:pPr algn="ctr">
              <a:spcAft>
                <a:spcPts val="800"/>
              </a:spcAft>
            </a:pPr>
            <a:r>
              <a:rPr sz="1500">
                <a:solidFill>
                  <a:srgbClr val="373737"/>
                </a:solidFill>
              </a:rPr>
              <a:t>Al finalizar la práctica se comprendió que el cierre formal es una parte importante de la gestión de proyectos de TI. EstacionaTec, Rinconcito VC y LocalMarket requieren evidencias de aceptación, checklist de cierre y registro de lecciones aprendidas para concluir de manera ordenada.</a:t>
            </a:r>
          </a:p>
          <a:p>
            <a:pPr algn="ctr">
              <a:spcAft>
                <a:spcPts val="800"/>
              </a:spcAft>
            </a:pPr>
            <a:r>
              <a:rPr sz="1500">
                <a:solidFill>
                  <a:srgbClr val="373737"/>
                </a:solidFill>
              </a:rPr>
              <a:t>El cierre no solo sirve para entregar un proyecto, sino también para validar resultados, liberar recursos y conservar conocimiento útil. De esta forma, la organización puede evitar pendientes y mejorar la planeación de futuros proyectos con base en la experiencia obtenida.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0" y="0"/>
            <a:ext cx="1901952" cy="68580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75488"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21792" y="1051560"/>
            <a:ext cx="9144" cy="4800600"/>
          </a:xfrm>
          <a:prstGeom prst="rect">
            <a:avLst/>
          </a:prstGeom>
          <a:solidFill>
            <a:srgbClr val="CDCDCD"/>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567160" y="6446520"/>
            <a:ext cx="274320" cy="164592"/>
          </a:xfrm>
          <a:prstGeom prst="rect">
            <a:avLst/>
          </a:prstGeom>
          <a:noFill/>
        </p:spPr>
        <p:txBody>
          <a:bodyPr wrap="none">
            <a:spAutoFit/>
          </a:bodyPr>
          <a:lstStyle/>
          <a:p>
            <a:pPr algn="ctr"/>
            <a:r>
              <a:rPr sz="800">
                <a:solidFill>
                  <a:srgbClr val="000000"/>
                </a:solidFill>
                <a:latin typeface="Arial"/>
              </a:rPr>
              <a:t>17</a:t>
            </a:r>
          </a:p>
        </p:txBody>
      </p:sp>
      <p:sp>
        <p:nvSpPr>
          <p:cNvPr id="6" name="TextBox 5"/>
          <p:cNvSpPr txBox="1"/>
          <p:nvPr/>
        </p:nvSpPr>
        <p:spPr>
          <a:xfrm>
            <a:off x="3994777" y="384048"/>
            <a:ext cx="2891818" cy="307777"/>
          </a:xfrm>
          <a:prstGeom prst="rect">
            <a:avLst/>
          </a:prstGeom>
          <a:noFill/>
        </p:spPr>
        <p:txBody>
          <a:bodyPr wrap="none" lIns="0" tIns="0" rIns="0" bIns="0">
            <a:spAutoFit/>
          </a:bodyPr>
          <a:lstStyle/>
          <a:p>
            <a:pPr algn="ctr"/>
            <a:r>
              <a:rPr lang="es-MX" sz="2000" b="1" dirty="0">
                <a:solidFill>
                  <a:srgbClr val="000000"/>
                </a:solidFill>
                <a:latin typeface="Arial"/>
              </a:rPr>
              <a:t>Fuentes de </a:t>
            </a:r>
            <a:r>
              <a:rPr lang="es-MX" sz="2000" b="1" dirty="0" err="1">
                <a:solidFill>
                  <a:srgbClr val="000000"/>
                </a:solidFill>
                <a:latin typeface="Arial"/>
              </a:rPr>
              <a:t>informacion</a:t>
            </a:r>
            <a:endParaRPr sz="2000" b="1" dirty="0">
              <a:solidFill>
                <a:srgbClr val="000000"/>
              </a:solidFill>
              <a:latin typeface="Arial"/>
            </a:endParaRPr>
          </a:p>
        </p:txBody>
      </p:sp>
      <p:sp>
        <p:nvSpPr>
          <p:cNvPr id="7" name="TextBox 6"/>
          <p:cNvSpPr txBox="1"/>
          <p:nvPr/>
        </p:nvSpPr>
        <p:spPr>
          <a:xfrm>
            <a:off x="1051560" y="1508760"/>
            <a:ext cx="8686800" cy="5212080"/>
          </a:xfrm>
          <a:prstGeom prst="rect">
            <a:avLst/>
          </a:prstGeom>
          <a:noFill/>
        </p:spPr>
        <p:txBody>
          <a:bodyPr wrap="square">
            <a:normAutofit/>
          </a:bodyPr>
          <a:lstStyle/>
          <a:p>
            <a:pPr algn="l">
              <a:spcAft>
                <a:spcPts val="500"/>
              </a:spcAft>
            </a:pPr>
            <a:r>
              <a:rPr sz="1400">
                <a:solidFill>
                  <a:srgbClr val="000000"/>
                </a:solidFill>
                <a:latin typeface="Arial"/>
              </a:rPr>
              <a:t>• Material proporcionado por el docente: Tema 6. Evaluación y cierre de proyectos.</a:t>
            </a:r>
          </a:p>
          <a:p>
            <a:pPr algn="l">
              <a:spcAft>
                <a:spcPts val="500"/>
              </a:spcAft>
            </a:pPr>
            <a:r>
              <a:rPr sz="1400">
                <a:solidFill>
                  <a:srgbClr val="000000"/>
                </a:solidFill>
                <a:latin typeface="Arial"/>
              </a:rPr>
              <a:t>• Plantilla y Checklist: Acta de Cierre del Proyecto.</a:t>
            </a:r>
          </a:p>
          <a:p>
            <a:pPr algn="l">
              <a:spcAft>
                <a:spcPts val="500"/>
              </a:spcAft>
            </a:pPr>
            <a:r>
              <a:rPr sz="1400">
                <a:solidFill>
                  <a:srgbClr val="000000"/>
                </a:solidFill>
                <a:latin typeface="Arial"/>
              </a:rPr>
              <a:t>• Registro de Lecciones Aprendidas de Software.</a:t>
            </a:r>
          </a:p>
          <a:p>
            <a:pPr algn="l">
              <a:spcAft>
                <a:spcPts val="500"/>
              </a:spcAft>
            </a:pPr>
            <a:r>
              <a:rPr sz="1400">
                <a:solidFill>
                  <a:srgbClr val="000000"/>
                </a:solidFill>
                <a:latin typeface="Arial"/>
              </a:rPr>
              <a:t>• Evaluación y cierre de proyectos - DS / GG.</a:t>
            </a:r>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44</TotalTime>
  <Words>1066</Words>
  <Application>Microsoft Office PowerPoint</Application>
  <PresentationFormat>Panorámica</PresentationFormat>
  <Paragraphs>88</Paragraphs>
  <Slides>17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Eddi Castillo</dc:creator>
  <cp:keywords/>
  <dc:description>generated using python-pptx</dc:description>
  <cp:lastModifiedBy>eddi castillo</cp:lastModifiedBy>
  <cp:revision>5</cp:revision>
  <dcterms:created xsi:type="dcterms:W3CDTF">2013-01-27T09:14:16Z</dcterms:created>
  <dcterms:modified xsi:type="dcterms:W3CDTF">2026-10-03T07:32:24Z</dcterms:modified>
  <cp:category/>
</cp:coreProperties>
</file>