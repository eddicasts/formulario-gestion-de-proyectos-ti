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9067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73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268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603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9630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0259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871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898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3167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8038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052623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3452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837620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1277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7647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599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0931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651760" cy="548945"/>
          </a:xfrm>
          <a:prstGeom prst="rect">
            <a:avLst/>
          </a:prstGeom>
        </p:spPr>
      </p:pic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2544" y="118872"/>
            <a:ext cx="1965960" cy="964292"/>
          </a:xfrm>
          <a:prstGeom prst="rect">
            <a:avLst/>
          </a:prstGeom>
        </p:spPr>
      </p:pic>
      <p:pic>
        <p:nvPicPr>
          <p:cNvPr id="6" name="Picture 5" descr="image3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6960" y="91440"/>
            <a:ext cx="1115568" cy="77604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403165" y="1005840"/>
            <a:ext cx="5263749" cy="52322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 dirty="0">
                <a:solidFill>
                  <a:srgbClr val="181818"/>
                </a:solidFill>
                <a:latin typeface="Arial"/>
              </a:rPr>
              <a:t>TECNOLÓGICO NACIONAL DE MÉXICO</a:t>
            </a:r>
          </a:p>
          <a:p>
            <a:pPr algn="ctr"/>
            <a:r>
              <a:rPr sz="1500" b="1" dirty="0">
                <a:solidFill>
                  <a:srgbClr val="181818"/>
                </a:solidFill>
                <a:latin typeface="Arial"/>
              </a:rPr>
              <a:t>INSTITUTO TECNOLÓGICO DE FRONTERA COMALAPA</a:t>
            </a:r>
          </a:p>
          <a:p>
            <a:pPr algn="ctr"/>
            <a:endParaRPr sz="1500" b="1" dirty="0">
              <a:solidFill>
                <a:srgbClr val="181818"/>
              </a:solidFill>
              <a:latin typeface="Arial"/>
            </a:endParaRPr>
          </a:p>
          <a:p>
            <a:pPr algn="ctr"/>
            <a:r>
              <a:rPr sz="1300" b="1" dirty="0">
                <a:solidFill>
                  <a:srgbClr val="181818"/>
                </a:solidFill>
                <a:latin typeface="Arial"/>
              </a:rPr>
              <a:t>NOMBRE DE LA MATERIA</a:t>
            </a:r>
          </a:p>
          <a:p>
            <a:pPr algn="ctr"/>
            <a:r>
              <a:rPr sz="1500" b="0" dirty="0" err="1">
                <a:solidFill>
                  <a:srgbClr val="181818"/>
                </a:solidFill>
                <a:latin typeface="Arial"/>
              </a:rPr>
              <a:t>Gestión</a:t>
            </a:r>
            <a:r>
              <a:rPr sz="1500" b="0" dirty="0">
                <a:solidFill>
                  <a:srgbClr val="181818"/>
                </a:solidFill>
                <a:latin typeface="Arial"/>
              </a:rPr>
              <a:t> de </a:t>
            </a:r>
            <a:r>
              <a:rPr sz="1500" b="0" dirty="0" err="1">
                <a:solidFill>
                  <a:srgbClr val="181818"/>
                </a:solidFill>
                <a:latin typeface="Arial"/>
              </a:rPr>
              <a:t>proyectos</a:t>
            </a:r>
            <a:r>
              <a:rPr sz="1500" b="0" dirty="0">
                <a:solidFill>
                  <a:srgbClr val="181818"/>
                </a:solidFill>
                <a:latin typeface="Arial"/>
              </a:rPr>
              <a:t> de TI</a:t>
            </a:r>
          </a:p>
          <a:p>
            <a:pPr algn="ctr"/>
            <a:endParaRPr sz="1500" b="0" dirty="0">
              <a:solidFill>
                <a:srgbClr val="181818"/>
              </a:solidFill>
              <a:latin typeface="Arial"/>
            </a:endParaRPr>
          </a:p>
          <a:p>
            <a:pPr algn="ctr"/>
            <a:r>
              <a:rPr sz="1300" b="1" dirty="0">
                <a:solidFill>
                  <a:srgbClr val="181818"/>
                </a:solidFill>
                <a:latin typeface="Arial"/>
              </a:rPr>
              <a:t>NOMBRE DEL ESTUDIANTE</a:t>
            </a:r>
          </a:p>
          <a:p>
            <a:pPr algn="ctr"/>
            <a:r>
              <a:rPr sz="1500" b="0" dirty="0">
                <a:solidFill>
                  <a:srgbClr val="181818"/>
                </a:solidFill>
                <a:latin typeface="Arial"/>
              </a:rPr>
              <a:t>EDDI URIEL CASTILLO SÁNCHEZ</a:t>
            </a:r>
          </a:p>
          <a:p>
            <a:pPr algn="ctr"/>
            <a:endParaRPr sz="1500" b="0" dirty="0">
              <a:solidFill>
                <a:srgbClr val="181818"/>
              </a:solidFill>
              <a:latin typeface="Arial"/>
            </a:endParaRPr>
          </a:p>
          <a:p>
            <a:pPr algn="ctr"/>
            <a:r>
              <a:rPr sz="1300" b="1" dirty="0">
                <a:solidFill>
                  <a:srgbClr val="181818"/>
                </a:solidFill>
                <a:latin typeface="Arial"/>
              </a:rPr>
              <a:t>CARRERA</a:t>
            </a:r>
          </a:p>
          <a:p>
            <a:pPr algn="ctr"/>
            <a:r>
              <a:rPr sz="1500" b="0" dirty="0">
                <a:solidFill>
                  <a:srgbClr val="181818"/>
                </a:solidFill>
                <a:latin typeface="Arial"/>
              </a:rPr>
              <a:t>INGENIERÍA EN SISTEMAS COMPUTACIONALES</a:t>
            </a:r>
          </a:p>
          <a:p>
            <a:pPr algn="ctr"/>
            <a:endParaRPr sz="1500" b="0" dirty="0">
              <a:solidFill>
                <a:srgbClr val="181818"/>
              </a:solidFill>
              <a:latin typeface="Arial"/>
            </a:endParaRPr>
          </a:p>
          <a:p>
            <a:pPr algn="ctr"/>
            <a:r>
              <a:rPr sz="1300" b="1" dirty="0">
                <a:solidFill>
                  <a:srgbClr val="181818"/>
                </a:solidFill>
                <a:latin typeface="Arial"/>
              </a:rPr>
              <a:t>SEMESTRE</a:t>
            </a:r>
          </a:p>
          <a:p>
            <a:pPr algn="ctr"/>
            <a:r>
              <a:rPr sz="1500" b="0" dirty="0">
                <a:solidFill>
                  <a:srgbClr val="181818"/>
                </a:solidFill>
                <a:latin typeface="Arial"/>
              </a:rPr>
              <a:t>SÉPTIMO SEMESTRE</a:t>
            </a:r>
          </a:p>
          <a:p>
            <a:pPr algn="ctr"/>
            <a:endParaRPr sz="1500" b="0" dirty="0">
              <a:solidFill>
                <a:srgbClr val="181818"/>
              </a:solidFill>
              <a:latin typeface="Arial"/>
            </a:endParaRPr>
          </a:p>
          <a:p>
            <a:pPr algn="ctr"/>
            <a:r>
              <a:rPr sz="1300" b="1" dirty="0">
                <a:solidFill>
                  <a:srgbClr val="181818"/>
                </a:solidFill>
                <a:latin typeface="Arial"/>
              </a:rPr>
              <a:t>NOMBRE DEL DOCENTE</a:t>
            </a:r>
          </a:p>
          <a:p>
            <a:pPr algn="ctr"/>
            <a:r>
              <a:rPr sz="1500" b="0" dirty="0">
                <a:solidFill>
                  <a:srgbClr val="181818"/>
                </a:solidFill>
                <a:latin typeface="Arial"/>
              </a:rPr>
              <a:t>Ing. Javier Francisco Mingo Velázquez</a:t>
            </a:r>
          </a:p>
          <a:p>
            <a:pPr algn="ctr"/>
            <a:endParaRPr sz="1500" b="0" dirty="0">
              <a:solidFill>
                <a:srgbClr val="181818"/>
              </a:solidFill>
              <a:latin typeface="Arial"/>
            </a:endParaRPr>
          </a:p>
          <a:p>
            <a:pPr algn="ctr"/>
            <a:r>
              <a:rPr sz="1300" b="1" dirty="0">
                <a:solidFill>
                  <a:srgbClr val="181818"/>
                </a:solidFill>
                <a:latin typeface="Arial"/>
              </a:rPr>
              <a:t>NOMBRE DEL TRABAJO</a:t>
            </a:r>
          </a:p>
          <a:p>
            <a:pPr algn="ctr"/>
            <a:r>
              <a:rPr sz="1500" b="0" dirty="0" err="1">
                <a:solidFill>
                  <a:srgbClr val="181818"/>
                </a:solidFill>
                <a:latin typeface="Arial"/>
              </a:rPr>
              <a:t>Actividad</a:t>
            </a:r>
            <a:r>
              <a:rPr sz="1500" b="0" dirty="0">
                <a:solidFill>
                  <a:srgbClr val="181818"/>
                </a:solidFill>
                <a:latin typeface="Arial"/>
              </a:rPr>
              <a:t> </a:t>
            </a:r>
            <a:r>
              <a:rPr lang="es-MX" sz="1500" dirty="0">
                <a:solidFill>
                  <a:srgbClr val="181818"/>
                </a:solidFill>
                <a:latin typeface="Arial"/>
              </a:rPr>
              <a:t>4.2</a:t>
            </a:r>
            <a:r>
              <a:rPr sz="1500" b="0" dirty="0">
                <a:solidFill>
                  <a:srgbClr val="181818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181818"/>
                </a:solidFill>
                <a:latin typeface="Arial"/>
              </a:rPr>
              <a:t>Reporte</a:t>
            </a:r>
            <a:r>
              <a:rPr sz="1500" b="0" dirty="0">
                <a:solidFill>
                  <a:srgbClr val="181818"/>
                </a:solidFill>
                <a:latin typeface="Arial"/>
              </a:rPr>
              <a:t> de </a:t>
            </a:r>
            <a:r>
              <a:rPr sz="1500" b="0" dirty="0" err="1">
                <a:solidFill>
                  <a:srgbClr val="181818"/>
                </a:solidFill>
                <a:latin typeface="Arial"/>
              </a:rPr>
              <a:t>práctica</a:t>
            </a:r>
            <a:endParaRPr sz="1500" b="0" dirty="0">
              <a:solidFill>
                <a:srgbClr val="181818"/>
              </a:solidFill>
              <a:latin typeface="Arial"/>
            </a:endParaRPr>
          </a:p>
          <a:p>
            <a:pPr algn="ctr"/>
            <a:endParaRPr sz="1500" b="0" dirty="0">
              <a:solidFill>
                <a:srgbClr val="181818"/>
              </a:solidFill>
              <a:latin typeface="Arial"/>
            </a:endParaRPr>
          </a:p>
          <a:p>
            <a:pPr algn="ctr"/>
            <a:r>
              <a:rPr sz="1300" b="1" dirty="0">
                <a:solidFill>
                  <a:srgbClr val="181818"/>
                </a:solidFill>
                <a:latin typeface="Arial"/>
              </a:rPr>
              <a:t>LUGAR Y FECHA</a:t>
            </a:r>
          </a:p>
          <a:p>
            <a:pPr algn="ctr"/>
            <a:r>
              <a:rPr sz="1500" b="0" dirty="0">
                <a:solidFill>
                  <a:srgbClr val="181818"/>
                </a:solidFill>
                <a:latin typeface="Arial"/>
              </a:rPr>
              <a:t>Frontera </a:t>
            </a:r>
            <a:r>
              <a:rPr sz="1500" b="0" dirty="0" err="1">
                <a:solidFill>
                  <a:srgbClr val="181818"/>
                </a:solidFill>
                <a:latin typeface="Arial"/>
              </a:rPr>
              <a:t>Comalapa</a:t>
            </a:r>
            <a:r>
              <a:rPr sz="1500" b="0" dirty="0">
                <a:solidFill>
                  <a:srgbClr val="181818"/>
                </a:solidFill>
                <a:latin typeface="Arial"/>
              </a:rPr>
              <a:t>, Chiapas </a:t>
            </a:r>
            <a:r>
              <a:rPr lang="es-MX" sz="1500" dirty="0">
                <a:solidFill>
                  <a:srgbClr val="181818"/>
                </a:solidFill>
                <a:latin typeface="Arial"/>
              </a:rPr>
              <a:t> 14 de </a:t>
            </a:r>
            <a:r>
              <a:rPr sz="1500" b="0" dirty="0" err="1">
                <a:solidFill>
                  <a:srgbClr val="181818"/>
                </a:solidFill>
                <a:latin typeface="Arial"/>
              </a:rPr>
              <a:t>septiembre</a:t>
            </a:r>
            <a:r>
              <a:rPr sz="1500" b="0" dirty="0">
                <a:solidFill>
                  <a:srgbClr val="181818"/>
                </a:solidFill>
                <a:latin typeface="Arial"/>
              </a:rPr>
              <a:t> de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6400800"/>
            <a:ext cx="228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5A5A"/>
                </a:solidFill>
                <a:latin typeface="Arial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4320" y="228600"/>
            <a:ext cx="18288" cy="6172200"/>
          </a:xfrm>
          <a:prstGeom prst="rect">
            <a:avLst/>
          </a:prstGeom>
          <a:solidFill>
            <a:srgbClr val="A8A088"/>
          </a:solidFill>
          <a:ln>
            <a:solidFill>
              <a:srgbClr val="A8A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20624" y="228600"/>
            <a:ext cx="13716" cy="6172200"/>
          </a:xfrm>
          <a:prstGeom prst="rect">
            <a:avLst/>
          </a:prstGeom>
          <a:solidFill>
            <a:srgbClr val="DDDDDD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256032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181818"/>
                </a:solidFill>
                <a:latin typeface="Arial"/>
              </a:rPr>
              <a:t>Introducción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51560"/>
            <a:ext cx="10424160" cy="201168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500" b="0">
                <a:solidFill>
                  <a:srgbClr val="303030"/>
                </a:solidFill>
                <a:latin typeface="Arial"/>
              </a:rPr>
              <a:t>La gestión de riesgos permite anticipar situaciones que pueden afectar el desarrollo de un proyecto de TI. En esta práctica se retomaron los proyectos EstacionaTec, Rinconcito VC y LocalMarket para identificar riesgos, analizar su probabilidad e impacto y definir acciones de mitigación. La finalidad es comprender cómo se puede controlar la incertidumbre antes de que afecte el tiempo, el costo, el alcance o la calidad del proyecto.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657600"/>
            <a:ext cx="10241280" cy="45720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endParaRPr sz="1200" b="1" dirty="0">
              <a:solidFill>
                <a:srgbClr val="27486E"/>
              </a:solidFill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567160" y="6400800"/>
            <a:ext cx="228600" cy="16459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r"/>
            <a:r>
              <a:rPr sz="900" b="0">
                <a:solidFill>
                  <a:srgbClr val="646464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4320" y="228600"/>
            <a:ext cx="18288" cy="6172200"/>
          </a:xfrm>
          <a:prstGeom prst="rect">
            <a:avLst/>
          </a:prstGeom>
          <a:solidFill>
            <a:srgbClr val="A8A088"/>
          </a:solidFill>
          <a:ln>
            <a:solidFill>
              <a:srgbClr val="A8A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20624" y="228600"/>
            <a:ext cx="13716" cy="6172200"/>
          </a:xfrm>
          <a:prstGeom prst="rect">
            <a:avLst/>
          </a:prstGeom>
          <a:solidFill>
            <a:srgbClr val="DDDDDD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256032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181818"/>
                </a:solidFill>
                <a:latin typeface="Arial"/>
              </a:rPr>
              <a:t>Justificación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51560"/>
            <a:ext cx="10424160" cy="274320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500" b="0">
                <a:solidFill>
                  <a:srgbClr val="303030"/>
                </a:solidFill>
                <a:latin typeface="Arial"/>
              </a:rPr>
              <a:t>La práctica se justifica porque un proyecto tecnológico no solo necesita actividades y fechas, también requiere prever amenazas que puedan retrasar la entrega o afectar a los usuarios. Por eso se elaboraron matrices de riesgos y planes de respuesta para los tres proyectos trabajados durante el curso. Esto permite pasar de la teoría a una aplicación concreta, donde cada riesgo se analiza y se relaciona con una acción preventiva o de contingencia.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67160" y="6400800"/>
            <a:ext cx="228600" cy="16459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r"/>
            <a:r>
              <a:rPr sz="900" b="0">
                <a:solidFill>
                  <a:srgbClr val="646464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4320" y="228600"/>
            <a:ext cx="18288" cy="6172200"/>
          </a:xfrm>
          <a:prstGeom prst="rect">
            <a:avLst/>
          </a:prstGeom>
          <a:solidFill>
            <a:srgbClr val="A8A088"/>
          </a:solidFill>
          <a:ln>
            <a:solidFill>
              <a:srgbClr val="A8A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20624" y="228600"/>
            <a:ext cx="13716" cy="6172200"/>
          </a:xfrm>
          <a:prstGeom prst="rect">
            <a:avLst/>
          </a:prstGeom>
          <a:solidFill>
            <a:srgbClr val="DDDDDD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256032"/>
            <a:ext cx="3419526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 dirty="0">
                <a:solidFill>
                  <a:srgbClr val="181818"/>
                </a:solidFill>
                <a:latin typeface="Arial"/>
              </a:rPr>
              <a:t> </a:t>
            </a:r>
            <a:r>
              <a:rPr sz="2100" b="1" dirty="0" err="1">
                <a:solidFill>
                  <a:srgbClr val="181818"/>
                </a:solidFill>
                <a:latin typeface="Arial"/>
              </a:rPr>
              <a:t>Identificación</a:t>
            </a:r>
            <a:r>
              <a:rPr sz="2100" b="1" dirty="0">
                <a:solidFill>
                  <a:srgbClr val="181818"/>
                </a:solidFill>
                <a:latin typeface="Arial"/>
              </a:rPr>
              <a:t> de </a:t>
            </a:r>
            <a:r>
              <a:rPr sz="2100" b="1" dirty="0" err="1">
                <a:solidFill>
                  <a:srgbClr val="181818"/>
                </a:solidFill>
                <a:latin typeface="Arial"/>
              </a:rPr>
              <a:t>riesgos</a:t>
            </a:r>
            <a:endParaRPr sz="2100" b="1" dirty="0">
              <a:solidFill>
                <a:srgbClr val="181818"/>
              </a:solidFill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8680" y="4663440"/>
            <a:ext cx="10241280" cy="54864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>
              <a:spcAft>
                <a:spcPts val="0"/>
              </a:spcAft>
            </a:pPr>
            <a:endParaRPr sz="1100" b="0" dirty="0">
              <a:solidFill>
                <a:srgbClr val="303030"/>
              </a:solidFill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567160" y="6400800"/>
            <a:ext cx="228600" cy="16459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r"/>
            <a:r>
              <a:rPr sz="900" b="0">
                <a:solidFill>
                  <a:srgbClr val="646464"/>
                </a:solidFill>
                <a:latin typeface="Arial"/>
              </a:rPr>
              <a:t>5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C9299CC6-4941-2F26-ED3A-987EC91BEB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8146" y="921626"/>
            <a:ext cx="7695708" cy="577178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4320" y="228600"/>
            <a:ext cx="18288" cy="6172200"/>
          </a:xfrm>
          <a:prstGeom prst="rect">
            <a:avLst/>
          </a:prstGeom>
          <a:solidFill>
            <a:srgbClr val="A8A088"/>
          </a:solidFill>
          <a:ln>
            <a:solidFill>
              <a:srgbClr val="A8A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20624" y="228600"/>
            <a:ext cx="13716" cy="6172200"/>
          </a:xfrm>
          <a:prstGeom prst="rect">
            <a:avLst/>
          </a:prstGeom>
          <a:solidFill>
            <a:srgbClr val="DDDDDD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256032"/>
            <a:ext cx="4501169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 dirty="0">
                <a:solidFill>
                  <a:srgbClr val="181818"/>
                </a:solidFill>
                <a:latin typeface="Arial"/>
              </a:rPr>
              <a:t> </a:t>
            </a:r>
            <a:r>
              <a:rPr sz="2100" b="1" dirty="0" err="1">
                <a:solidFill>
                  <a:srgbClr val="181818"/>
                </a:solidFill>
                <a:latin typeface="Arial"/>
              </a:rPr>
              <a:t>Análisis</a:t>
            </a:r>
            <a:r>
              <a:rPr sz="2100" b="1" dirty="0">
                <a:solidFill>
                  <a:srgbClr val="181818"/>
                </a:solidFill>
                <a:latin typeface="Arial"/>
              </a:rPr>
              <a:t> </a:t>
            </a:r>
            <a:r>
              <a:rPr sz="2100" b="1" dirty="0" err="1">
                <a:solidFill>
                  <a:srgbClr val="181818"/>
                </a:solidFill>
                <a:latin typeface="Arial"/>
              </a:rPr>
              <a:t>cualitativo</a:t>
            </a:r>
            <a:r>
              <a:rPr sz="2100" b="1" dirty="0">
                <a:solidFill>
                  <a:srgbClr val="181818"/>
                </a:solidFill>
                <a:latin typeface="Arial"/>
              </a:rPr>
              <a:t> y </a:t>
            </a:r>
            <a:r>
              <a:rPr sz="2100" b="1" dirty="0" err="1">
                <a:solidFill>
                  <a:srgbClr val="181818"/>
                </a:solidFill>
                <a:latin typeface="Arial"/>
              </a:rPr>
              <a:t>cuantitativo</a:t>
            </a:r>
            <a:endParaRPr sz="2100" b="1" dirty="0">
              <a:solidFill>
                <a:srgbClr val="181818"/>
              </a:solidFill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68680" y="868680"/>
            <a:ext cx="10424160" cy="32004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>
              <a:spcAft>
                <a:spcPts val="0"/>
              </a:spcAft>
            </a:pPr>
            <a:endParaRPr sz="1100" b="0" dirty="0">
              <a:solidFill>
                <a:srgbClr val="303030"/>
              </a:solidFill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567160" y="6400800"/>
            <a:ext cx="228600" cy="16459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r"/>
            <a:r>
              <a:rPr sz="900" b="0">
                <a:solidFill>
                  <a:srgbClr val="646464"/>
                </a:solidFill>
                <a:latin typeface="Arial"/>
              </a:rPr>
              <a:t>6</a:t>
            </a:r>
          </a:p>
        </p:txBody>
      </p:sp>
      <p:sp>
        <p:nvSpPr>
          <p:cNvPr id="8" name="AutoShape 2" descr="Tabla de resultados del análisis de riesgos">
            <a:extLst>
              <a:ext uri="{FF2B5EF4-FFF2-40B4-BE49-F238E27FC236}">
                <a16:creationId xmlns:a16="http://schemas.microsoft.com/office/drawing/2014/main" id="{BF980236-3552-87FF-8185-4D99498B4B4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1501877"/>
            <a:ext cx="2079523" cy="2079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2A26CCB4-6E28-2824-9AC0-FEE472B4CD1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217"/>
          <a:stretch/>
        </p:blipFill>
        <p:spPr>
          <a:xfrm>
            <a:off x="1934423" y="742114"/>
            <a:ext cx="7849190" cy="546204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4320" y="228600"/>
            <a:ext cx="18288" cy="6172200"/>
          </a:xfrm>
          <a:prstGeom prst="rect">
            <a:avLst/>
          </a:prstGeom>
          <a:solidFill>
            <a:srgbClr val="A8A088"/>
          </a:solidFill>
          <a:ln>
            <a:solidFill>
              <a:srgbClr val="A8A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20624" y="228600"/>
            <a:ext cx="13716" cy="6172200"/>
          </a:xfrm>
          <a:prstGeom prst="rect">
            <a:avLst/>
          </a:prstGeom>
          <a:solidFill>
            <a:srgbClr val="DDDDDD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256032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0000"/>
                </a:solidFill>
                <a:latin typeface="Arial"/>
              </a:rPr>
              <a:t>Cronograma de EstacionaTec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663440"/>
            <a:ext cx="9646920" cy="91440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303030"/>
                </a:solidFill>
                <a:latin typeface="Arial"/>
              </a:rPr>
              <a:t>En este paso se realizó el cronograma del proyecto EstacionaTec en ProjectLibre, organizando actividades como el inicio, el análisis del sistema, el desarrollo de módulos, las pruebas y el cierre. Esto permitió mostrar de forma visual la secuencia de trabajo y la relación entre las tareas del proyecto.</a:t>
            </a:r>
          </a:p>
        </p:txBody>
      </p:sp>
      <p:pic>
        <p:nvPicPr>
          <p:cNvPr id="8" name="Picture 7" descr="EstacionaTec_Unidad4_ProjectLib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078992"/>
            <a:ext cx="1001268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4320" y="228600"/>
            <a:ext cx="18288" cy="6172200"/>
          </a:xfrm>
          <a:prstGeom prst="rect">
            <a:avLst/>
          </a:prstGeom>
          <a:solidFill>
            <a:srgbClr val="A8A088"/>
          </a:solidFill>
          <a:ln>
            <a:solidFill>
              <a:srgbClr val="A8A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20624" y="228600"/>
            <a:ext cx="13716" cy="6172200"/>
          </a:xfrm>
          <a:prstGeom prst="rect">
            <a:avLst/>
          </a:prstGeom>
          <a:solidFill>
            <a:srgbClr val="DDDDDD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256032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0000"/>
                </a:solidFill>
                <a:latin typeface="Arial"/>
              </a:rPr>
              <a:t>Cronograma de Rinconcito VC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663440"/>
            <a:ext cx="9646920" cy="91440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303030"/>
                </a:solidFill>
                <a:latin typeface="Arial"/>
              </a:rPr>
              <a:t>En este paso se realizó el cronograma del proyecto Rinconcito VC en ProjectLibre, acomodando las actividades principales del marketplace de café, desde el levantamiento de requerimientos hasta las pruebas y la entrega. Con esta vista se pudo representar el seguimiento del proyecto de manera ordenada y clara.</a:t>
            </a:r>
          </a:p>
        </p:txBody>
      </p:sp>
      <p:pic>
        <p:nvPicPr>
          <p:cNvPr id="8" name="Picture 7" descr="Rinconcito_VC_Unidad4_ProjectLib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078992"/>
            <a:ext cx="1001268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4320" y="228600"/>
            <a:ext cx="18288" cy="6172200"/>
          </a:xfrm>
          <a:prstGeom prst="rect">
            <a:avLst/>
          </a:prstGeom>
          <a:solidFill>
            <a:srgbClr val="A8A088"/>
          </a:solidFill>
          <a:ln>
            <a:solidFill>
              <a:srgbClr val="A8A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20624" y="228600"/>
            <a:ext cx="13716" cy="6172200"/>
          </a:xfrm>
          <a:prstGeom prst="rect">
            <a:avLst/>
          </a:prstGeom>
          <a:solidFill>
            <a:srgbClr val="DDDDDD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256032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0000"/>
                </a:solidFill>
                <a:latin typeface="Arial"/>
              </a:rPr>
              <a:t>Cronograma de LocalMarket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663440"/>
            <a:ext cx="9646920" cy="91440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303030"/>
                </a:solidFill>
                <a:latin typeface="Arial"/>
              </a:rPr>
              <a:t>En este paso se realizó el cronograma del proyecto LocalMarket en ProjectLibre, distribuyendo actividades relacionadas con el análisis, desarrollo, implementación y cierre. La imagen permite observar cómo se organizó el trabajo del proyecto y cómo se establecieron las duraciones y dependencias entre tareas.</a:t>
            </a:r>
          </a:p>
        </p:txBody>
      </p:sp>
      <p:pic>
        <p:nvPicPr>
          <p:cNvPr id="8" name="Picture 7" descr="LocalMarket_Unidad4_ProjectLib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078992"/>
            <a:ext cx="1001268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4320" y="228600"/>
            <a:ext cx="18288" cy="6172200"/>
          </a:xfrm>
          <a:prstGeom prst="rect">
            <a:avLst/>
          </a:prstGeom>
          <a:solidFill>
            <a:srgbClr val="A8A088"/>
          </a:solidFill>
          <a:ln>
            <a:solidFill>
              <a:srgbClr val="A8A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20624" y="228600"/>
            <a:ext cx="13716" cy="6172200"/>
          </a:xfrm>
          <a:prstGeom prst="rect">
            <a:avLst/>
          </a:prstGeom>
          <a:solidFill>
            <a:srgbClr val="DDDDDD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256032"/>
            <a:ext cx="3522118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 dirty="0">
                <a:solidFill>
                  <a:srgbClr val="181818"/>
                </a:solidFill>
                <a:latin typeface="Arial"/>
              </a:rPr>
              <a:t> </a:t>
            </a:r>
            <a:r>
              <a:rPr sz="2100" b="1" dirty="0" err="1">
                <a:solidFill>
                  <a:srgbClr val="181818"/>
                </a:solidFill>
                <a:latin typeface="Arial"/>
              </a:rPr>
              <a:t>Estrategias</a:t>
            </a:r>
            <a:r>
              <a:rPr sz="2100" b="1" dirty="0">
                <a:solidFill>
                  <a:srgbClr val="181818"/>
                </a:solidFill>
                <a:latin typeface="Arial"/>
              </a:rPr>
              <a:t> de </a:t>
            </a:r>
            <a:r>
              <a:rPr sz="2100" b="1" dirty="0" err="1">
                <a:solidFill>
                  <a:srgbClr val="181818"/>
                </a:solidFill>
                <a:latin typeface="Arial"/>
              </a:rPr>
              <a:t>mitigación</a:t>
            </a:r>
            <a:endParaRPr sz="2100" b="1" dirty="0">
              <a:solidFill>
                <a:srgbClr val="181818"/>
              </a:solidFill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8680" y="4983480"/>
            <a:ext cx="10241280" cy="36576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>
              <a:spcAft>
                <a:spcPts val="0"/>
              </a:spcAft>
            </a:pPr>
            <a:endParaRPr sz="1100" b="0" dirty="0">
              <a:solidFill>
                <a:srgbClr val="303030"/>
              </a:solidFill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567160" y="6400800"/>
            <a:ext cx="228600" cy="16459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r"/>
            <a:r>
              <a:rPr sz="900" b="0">
                <a:solidFill>
                  <a:srgbClr val="646464"/>
                </a:solidFill>
                <a:latin typeface="Arial"/>
              </a:rPr>
              <a:t>10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AC0FD299-71FD-335C-0CEA-8D93159CB9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0065" y="1170039"/>
            <a:ext cx="6587613" cy="494071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4320" y="228600"/>
            <a:ext cx="18288" cy="6172200"/>
          </a:xfrm>
          <a:prstGeom prst="rect">
            <a:avLst/>
          </a:prstGeom>
          <a:solidFill>
            <a:srgbClr val="A8A088"/>
          </a:solidFill>
          <a:ln>
            <a:solidFill>
              <a:srgbClr val="A8A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20624" y="228600"/>
            <a:ext cx="13716" cy="6172200"/>
          </a:xfrm>
          <a:prstGeom prst="rect">
            <a:avLst/>
          </a:prstGeom>
          <a:solidFill>
            <a:srgbClr val="DDDDDD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256032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181818"/>
                </a:solidFill>
                <a:latin typeface="Arial"/>
              </a:rPr>
              <a:t>Resultados de la práctica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058400" cy="329184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marL="0">
              <a:spcAft>
                <a:spcPts val="300"/>
              </a:spcAft>
              <a:defRPr sz="1300">
                <a:solidFill>
                  <a:srgbClr val="303030"/>
                </a:solidFill>
                <a:latin typeface="Arial"/>
              </a:defRPr>
            </a:pPr>
            <a:r>
              <a:t>Se identificaron riesgos reales para los tres proyectos de TI.</a:t>
            </a:r>
          </a:p>
          <a:p>
            <a:pPr marL="0">
              <a:spcAft>
                <a:spcPts val="300"/>
              </a:spcAft>
              <a:defRPr sz="1300">
                <a:solidFill>
                  <a:srgbClr val="303030"/>
                </a:solidFill>
                <a:latin typeface="Arial"/>
              </a:defRPr>
            </a:pPr>
            <a:r>
              <a:t>Se aplicó una escala de probabilidad e impacto para obtener la criticidad.</a:t>
            </a:r>
          </a:p>
          <a:p>
            <a:pPr marL="0">
              <a:spcAft>
                <a:spcPts val="300"/>
              </a:spcAft>
              <a:defRPr sz="1300">
                <a:solidFill>
                  <a:srgbClr val="303030"/>
                </a:solidFill>
                <a:latin typeface="Arial"/>
              </a:defRPr>
            </a:pPr>
            <a:r>
              <a:t>Se priorizaron riesgos altos como fallas de pago, vendedores falsos, pérdida de registros y productos falsos.</a:t>
            </a:r>
          </a:p>
          <a:p>
            <a:pPr marL="0">
              <a:spcAft>
                <a:spcPts val="300"/>
              </a:spcAft>
              <a:defRPr sz="1300">
                <a:solidFill>
                  <a:srgbClr val="303030"/>
                </a:solidFill>
                <a:latin typeface="Arial"/>
              </a:defRPr>
            </a:pPr>
            <a:r>
              <a:t>Se propusieron estrategias de mitigación, transferencia, aceptación o prevención según cada caso.</a:t>
            </a:r>
          </a:p>
          <a:p>
            <a:pPr marL="0">
              <a:spcAft>
                <a:spcPts val="300"/>
              </a:spcAft>
              <a:defRPr sz="1300">
                <a:solidFill>
                  <a:srgbClr val="303030"/>
                </a:solidFill>
                <a:latin typeface="Arial"/>
              </a:defRPr>
            </a:pPr>
            <a:r>
              <a:t>La matriz de riesgos permitió visualizar qué situaciones requieren mayor atención.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67160" y="6400800"/>
            <a:ext cx="228600" cy="16459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r"/>
            <a:r>
              <a:rPr sz="900" b="0">
                <a:solidFill>
                  <a:srgbClr val="646464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4320" y="228600"/>
            <a:ext cx="18288" cy="6172200"/>
          </a:xfrm>
          <a:prstGeom prst="rect">
            <a:avLst/>
          </a:prstGeom>
          <a:solidFill>
            <a:srgbClr val="A8A088"/>
          </a:solidFill>
          <a:ln>
            <a:solidFill>
              <a:srgbClr val="A8A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20624" y="228600"/>
            <a:ext cx="13716" cy="6172200"/>
          </a:xfrm>
          <a:prstGeom prst="rect">
            <a:avLst/>
          </a:prstGeom>
          <a:solidFill>
            <a:srgbClr val="DDDDDD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256032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181818"/>
                </a:solidFill>
                <a:latin typeface="Arial"/>
              </a:rPr>
              <a:t>Conclusión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51560"/>
            <a:ext cx="10424160" cy="274320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500" b="0">
                <a:solidFill>
                  <a:srgbClr val="303030"/>
                </a:solidFill>
                <a:latin typeface="Arial"/>
              </a:rPr>
              <a:t>Al finalizar la práctica se comprendió que la gestión de riesgos ayuda a prevenir problemas antes de que afecten el desarrollo de un proyecto. En EstacionaTec, Rinconcito VC y LocalMarket se analizaron riesgos técnicos, operativos y de seguridad, y se propusieron acciones para controlarlos. En general, trabajar con matrices de riesgos facilita la toma de decisiones, permite priorizar amenazas y ayuda a mantener el proyecto dentro del alcance, tiempo y costo establecidos.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212080"/>
            <a:ext cx="10241280" cy="32004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endParaRPr sz="1050" b="0" dirty="0">
              <a:solidFill>
                <a:srgbClr val="5F5F5F"/>
              </a:solidFill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567160" y="6400800"/>
            <a:ext cx="228600" cy="16459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r"/>
            <a:r>
              <a:rPr sz="900" b="0">
                <a:solidFill>
                  <a:srgbClr val="646464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a">
  <a:themeElements>
    <a:clrScheme name="Fac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29</TotalTime>
  <Words>555</Words>
  <Application>Microsoft Office PowerPoint</Application>
  <PresentationFormat>Panorámica</PresentationFormat>
  <Paragraphs>52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Arial</vt:lpstr>
      <vt:lpstr>Trebuchet MS</vt:lpstr>
      <vt:lpstr>Wingdings 3</vt:lpstr>
      <vt:lpstr>Faceta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Eddi Castillo</dc:creator>
  <cp:keywords/>
  <dc:description>generated using python-pptx</dc:description>
  <cp:lastModifiedBy>eddi castillo</cp:lastModifiedBy>
  <cp:revision>2</cp:revision>
  <dcterms:created xsi:type="dcterms:W3CDTF">2013-01-27T09:14:16Z</dcterms:created>
  <dcterms:modified xsi:type="dcterms:W3CDTF">2026-09-21T07:44:55Z</dcterms:modified>
  <cp:category/>
</cp:coreProperties>
</file>