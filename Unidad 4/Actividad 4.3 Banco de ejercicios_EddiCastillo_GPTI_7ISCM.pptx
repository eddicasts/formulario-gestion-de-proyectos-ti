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62" r:id="rId5"/>
    <p:sldId id="263" r:id="rId6"/>
    <p:sldId id="264" r:id="rId7"/>
    <p:sldId id="268" r:id="rId8"/>
    <p:sldId id="267"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4053906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3173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2302686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66603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9/21/2026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4219630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9/21/2026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9620259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95871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40578984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891316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8778038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7052623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083452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5837620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5001277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17647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805599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9/21/2026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6630931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1.png"/>
          <p:cNvPicPr>
            <a:picLocks noChangeAspect="1"/>
          </p:cNvPicPr>
          <p:nvPr/>
        </p:nvPicPr>
        <p:blipFill>
          <a:blip r:embed="rId2"/>
          <a:stretch>
            <a:fillRect/>
          </a:stretch>
        </p:blipFill>
        <p:spPr>
          <a:xfrm>
            <a:off x="228600" y="109728"/>
            <a:ext cx="2651760" cy="548945"/>
          </a:xfrm>
          <a:prstGeom prst="rect">
            <a:avLst/>
          </a:prstGeom>
        </p:spPr>
      </p:pic>
      <p:pic>
        <p:nvPicPr>
          <p:cNvPr id="5" name="Picture 4" descr="image2.png"/>
          <p:cNvPicPr>
            <a:picLocks noChangeAspect="1"/>
          </p:cNvPicPr>
          <p:nvPr/>
        </p:nvPicPr>
        <p:blipFill>
          <a:blip r:embed="rId3"/>
          <a:stretch>
            <a:fillRect/>
          </a:stretch>
        </p:blipFill>
        <p:spPr>
          <a:xfrm>
            <a:off x="4352544" y="118872"/>
            <a:ext cx="1965960" cy="964292"/>
          </a:xfrm>
          <a:prstGeom prst="rect">
            <a:avLst/>
          </a:prstGeom>
        </p:spPr>
      </p:pic>
      <p:pic>
        <p:nvPicPr>
          <p:cNvPr id="6" name="Picture 5" descr="image3.jpeg"/>
          <p:cNvPicPr>
            <a:picLocks noChangeAspect="1"/>
          </p:cNvPicPr>
          <p:nvPr/>
        </p:nvPicPr>
        <p:blipFill>
          <a:blip r:embed="rId4"/>
          <a:stretch>
            <a:fillRect/>
          </a:stretch>
        </p:blipFill>
        <p:spPr>
          <a:xfrm>
            <a:off x="9966960" y="91440"/>
            <a:ext cx="1115568" cy="776047"/>
          </a:xfrm>
          <a:prstGeom prst="rect">
            <a:avLst/>
          </a:prstGeom>
        </p:spPr>
      </p:pic>
      <p:sp>
        <p:nvSpPr>
          <p:cNvPr id="7" name="TextBox 6"/>
          <p:cNvSpPr txBox="1"/>
          <p:nvPr/>
        </p:nvSpPr>
        <p:spPr>
          <a:xfrm>
            <a:off x="3403165" y="1005840"/>
            <a:ext cx="5263749" cy="5232202"/>
          </a:xfrm>
          <a:prstGeom prst="rect">
            <a:avLst/>
          </a:prstGeom>
          <a:noFill/>
        </p:spPr>
        <p:txBody>
          <a:bodyPr wrap="square">
            <a:spAutoFit/>
          </a:bodyPr>
          <a:lstStyle/>
          <a:p>
            <a:pPr algn="ctr"/>
            <a:r>
              <a:rPr sz="1800" b="1" dirty="0">
                <a:solidFill>
                  <a:srgbClr val="000000"/>
                </a:solidFill>
                <a:latin typeface="Arial"/>
              </a:rPr>
              <a:t>TECNOLÓGICO NACIONAL DE MÉXICO</a:t>
            </a:r>
          </a:p>
          <a:p>
            <a:pPr algn="ctr"/>
            <a:r>
              <a:rPr sz="1500" b="1" dirty="0">
                <a:solidFill>
                  <a:srgbClr val="000000"/>
                </a:solidFill>
                <a:latin typeface="Arial"/>
              </a:rPr>
              <a:t>INSTITUTO TECNOLÓGICO DE FRONTERA COMALAPA</a:t>
            </a:r>
          </a:p>
          <a:p>
            <a:pPr algn="ctr"/>
            <a:endParaRPr sz="1500" b="1" dirty="0">
              <a:solidFill>
                <a:srgbClr val="000000"/>
              </a:solidFill>
              <a:latin typeface="Arial"/>
            </a:endParaRPr>
          </a:p>
          <a:p>
            <a:pPr algn="ctr"/>
            <a:r>
              <a:rPr sz="1300" b="1" dirty="0">
                <a:solidFill>
                  <a:srgbClr val="000000"/>
                </a:solidFill>
                <a:latin typeface="Arial"/>
              </a:rPr>
              <a:t>NOMBRE DE LA MATERIA</a:t>
            </a:r>
          </a:p>
          <a:p>
            <a:pPr algn="ctr"/>
            <a:r>
              <a:rPr sz="1500" b="0" dirty="0" err="1">
                <a:solidFill>
                  <a:srgbClr val="000000"/>
                </a:solidFill>
                <a:latin typeface="Arial"/>
              </a:rPr>
              <a:t>Gestión</a:t>
            </a:r>
            <a:r>
              <a:rPr sz="1500" b="0" dirty="0">
                <a:solidFill>
                  <a:srgbClr val="000000"/>
                </a:solidFill>
                <a:latin typeface="Arial"/>
              </a:rPr>
              <a:t> de </a:t>
            </a:r>
            <a:r>
              <a:rPr sz="1500" b="0" dirty="0" err="1">
                <a:solidFill>
                  <a:srgbClr val="000000"/>
                </a:solidFill>
                <a:latin typeface="Arial"/>
              </a:rPr>
              <a:t>proyectos</a:t>
            </a:r>
            <a:r>
              <a:rPr sz="1500" b="0" dirty="0">
                <a:solidFill>
                  <a:srgbClr val="000000"/>
                </a:solidFill>
                <a:latin typeface="Arial"/>
              </a:rPr>
              <a:t> de TI</a:t>
            </a:r>
          </a:p>
          <a:p>
            <a:pPr algn="ctr"/>
            <a:endParaRPr sz="1500" b="0" dirty="0">
              <a:solidFill>
                <a:srgbClr val="000000"/>
              </a:solidFill>
              <a:latin typeface="Arial"/>
            </a:endParaRPr>
          </a:p>
          <a:p>
            <a:pPr algn="ctr"/>
            <a:r>
              <a:rPr sz="1300" b="1" dirty="0">
                <a:solidFill>
                  <a:srgbClr val="000000"/>
                </a:solidFill>
                <a:latin typeface="Arial"/>
              </a:rPr>
              <a:t>NOMBRE DEL ESTUDIANTE</a:t>
            </a:r>
          </a:p>
          <a:p>
            <a:pPr algn="ctr"/>
            <a:r>
              <a:rPr sz="1500" b="0" dirty="0">
                <a:solidFill>
                  <a:srgbClr val="000000"/>
                </a:solidFill>
                <a:latin typeface="Arial"/>
              </a:rPr>
              <a:t>EDDI URIEL CASTILLO SÁNCHEZ</a:t>
            </a:r>
          </a:p>
          <a:p>
            <a:pPr algn="ctr"/>
            <a:endParaRPr sz="1500" b="0" dirty="0">
              <a:solidFill>
                <a:srgbClr val="000000"/>
              </a:solidFill>
              <a:latin typeface="Arial"/>
            </a:endParaRPr>
          </a:p>
          <a:p>
            <a:pPr algn="ctr"/>
            <a:r>
              <a:rPr sz="1300" b="1" dirty="0">
                <a:solidFill>
                  <a:srgbClr val="000000"/>
                </a:solidFill>
                <a:latin typeface="Arial"/>
              </a:rPr>
              <a:t>CARRERA</a:t>
            </a:r>
          </a:p>
          <a:p>
            <a:pPr algn="ctr"/>
            <a:r>
              <a:rPr sz="1500" b="0" dirty="0">
                <a:solidFill>
                  <a:srgbClr val="000000"/>
                </a:solidFill>
                <a:latin typeface="Arial"/>
              </a:rPr>
              <a:t>INGENIERÍA EN SISTEMAS COMPUTACIONALES</a:t>
            </a:r>
          </a:p>
          <a:p>
            <a:pPr algn="ctr"/>
            <a:endParaRPr sz="1500" b="0" dirty="0">
              <a:solidFill>
                <a:srgbClr val="000000"/>
              </a:solidFill>
              <a:latin typeface="Arial"/>
            </a:endParaRPr>
          </a:p>
          <a:p>
            <a:pPr algn="ctr"/>
            <a:r>
              <a:rPr sz="1300" b="1" dirty="0">
                <a:solidFill>
                  <a:srgbClr val="000000"/>
                </a:solidFill>
                <a:latin typeface="Arial"/>
              </a:rPr>
              <a:t>SEMESTRE</a:t>
            </a:r>
          </a:p>
          <a:p>
            <a:pPr algn="ctr"/>
            <a:r>
              <a:rPr sz="1500" b="0" dirty="0">
                <a:solidFill>
                  <a:srgbClr val="000000"/>
                </a:solidFill>
                <a:latin typeface="Arial"/>
              </a:rPr>
              <a:t>SÉPTIMO SEMESTRE</a:t>
            </a:r>
          </a:p>
          <a:p>
            <a:pPr algn="ctr"/>
            <a:endParaRPr sz="1500" b="0" dirty="0">
              <a:solidFill>
                <a:srgbClr val="000000"/>
              </a:solidFill>
              <a:latin typeface="Arial"/>
            </a:endParaRPr>
          </a:p>
          <a:p>
            <a:pPr algn="ctr"/>
            <a:r>
              <a:rPr sz="1300" b="1" dirty="0">
                <a:solidFill>
                  <a:srgbClr val="000000"/>
                </a:solidFill>
                <a:latin typeface="Arial"/>
              </a:rPr>
              <a:t>NOMBRE DEL DOCENTE</a:t>
            </a:r>
          </a:p>
          <a:p>
            <a:pPr algn="ctr"/>
            <a:r>
              <a:rPr sz="1500" b="0" dirty="0">
                <a:solidFill>
                  <a:srgbClr val="000000"/>
                </a:solidFill>
                <a:latin typeface="Arial"/>
              </a:rPr>
              <a:t>Ing. Javier Francisco Mingo Velázquez</a:t>
            </a:r>
          </a:p>
          <a:p>
            <a:pPr algn="ctr"/>
            <a:endParaRPr sz="1500" b="0" dirty="0">
              <a:solidFill>
                <a:srgbClr val="000000"/>
              </a:solidFill>
              <a:latin typeface="Arial"/>
            </a:endParaRPr>
          </a:p>
          <a:p>
            <a:pPr algn="ctr"/>
            <a:r>
              <a:rPr sz="1300" b="1" dirty="0">
                <a:solidFill>
                  <a:srgbClr val="000000"/>
                </a:solidFill>
                <a:latin typeface="Arial"/>
              </a:rPr>
              <a:t>NOMBRE DEL TRABAJO</a:t>
            </a:r>
          </a:p>
          <a:p>
            <a:pPr algn="ctr"/>
            <a:r>
              <a:rPr sz="1500" b="0" dirty="0" err="1">
                <a:solidFill>
                  <a:srgbClr val="000000"/>
                </a:solidFill>
                <a:latin typeface="Arial"/>
              </a:rPr>
              <a:t>Actividad</a:t>
            </a:r>
            <a:r>
              <a:rPr sz="1500" b="0" dirty="0">
                <a:solidFill>
                  <a:srgbClr val="000000"/>
                </a:solidFill>
                <a:latin typeface="Arial"/>
              </a:rPr>
              <a:t> 4.</a:t>
            </a:r>
            <a:r>
              <a:rPr lang="es-MX" sz="1500" b="0" dirty="0">
                <a:solidFill>
                  <a:srgbClr val="000000"/>
                </a:solidFill>
                <a:latin typeface="Arial"/>
              </a:rPr>
              <a:t>3</a:t>
            </a:r>
            <a:r>
              <a:rPr sz="1500" b="0" dirty="0">
                <a:solidFill>
                  <a:srgbClr val="000000"/>
                </a:solidFill>
                <a:latin typeface="Arial"/>
              </a:rPr>
              <a:t> Banco de </a:t>
            </a:r>
            <a:r>
              <a:rPr sz="1500" b="0" dirty="0" err="1">
                <a:solidFill>
                  <a:srgbClr val="000000"/>
                </a:solidFill>
                <a:latin typeface="Arial"/>
              </a:rPr>
              <a:t>ejercicios</a:t>
            </a:r>
            <a:endParaRPr sz="1500" b="0" dirty="0">
              <a:solidFill>
                <a:srgbClr val="000000"/>
              </a:solidFill>
              <a:latin typeface="Arial"/>
            </a:endParaRPr>
          </a:p>
          <a:p>
            <a:pPr algn="ctr"/>
            <a:endParaRPr sz="1500" b="0" dirty="0">
              <a:solidFill>
                <a:srgbClr val="000000"/>
              </a:solidFill>
              <a:latin typeface="Arial"/>
            </a:endParaRPr>
          </a:p>
          <a:p>
            <a:pPr algn="ctr"/>
            <a:r>
              <a:rPr sz="1300" b="1" dirty="0">
                <a:solidFill>
                  <a:srgbClr val="000000"/>
                </a:solidFill>
                <a:latin typeface="Arial"/>
              </a:rPr>
              <a:t>LUGAR Y FECHA</a:t>
            </a:r>
          </a:p>
          <a:p>
            <a:pPr algn="ctr"/>
            <a:r>
              <a:rPr sz="1500" b="0" dirty="0">
                <a:solidFill>
                  <a:srgbClr val="000000"/>
                </a:solidFill>
                <a:latin typeface="Arial"/>
              </a:rPr>
              <a:t>Frontera </a:t>
            </a:r>
            <a:r>
              <a:rPr sz="1500" b="0" dirty="0" err="1">
                <a:solidFill>
                  <a:srgbClr val="000000"/>
                </a:solidFill>
                <a:latin typeface="Arial"/>
              </a:rPr>
              <a:t>Comalapa</a:t>
            </a:r>
            <a:r>
              <a:rPr sz="1500" b="0" dirty="0">
                <a:solidFill>
                  <a:srgbClr val="000000"/>
                </a:solidFill>
                <a:latin typeface="Arial"/>
              </a:rPr>
              <a:t>, Chiapas 1</a:t>
            </a:r>
            <a:r>
              <a:rPr lang="es-MX" sz="1500" b="0">
                <a:solidFill>
                  <a:srgbClr val="000000"/>
                </a:solidFill>
                <a:latin typeface="Arial"/>
              </a:rPr>
              <a:t>9</a:t>
            </a:r>
            <a:r>
              <a:rPr sz="1500" b="0">
                <a:solidFill>
                  <a:srgbClr val="000000"/>
                </a:solidFill>
                <a:latin typeface="Arial"/>
              </a:rPr>
              <a:t> </a:t>
            </a:r>
            <a:r>
              <a:rPr sz="1500" b="0" dirty="0">
                <a:solidFill>
                  <a:srgbClr val="000000"/>
                </a:solidFill>
                <a:latin typeface="Arial"/>
              </a:rPr>
              <a:t>de </a:t>
            </a:r>
            <a:r>
              <a:rPr sz="1500" b="0" dirty="0" err="1">
                <a:solidFill>
                  <a:srgbClr val="000000"/>
                </a:solidFill>
                <a:latin typeface="Arial"/>
              </a:rPr>
              <a:t>septiembre</a:t>
            </a:r>
            <a:r>
              <a:rPr sz="1500" b="0" dirty="0">
                <a:solidFill>
                  <a:srgbClr val="000000"/>
                </a:solidFill>
                <a:latin typeface="Arial"/>
              </a:rPr>
              <a:t> de 2026</a:t>
            </a:r>
          </a:p>
        </p:txBody>
      </p:sp>
      <p:sp>
        <p:nvSpPr>
          <p:cNvPr id="8" name="TextBox 7"/>
          <p:cNvSpPr txBox="1"/>
          <p:nvPr/>
        </p:nvSpPr>
        <p:spPr>
          <a:xfrm>
            <a:off x="11567160" y="6400800"/>
            <a:ext cx="228600" cy="182880"/>
          </a:xfrm>
          <a:prstGeom prst="rect">
            <a:avLst/>
          </a:prstGeom>
          <a:noFill/>
        </p:spPr>
        <p:txBody>
          <a:bodyPr wrap="square">
            <a:spAutoFit/>
          </a:bodyPr>
          <a:lstStyle/>
          <a:p>
            <a:pPr algn="l">
              <a:defRPr sz="900">
                <a:solidFill>
                  <a:srgbClr val="5A5A5A"/>
                </a:solidFill>
                <a:latin typeface="Arial"/>
              </a:defRPr>
            </a:pPr>
            <a:r>
              <a:rPr sz="900">
                <a:solidFill>
                  <a:srgbClr val="000000"/>
                </a:solidFill>
                <a:latin typeface="Arial"/>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Rectangle 1"/>
          <p:cNvSpPr/>
          <p:nvPr/>
        </p:nvSpPr>
        <p:spPr>
          <a:xfrm>
            <a:off x="274320" y="228600"/>
            <a:ext cx="18288" cy="6172200"/>
          </a:xfrm>
          <a:prstGeom prst="rect">
            <a:avLst/>
          </a:prstGeom>
          <a:solidFill>
            <a:srgbClr val="A8A088"/>
          </a:solidFill>
          <a:ln>
            <a:solidFill>
              <a:srgbClr val="A8A0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0624" y="228600"/>
            <a:ext cx="13716" cy="6172200"/>
          </a:xfrm>
          <a:prstGeom prst="rect">
            <a:avLst/>
          </a:prstGeom>
          <a:solidFill>
            <a:srgbClr val="DDDDDD"/>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256032"/>
            <a:ext cx="10607040" cy="502920"/>
          </a:xfrm>
          <a:prstGeom prst="rect">
            <a:avLst/>
          </a:prstGeom>
          <a:noFill/>
        </p:spPr>
        <p:txBody>
          <a:bodyPr wrap="square">
            <a:spAutoFit/>
          </a:bodyPr>
          <a:lstStyle/>
          <a:p>
            <a:pPr algn="l"/>
            <a:r>
              <a:rPr sz="2200" b="1">
                <a:solidFill>
                  <a:srgbClr val="000000"/>
                </a:solidFill>
                <a:latin typeface="Arial"/>
              </a:rPr>
              <a:t>Introducción</a:t>
            </a:r>
          </a:p>
        </p:txBody>
      </p:sp>
      <p:sp>
        <p:nvSpPr>
          <p:cNvPr id="5" name="TextBox 4"/>
          <p:cNvSpPr txBox="1"/>
          <p:nvPr/>
        </p:nvSpPr>
        <p:spPr>
          <a:xfrm>
            <a:off x="868680" y="1051560"/>
            <a:ext cx="10424160" cy="2011680"/>
          </a:xfrm>
          <a:prstGeom prst="rect">
            <a:avLst/>
          </a:prstGeom>
          <a:noFill/>
        </p:spPr>
        <p:txBody>
          <a:bodyPr wrap="square" lIns="25400" tIns="12700" rIns="25400" bIns="12700">
            <a:normAutofit/>
          </a:bodyPr>
          <a:lstStyle/>
          <a:p>
            <a:pPr algn="l"/>
            <a:r>
              <a:rPr sz="1600">
                <a:solidFill>
                  <a:srgbClr val="000000"/>
                </a:solidFill>
                <a:latin typeface="Arial"/>
              </a:rPr>
              <a:t>El banco de ejercicios de la Unidad 4 se enfocó únicamente en la elaboración de cronogramas para los proyectos EstacionaTec, Rinconcito VC y LocalMarket. A través de estas actividades se buscó representar gráficamente la secuencia de tareas relacionadas con la gestión de riesgos, desde la identificación de amenazas hasta la revisión y documentación final. La finalidad fue reforzar el uso de ProjectLibre como herramienta de apoyo para la organización y seguimiento de actividades dentro de proyectos de TI.</a:t>
            </a:r>
          </a:p>
        </p:txBody>
      </p:sp>
      <p:sp>
        <p:nvSpPr>
          <p:cNvPr id="6" name="TextBox 5"/>
          <p:cNvSpPr txBox="1"/>
          <p:nvPr/>
        </p:nvSpPr>
        <p:spPr>
          <a:xfrm>
            <a:off x="868680" y="3657600"/>
            <a:ext cx="10241280" cy="457200"/>
          </a:xfrm>
          <a:prstGeom prst="rect">
            <a:avLst/>
          </a:prstGeom>
          <a:noFill/>
        </p:spPr>
        <p:txBody>
          <a:bodyPr wrap="square" lIns="25400" tIns="12700" rIns="25400" bIns="12700">
            <a:normAutofit/>
          </a:bodyPr>
          <a:lstStyle/>
          <a:p>
            <a:pPr algn="l"/>
            <a:endParaRPr sz="1200" b="1" dirty="0">
              <a:solidFill>
                <a:srgbClr val="27486E"/>
              </a:solidFill>
              <a:latin typeface="Arial"/>
            </a:endParaRPr>
          </a:p>
        </p:txBody>
      </p:sp>
      <p:sp>
        <p:nvSpPr>
          <p:cNvPr id="7" name="TextBox 6"/>
          <p:cNvSpPr txBox="1"/>
          <p:nvPr/>
        </p:nvSpPr>
        <p:spPr>
          <a:xfrm>
            <a:off x="11567160" y="6400800"/>
            <a:ext cx="228600" cy="164592"/>
          </a:xfrm>
          <a:prstGeom prst="rect">
            <a:avLst/>
          </a:prstGeom>
          <a:noFill/>
        </p:spPr>
        <p:txBody>
          <a:bodyPr wrap="square" lIns="25400" tIns="12700" rIns="25400" bIns="12700">
            <a:normAutofit/>
          </a:bodyPr>
          <a:lstStyle/>
          <a:p>
            <a:pPr algn="l"/>
            <a:r>
              <a:rPr sz="900">
                <a:solidFill>
                  <a:srgbClr val="000000"/>
                </a:solidFill>
                <a:latin typeface="Arial"/>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Rectangle 1"/>
          <p:cNvSpPr/>
          <p:nvPr/>
        </p:nvSpPr>
        <p:spPr>
          <a:xfrm>
            <a:off x="274320" y="228600"/>
            <a:ext cx="18288" cy="6172200"/>
          </a:xfrm>
          <a:prstGeom prst="rect">
            <a:avLst/>
          </a:prstGeom>
          <a:solidFill>
            <a:srgbClr val="A8A088"/>
          </a:solidFill>
          <a:ln>
            <a:solidFill>
              <a:srgbClr val="A8A0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0624" y="228600"/>
            <a:ext cx="13716" cy="6172200"/>
          </a:xfrm>
          <a:prstGeom prst="rect">
            <a:avLst/>
          </a:prstGeom>
          <a:solidFill>
            <a:srgbClr val="DDDDDD"/>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256032"/>
            <a:ext cx="10607040" cy="502920"/>
          </a:xfrm>
          <a:prstGeom prst="rect">
            <a:avLst/>
          </a:prstGeom>
          <a:noFill/>
        </p:spPr>
        <p:txBody>
          <a:bodyPr wrap="square">
            <a:spAutoFit/>
          </a:bodyPr>
          <a:lstStyle/>
          <a:p>
            <a:pPr algn="l"/>
            <a:r>
              <a:rPr sz="2200" b="1">
                <a:solidFill>
                  <a:srgbClr val="000000"/>
                </a:solidFill>
                <a:latin typeface="Arial"/>
              </a:rPr>
              <a:t>Justificación</a:t>
            </a:r>
          </a:p>
        </p:txBody>
      </p:sp>
      <p:sp>
        <p:nvSpPr>
          <p:cNvPr id="5" name="TextBox 4"/>
          <p:cNvSpPr txBox="1"/>
          <p:nvPr/>
        </p:nvSpPr>
        <p:spPr>
          <a:xfrm>
            <a:off x="868680" y="1051560"/>
            <a:ext cx="10424160" cy="2743200"/>
          </a:xfrm>
          <a:prstGeom prst="rect">
            <a:avLst/>
          </a:prstGeom>
          <a:noFill/>
        </p:spPr>
        <p:txBody>
          <a:bodyPr wrap="square" lIns="25400" tIns="12700" rIns="25400" bIns="12700">
            <a:normAutofit/>
          </a:bodyPr>
          <a:lstStyle/>
          <a:p>
            <a:pPr algn="l"/>
            <a:r>
              <a:rPr sz="1600">
                <a:solidFill>
                  <a:srgbClr val="000000"/>
                </a:solidFill>
                <a:latin typeface="Arial"/>
              </a:rPr>
              <a:t>Este banco de ejercicios se justifica porque permite practicar de manera aplicada la planeación del tiempo dentro de la gestión de riesgos. Al elaborar cronogramas para cada proyecto, se visualiza el orden de las actividades, la duración estimada de cada una y la relación entre tareas. De esta forma, los ejercicios ayudan a comprender cómo una adecuada organización contribuye al control del proyecto y a la atención oportuna de los riesgos identificados.</a:t>
            </a:r>
          </a:p>
        </p:txBody>
      </p:sp>
      <p:sp>
        <p:nvSpPr>
          <p:cNvPr id="6" name="TextBox 5"/>
          <p:cNvSpPr txBox="1"/>
          <p:nvPr/>
        </p:nvSpPr>
        <p:spPr>
          <a:xfrm>
            <a:off x="11567160" y="6400800"/>
            <a:ext cx="228600" cy="164592"/>
          </a:xfrm>
          <a:prstGeom prst="rect">
            <a:avLst/>
          </a:prstGeom>
          <a:noFill/>
        </p:spPr>
        <p:txBody>
          <a:bodyPr wrap="square" lIns="25400" tIns="12700" rIns="25400" bIns="12700">
            <a:normAutofit/>
          </a:bodyPr>
          <a:lstStyle/>
          <a:p>
            <a:pPr algn="l"/>
            <a:r>
              <a:rPr sz="900">
                <a:solidFill>
                  <a:srgbClr val="000000"/>
                </a:solidFill>
                <a:latin typeface="Arial"/>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Rectangle 1"/>
          <p:cNvSpPr/>
          <p:nvPr/>
        </p:nvSpPr>
        <p:spPr>
          <a:xfrm>
            <a:off x="274320" y="228600"/>
            <a:ext cx="18288" cy="6172200"/>
          </a:xfrm>
          <a:prstGeom prst="rect">
            <a:avLst/>
          </a:prstGeom>
          <a:solidFill>
            <a:srgbClr val="A8A088"/>
          </a:solidFill>
          <a:ln>
            <a:solidFill>
              <a:srgbClr val="A8A0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0624" y="228600"/>
            <a:ext cx="13716" cy="6172200"/>
          </a:xfrm>
          <a:prstGeom prst="rect">
            <a:avLst/>
          </a:prstGeom>
          <a:solidFill>
            <a:srgbClr val="DDDDDD"/>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256032"/>
            <a:ext cx="10607040" cy="502920"/>
          </a:xfrm>
          <a:prstGeom prst="rect">
            <a:avLst/>
          </a:prstGeom>
          <a:noFill/>
        </p:spPr>
        <p:txBody>
          <a:bodyPr wrap="square">
            <a:spAutoFit/>
          </a:bodyPr>
          <a:lstStyle/>
          <a:p>
            <a:pPr algn="l"/>
            <a:r>
              <a:rPr sz="2000" b="1">
                <a:solidFill>
                  <a:srgbClr val="000000"/>
                </a:solidFill>
                <a:latin typeface="Arial"/>
              </a:rPr>
              <a:t>Ejercicio 1. Cronograma de EstacionaTec</a:t>
            </a:r>
          </a:p>
        </p:txBody>
      </p:sp>
      <p:sp>
        <p:nvSpPr>
          <p:cNvPr id="7" name="TextBox 6"/>
          <p:cNvSpPr txBox="1"/>
          <p:nvPr/>
        </p:nvSpPr>
        <p:spPr>
          <a:xfrm>
            <a:off x="822960" y="4663440"/>
            <a:ext cx="9646920" cy="914400"/>
          </a:xfrm>
          <a:prstGeom prst="rect">
            <a:avLst/>
          </a:prstGeom>
          <a:noFill/>
        </p:spPr>
        <p:txBody>
          <a:bodyPr wrap="square" lIns="25400" tIns="12700" rIns="25400" bIns="12700">
            <a:normAutofit/>
          </a:bodyPr>
          <a:lstStyle/>
          <a:p>
            <a:pPr algn="l">
              <a:spcAft>
                <a:spcPts val="0"/>
              </a:spcAft>
            </a:pPr>
            <a:r>
              <a:rPr sz="1200">
                <a:solidFill>
                  <a:srgbClr val="000000"/>
                </a:solidFill>
                <a:latin typeface="Arial"/>
              </a:rPr>
              <a:t>Consigna: elaborar en ProjectLibre el cronograma del proyecto EstacionaTec, incluyendo actividades como identificación de riesgos, análisis cualitativo, análisis cuantitativo, estrategias de mitigación y revisión final.
Resultado: se obtuvo un cronograma ordenado que muestra la secuencia y duración de las tareas del proyecto.</a:t>
            </a:r>
          </a:p>
        </p:txBody>
      </p:sp>
      <p:pic>
        <p:nvPicPr>
          <p:cNvPr id="8" name="Picture 7" descr="EstacionaTec_Unidad4_ProjectLibre.png"/>
          <p:cNvPicPr>
            <a:picLocks noChangeAspect="1"/>
          </p:cNvPicPr>
          <p:nvPr/>
        </p:nvPicPr>
        <p:blipFill>
          <a:blip r:embed="rId2"/>
          <a:stretch>
            <a:fillRect/>
          </a:stretch>
        </p:blipFill>
        <p:spPr>
          <a:xfrm>
            <a:off x="658368" y="1078992"/>
            <a:ext cx="10012680" cy="3429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Rectangle 1"/>
          <p:cNvSpPr/>
          <p:nvPr/>
        </p:nvSpPr>
        <p:spPr>
          <a:xfrm>
            <a:off x="274320" y="228600"/>
            <a:ext cx="18288" cy="6172200"/>
          </a:xfrm>
          <a:prstGeom prst="rect">
            <a:avLst/>
          </a:prstGeom>
          <a:solidFill>
            <a:srgbClr val="A8A088"/>
          </a:solidFill>
          <a:ln>
            <a:solidFill>
              <a:srgbClr val="A8A0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0624" y="228600"/>
            <a:ext cx="13716" cy="6172200"/>
          </a:xfrm>
          <a:prstGeom prst="rect">
            <a:avLst/>
          </a:prstGeom>
          <a:solidFill>
            <a:srgbClr val="DDDDDD"/>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256032"/>
            <a:ext cx="10607040" cy="502920"/>
          </a:xfrm>
          <a:prstGeom prst="rect">
            <a:avLst/>
          </a:prstGeom>
          <a:noFill/>
        </p:spPr>
        <p:txBody>
          <a:bodyPr wrap="square">
            <a:spAutoFit/>
          </a:bodyPr>
          <a:lstStyle/>
          <a:p>
            <a:pPr algn="l"/>
            <a:r>
              <a:rPr sz="2000" b="1">
                <a:solidFill>
                  <a:srgbClr val="000000"/>
                </a:solidFill>
                <a:latin typeface="Arial"/>
              </a:rPr>
              <a:t>Ejercicio 2. Cronograma de Rinconcito VC</a:t>
            </a:r>
          </a:p>
        </p:txBody>
      </p:sp>
      <p:sp>
        <p:nvSpPr>
          <p:cNvPr id="7" name="TextBox 6"/>
          <p:cNvSpPr txBox="1"/>
          <p:nvPr/>
        </p:nvSpPr>
        <p:spPr>
          <a:xfrm>
            <a:off x="822960" y="4663440"/>
            <a:ext cx="9646920" cy="914400"/>
          </a:xfrm>
          <a:prstGeom prst="rect">
            <a:avLst/>
          </a:prstGeom>
          <a:noFill/>
        </p:spPr>
        <p:txBody>
          <a:bodyPr wrap="square" lIns="25400" tIns="12700" rIns="25400" bIns="12700">
            <a:normAutofit/>
          </a:bodyPr>
          <a:lstStyle/>
          <a:p>
            <a:pPr algn="l">
              <a:spcAft>
                <a:spcPts val="0"/>
              </a:spcAft>
            </a:pPr>
            <a:r>
              <a:rPr sz="1200">
                <a:solidFill>
                  <a:srgbClr val="000000"/>
                </a:solidFill>
                <a:latin typeface="Arial"/>
              </a:rPr>
              <a:t>Consigna: elaborar en ProjectLibre el cronograma del proyecto Rinconcito VC, considerando las actividades principales relacionadas con la gestión de riesgos del marketplace de café.
Resultado: se construyó un cronograma que organiza de forma clara el desarrollo de las actividades y facilita el seguimiento del proyecto.</a:t>
            </a:r>
          </a:p>
        </p:txBody>
      </p:sp>
      <p:pic>
        <p:nvPicPr>
          <p:cNvPr id="8" name="Picture 7" descr="Rinconcito_VC_Unidad4_ProjectLibre.png"/>
          <p:cNvPicPr>
            <a:picLocks noChangeAspect="1"/>
          </p:cNvPicPr>
          <p:nvPr/>
        </p:nvPicPr>
        <p:blipFill>
          <a:blip r:embed="rId2"/>
          <a:stretch>
            <a:fillRect/>
          </a:stretch>
        </p:blipFill>
        <p:spPr>
          <a:xfrm>
            <a:off x="658368" y="1078992"/>
            <a:ext cx="10012680" cy="3429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Rectangle 1"/>
          <p:cNvSpPr/>
          <p:nvPr/>
        </p:nvSpPr>
        <p:spPr>
          <a:xfrm>
            <a:off x="274320" y="228600"/>
            <a:ext cx="18288" cy="6172200"/>
          </a:xfrm>
          <a:prstGeom prst="rect">
            <a:avLst/>
          </a:prstGeom>
          <a:solidFill>
            <a:srgbClr val="A8A088"/>
          </a:solidFill>
          <a:ln>
            <a:solidFill>
              <a:srgbClr val="A8A0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0624" y="228600"/>
            <a:ext cx="13716" cy="6172200"/>
          </a:xfrm>
          <a:prstGeom prst="rect">
            <a:avLst/>
          </a:prstGeom>
          <a:solidFill>
            <a:srgbClr val="DDDDDD"/>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256032"/>
            <a:ext cx="10607040" cy="502920"/>
          </a:xfrm>
          <a:prstGeom prst="rect">
            <a:avLst/>
          </a:prstGeom>
          <a:noFill/>
        </p:spPr>
        <p:txBody>
          <a:bodyPr wrap="square">
            <a:spAutoFit/>
          </a:bodyPr>
          <a:lstStyle/>
          <a:p>
            <a:pPr algn="l"/>
            <a:r>
              <a:rPr sz="2000" b="1">
                <a:solidFill>
                  <a:srgbClr val="000000"/>
                </a:solidFill>
                <a:latin typeface="Arial"/>
              </a:rPr>
              <a:t>Ejercicio 3. Cronograma de LocalMarket</a:t>
            </a:r>
          </a:p>
        </p:txBody>
      </p:sp>
      <p:sp>
        <p:nvSpPr>
          <p:cNvPr id="7" name="TextBox 6"/>
          <p:cNvSpPr txBox="1"/>
          <p:nvPr/>
        </p:nvSpPr>
        <p:spPr>
          <a:xfrm>
            <a:off x="822960" y="4663440"/>
            <a:ext cx="9646920" cy="914400"/>
          </a:xfrm>
          <a:prstGeom prst="rect">
            <a:avLst/>
          </a:prstGeom>
          <a:noFill/>
        </p:spPr>
        <p:txBody>
          <a:bodyPr wrap="square" lIns="25400" tIns="12700" rIns="25400" bIns="12700">
            <a:normAutofit/>
          </a:bodyPr>
          <a:lstStyle/>
          <a:p>
            <a:pPr algn="l">
              <a:spcAft>
                <a:spcPts val="0"/>
              </a:spcAft>
            </a:pPr>
            <a:r>
              <a:rPr sz="1200">
                <a:solidFill>
                  <a:srgbClr val="000000"/>
                </a:solidFill>
                <a:latin typeface="Arial"/>
              </a:rPr>
              <a:t>Consigna: elaborar en ProjectLibre el cronograma del proyecto LocalMarket, integrando tareas de identificación de riesgos, análisis, estrategias de mitigación y cierre.
Resultado: se generó un cronograma que permite visualizar el tiempo estimado de trabajo, las dependencias y el orden de ejecución de las actividades.</a:t>
            </a:r>
          </a:p>
        </p:txBody>
      </p:sp>
      <p:pic>
        <p:nvPicPr>
          <p:cNvPr id="8" name="Picture 7" descr="LocalMarket_Unidad4_ProjectLibre.png"/>
          <p:cNvPicPr>
            <a:picLocks noChangeAspect="1"/>
          </p:cNvPicPr>
          <p:nvPr/>
        </p:nvPicPr>
        <p:blipFill>
          <a:blip r:embed="rId2"/>
          <a:stretch>
            <a:fillRect/>
          </a:stretch>
        </p:blipFill>
        <p:spPr>
          <a:xfrm>
            <a:off x="658368" y="1078992"/>
            <a:ext cx="10012680" cy="3429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1A33DDC4-0B20-F1CF-8593-2D1A36A96D98}"/>
              </a:ext>
            </a:extLst>
          </p:cNvPr>
          <p:cNvPicPr>
            <a:picLocks noChangeAspect="1"/>
          </p:cNvPicPr>
          <p:nvPr/>
        </p:nvPicPr>
        <p:blipFill>
          <a:blip r:embed="rId2"/>
          <a:stretch>
            <a:fillRect/>
          </a:stretch>
        </p:blipFill>
        <p:spPr>
          <a:xfrm>
            <a:off x="952500" y="0"/>
            <a:ext cx="10287000" cy="6858000"/>
          </a:xfrm>
          <a:prstGeom prst="rect">
            <a:avLst/>
          </a:prstGeom>
        </p:spPr>
      </p:pic>
    </p:spTree>
    <p:extLst>
      <p:ext uri="{BB962C8B-B14F-4D97-AF65-F5344CB8AC3E}">
        <p14:creationId xmlns:p14="http://schemas.microsoft.com/office/powerpoint/2010/main" val="130650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Rectangle 1"/>
          <p:cNvSpPr/>
          <p:nvPr/>
        </p:nvSpPr>
        <p:spPr>
          <a:xfrm>
            <a:off x="274320" y="228600"/>
            <a:ext cx="18288" cy="6172200"/>
          </a:xfrm>
          <a:prstGeom prst="rect">
            <a:avLst/>
          </a:prstGeom>
          <a:solidFill>
            <a:srgbClr val="A8A088"/>
          </a:solidFill>
          <a:ln>
            <a:solidFill>
              <a:srgbClr val="A8A0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0624" y="228600"/>
            <a:ext cx="13716" cy="6172200"/>
          </a:xfrm>
          <a:prstGeom prst="rect">
            <a:avLst/>
          </a:prstGeom>
          <a:solidFill>
            <a:srgbClr val="DDDDDD"/>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256032"/>
            <a:ext cx="10607040" cy="502920"/>
          </a:xfrm>
          <a:prstGeom prst="rect">
            <a:avLst/>
          </a:prstGeom>
          <a:noFill/>
        </p:spPr>
        <p:txBody>
          <a:bodyPr wrap="square">
            <a:spAutoFit/>
          </a:bodyPr>
          <a:lstStyle/>
          <a:p>
            <a:pPr algn="l"/>
            <a:r>
              <a:rPr sz="2200" b="1">
                <a:solidFill>
                  <a:srgbClr val="000000"/>
                </a:solidFill>
                <a:latin typeface="Arial"/>
              </a:rPr>
              <a:t>Conclusión</a:t>
            </a:r>
          </a:p>
        </p:txBody>
      </p:sp>
      <p:sp>
        <p:nvSpPr>
          <p:cNvPr id="5" name="TextBox 4"/>
          <p:cNvSpPr txBox="1"/>
          <p:nvPr/>
        </p:nvSpPr>
        <p:spPr>
          <a:xfrm>
            <a:off x="868680" y="1051560"/>
            <a:ext cx="10424160" cy="2743200"/>
          </a:xfrm>
          <a:prstGeom prst="rect">
            <a:avLst/>
          </a:prstGeom>
          <a:noFill/>
        </p:spPr>
        <p:txBody>
          <a:bodyPr wrap="square" lIns="25400" tIns="12700" rIns="25400" bIns="12700">
            <a:normAutofit/>
          </a:bodyPr>
          <a:lstStyle/>
          <a:p>
            <a:pPr algn="l"/>
            <a:r>
              <a:rPr sz="1600">
                <a:solidFill>
                  <a:srgbClr val="000000"/>
                </a:solidFill>
                <a:latin typeface="Arial"/>
              </a:rPr>
              <a:t>Al finalizar el banco de ejercicios se comprobó que la elaboración de cronogramas es una actividad útil para organizar proyectos de TI y relacionar la gestión de riesgos con la planeación del tiempo. Los cronogramas de EstacionaTec, Rinconcito VC y LocalMarket permitieron observar la secuencia de actividades, sus duraciones y el seguimiento general de cada proyecto. En conclusión, estos ejercicios fortalecen la comprensión del uso de ProjectLibre y apoyan una mejor organización del trabajo.</a:t>
            </a:r>
          </a:p>
        </p:txBody>
      </p:sp>
      <p:sp>
        <p:nvSpPr>
          <p:cNvPr id="6" name="TextBox 5"/>
          <p:cNvSpPr txBox="1"/>
          <p:nvPr/>
        </p:nvSpPr>
        <p:spPr>
          <a:xfrm>
            <a:off x="868680" y="5212080"/>
            <a:ext cx="10241280" cy="320040"/>
          </a:xfrm>
          <a:prstGeom prst="rect">
            <a:avLst/>
          </a:prstGeom>
          <a:noFill/>
        </p:spPr>
        <p:txBody>
          <a:bodyPr wrap="square" lIns="25400" tIns="12700" rIns="25400" bIns="12700">
            <a:normAutofit/>
          </a:bodyPr>
          <a:lstStyle/>
          <a:p>
            <a:pPr algn="l"/>
            <a:endParaRPr sz="1050" b="0" dirty="0">
              <a:solidFill>
                <a:srgbClr val="5F5F5F"/>
              </a:solidFill>
              <a:latin typeface="Arial"/>
            </a:endParaRPr>
          </a:p>
        </p:txBody>
      </p:sp>
      <p:sp>
        <p:nvSpPr>
          <p:cNvPr id="7" name="TextBox 6"/>
          <p:cNvSpPr txBox="1"/>
          <p:nvPr/>
        </p:nvSpPr>
        <p:spPr>
          <a:xfrm>
            <a:off x="11567160" y="6400800"/>
            <a:ext cx="228600" cy="164592"/>
          </a:xfrm>
          <a:prstGeom prst="rect">
            <a:avLst/>
          </a:prstGeom>
          <a:noFill/>
        </p:spPr>
        <p:txBody>
          <a:bodyPr wrap="square" lIns="25400" tIns="12700" rIns="25400" bIns="12700">
            <a:normAutofit/>
          </a:bodyPr>
          <a:lstStyle/>
          <a:p>
            <a:pPr algn="l"/>
            <a:r>
              <a:rPr sz="900">
                <a:solidFill>
                  <a:srgbClr val="000000"/>
                </a:solidFill>
                <a:latin typeface="Arial"/>
              </a:rPr>
              <a:t>7</a:t>
            </a:r>
          </a:p>
        </p:txBody>
      </p:sp>
    </p:spTree>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30</TotalTime>
  <Words>489</Words>
  <Application>Microsoft Office PowerPoint</Application>
  <PresentationFormat>Panorámica</PresentationFormat>
  <Paragraphs>39</Paragraphs>
  <Slides>8</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8</vt:i4>
      </vt:variant>
    </vt:vector>
  </HeadingPairs>
  <TitlesOfParts>
    <vt:vector size="12" baseType="lpstr">
      <vt:lpstr>Arial</vt:lpstr>
      <vt:lpstr>Trebuchet MS</vt:lpstr>
      <vt:lpstr>Wingdings 3</vt:lpstr>
      <vt:lpstr>Faceta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Eddi Castillo</dc:creator>
  <cp:keywords/>
  <dc:description>generated using python-pptx</dc:description>
  <cp:lastModifiedBy>eddi castillo</cp:lastModifiedBy>
  <cp:revision>3</cp:revision>
  <dcterms:created xsi:type="dcterms:W3CDTF">2013-01-27T09:14:16Z</dcterms:created>
  <dcterms:modified xsi:type="dcterms:W3CDTF">2026-09-21T07:54:52Z</dcterms:modified>
  <cp:category/>
</cp:coreProperties>
</file>