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18"/>
  </p:notesMasterIdLst>
  <p:sldIdLst>
    <p:sldId id="274"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3" r:id="rId16"/>
    <p:sldId id="272" r:id="rId1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4610"/>
  </p:normalViewPr>
  <p:slideViewPr>
    <p:cSldViewPr snapToGrid="0" snapToObjects="1">
      <p:cViewPr varScale="1">
        <p:scale>
          <a:sx n="82" d="100"/>
          <a:sy n="82"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572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2697117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171886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97006585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‹Nº›</a:t>
            </a:fld>
            <a:endParaRPr lang="en-US" dirty="0"/>
          </a:p>
        </p:txBody>
      </p:sp>
    </p:spTree>
    <p:extLst>
      <p:ext uri="{BB962C8B-B14F-4D97-AF65-F5344CB8AC3E}">
        <p14:creationId xmlns:p14="http://schemas.microsoft.com/office/powerpoint/2010/main" val="30997481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4398445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6009822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96415420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A54C80-263E-416B-A8E0-580EDEADCBDC}" type="datetimeFigureOut">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‹Nº›</a:t>
            </a:fld>
            <a:endParaRPr lang="en-US" dirty="0"/>
          </a:p>
        </p:txBody>
      </p:sp>
    </p:spTree>
    <p:extLst>
      <p:ext uri="{BB962C8B-B14F-4D97-AF65-F5344CB8AC3E}">
        <p14:creationId xmlns:p14="http://schemas.microsoft.com/office/powerpoint/2010/main" val="41827226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612432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926119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543269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09981140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318841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60480450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‹Nº›</a:t>
            </a:fld>
            <a:endParaRPr lang="en-US" dirty="0"/>
          </a:p>
        </p:txBody>
      </p:sp>
    </p:spTree>
    <p:extLst>
      <p:ext uri="{BB962C8B-B14F-4D97-AF65-F5344CB8AC3E}">
        <p14:creationId xmlns:p14="http://schemas.microsoft.com/office/powerpoint/2010/main" val="15228257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04157742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569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40116474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8" Type="http://schemas.openxmlformats.org/officeDocument/2006/relationships/hyperlink" Target="https://mrhien.info/blog/cai-dat-postgresql-9-tren-centos/" TargetMode="External"/><Relationship Id="rId3" Type="http://schemas.openxmlformats.org/officeDocument/2006/relationships/image" Target="../media/image4.png"/><Relationship Id="rId7"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hyperlink" Target="https://code.makery.ch/library/html-css/part1/" TargetMode="External"/><Relationship Id="rId5" Type="http://schemas.openxmlformats.org/officeDocument/2006/relationships/image" Target="../media/image5.png"/><Relationship Id="rId4" Type="http://schemas.openxmlformats.org/officeDocument/2006/relationships/hyperlink" Target="https://www.formacionprofesional.info/manual-en-pdf-de-ms-word-2007/"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7.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0ACF47F6-D6E6-F779-72D2-7998454BA259}"/>
              </a:ext>
            </a:extLst>
          </p:cNvPr>
          <p:cNvPicPr>
            <a:picLocks/>
          </p:cNvPicPr>
          <p:nvPr/>
        </p:nvPicPr>
        <p:blipFill>
          <a:blip r:embed="rId2" cstate="print"/>
          <a:stretch>
            <a:fillRect/>
          </a:stretch>
        </p:blipFill>
        <p:spPr>
          <a:xfrm>
            <a:off x="1070292" y="110606"/>
            <a:ext cx="2736215" cy="566420"/>
          </a:xfrm>
          <a:prstGeom prst="rect">
            <a:avLst/>
          </a:prstGeom>
        </p:spPr>
      </p:pic>
      <p:pic>
        <p:nvPicPr>
          <p:cNvPr id="3" name="Image 2">
            <a:extLst>
              <a:ext uri="{FF2B5EF4-FFF2-40B4-BE49-F238E27FC236}">
                <a16:creationId xmlns:a16="http://schemas.microsoft.com/office/drawing/2014/main" id="{59AB4131-ADA3-2181-5CA3-BCAE880BE235}"/>
              </a:ext>
            </a:extLst>
          </p:cNvPr>
          <p:cNvPicPr>
            <a:picLocks/>
          </p:cNvPicPr>
          <p:nvPr/>
        </p:nvPicPr>
        <p:blipFill>
          <a:blip r:embed="rId3" cstate="print"/>
          <a:stretch>
            <a:fillRect/>
          </a:stretch>
        </p:blipFill>
        <p:spPr>
          <a:xfrm>
            <a:off x="5673996" y="186547"/>
            <a:ext cx="1071880" cy="528320"/>
          </a:xfrm>
          <a:prstGeom prst="rect">
            <a:avLst/>
          </a:prstGeom>
        </p:spPr>
      </p:pic>
      <p:pic>
        <p:nvPicPr>
          <p:cNvPr id="4" name="Image 3">
            <a:extLst>
              <a:ext uri="{FF2B5EF4-FFF2-40B4-BE49-F238E27FC236}">
                <a16:creationId xmlns:a16="http://schemas.microsoft.com/office/drawing/2014/main" id="{6A94ADEF-8042-2861-DAA0-54A4A5B07478}"/>
              </a:ext>
            </a:extLst>
          </p:cNvPr>
          <p:cNvPicPr>
            <a:picLocks/>
          </p:cNvPicPr>
          <p:nvPr/>
        </p:nvPicPr>
        <p:blipFill>
          <a:blip r:embed="rId4" cstate="print"/>
          <a:stretch>
            <a:fillRect/>
          </a:stretch>
        </p:blipFill>
        <p:spPr>
          <a:xfrm>
            <a:off x="9179514" y="158891"/>
            <a:ext cx="756285" cy="523875"/>
          </a:xfrm>
          <a:prstGeom prst="rect">
            <a:avLst/>
          </a:prstGeom>
        </p:spPr>
      </p:pic>
      <p:sp>
        <p:nvSpPr>
          <p:cNvPr id="6" name="CuadroTexto 5">
            <a:extLst>
              <a:ext uri="{FF2B5EF4-FFF2-40B4-BE49-F238E27FC236}">
                <a16:creationId xmlns:a16="http://schemas.microsoft.com/office/drawing/2014/main" id="{FCACA373-3DDA-7FFB-7FA9-E80D6DB680E8}"/>
              </a:ext>
            </a:extLst>
          </p:cNvPr>
          <p:cNvSpPr txBox="1"/>
          <p:nvPr/>
        </p:nvSpPr>
        <p:spPr>
          <a:xfrm>
            <a:off x="1997945" y="753445"/>
            <a:ext cx="7625027" cy="5270674"/>
          </a:xfrm>
          <a:prstGeom prst="rect">
            <a:avLst/>
          </a:prstGeom>
          <a:noFill/>
        </p:spPr>
        <p:txBody>
          <a:bodyPr wrap="square">
            <a:spAutoFit/>
          </a:bodyPr>
          <a:lstStyle/>
          <a:p>
            <a:pPr marL="229870" marR="5080" algn="ctr">
              <a:spcBef>
                <a:spcPts val="1600"/>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NACIONAL</a:t>
            </a:r>
            <a:r>
              <a:rPr lang="en-US" sz="1200" b="1" spc="-7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3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MÉXICO</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75"/>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INSTITUTO</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6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4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FRONTERA</a:t>
            </a:r>
            <a:r>
              <a:rPr lang="en-US" sz="1200" b="1" spc="-9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COMALAPA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8890"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1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LA</a:t>
            </a:r>
            <a:r>
              <a:rPr lang="en-US" sz="1200" b="1" spc="-7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MATERIA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4445" algn="ctr">
              <a:spcBef>
                <a:spcPts val="650"/>
              </a:spcBef>
              <a:spcAft>
                <a:spcPts val="1000"/>
              </a:spcAft>
            </a:pPr>
            <a:r>
              <a:rPr lang="es-ES" sz="1200" dirty="0" err="1">
                <a:effectLst/>
                <a:latin typeface="Arial" panose="020B0604020202020204" pitchFamily="34" charset="0"/>
                <a:ea typeface="Arial" panose="020B0604020202020204" pitchFamily="34" charset="0"/>
                <a:cs typeface="Times New Roman" panose="02020603050405020304" pitchFamily="18" charset="0"/>
              </a:rPr>
              <a:t>Gestion</a:t>
            </a:r>
            <a:r>
              <a:rPr lang="es-ES" sz="1200" dirty="0">
                <a:effectLst/>
                <a:latin typeface="Arial" panose="020B0604020202020204" pitchFamily="34" charset="0"/>
                <a:ea typeface="Arial" panose="020B0604020202020204" pitchFamily="34" charset="0"/>
                <a:cs typeface="Times New Roman" panose="02020603050405020304" pitchFamily="18" charset="0"/>
              </a:rPr>
              <a:t> de proyectos de TI</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ESTUDIANTE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EDDI URIEL CASTILLO SÁNCHEZ</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CARRERA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INGENIERÍA</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EN</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SISTEMAS</a:t>
            </a:r>
            <a:r>
              <a:rPr lang="en-US" sz="1200" spc="5"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COMPUTACIONALES</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5715"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SÉPTIMO</a:t>
            </a:r>
            <a:r>
              <a:rPr lang="en-US" sz="1200"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DOCENTE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s-ES" sz="1200" dirty="0">
                <a:latin typeface="Arial" panose="020B0604020202020204" pitchFamily="34" charset="0"/>
                <a:ea typeface="Arial" panose="020B0604020202020204" pitchFamily="34" charset="0"/>
                <a:cs typeface="Times New Roman" panose="02020603050405020304" pitchFamily="18" charset="0"/>
              </a:rPr>
              <a:t>ING, Javier Francisco Mingo </a:t>
            </a:r>
            <a:r>
              <a:rPr lang="es-ES" sz="1200" dirty="0" err="1">
                <a:latin typeface="Arial" panose="020B0604020202020204" pitchFamily="34" charset="0"/>
                <a:ea typeface="Arial" panose="020B0604020202020204" pitchFamily="34" charset="0"/>
                <a:cs typeface="Times New Roman" panose="02020603050405020304" pitchFamily="18" charset="0"/>
              </a:rPr>
              <a:t>Velazquez</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TRABAJO</a:t>
            </a:r>
          </a:p>
          <a:p>
            <a:pPr algn="ctr"/>
            <a:r>
              <a:rPr lang="es-ES" sz="1400" b="0" i="0" dirty="0">
                <a:solidFill>
                  <a:srgbClr val="212529"/>
                </a:solidFill>
                <a:effectLst/>
                <a:latin typeface="-apple-system"/>
              </a:rPr>
              <a:t>Actividad 1.2 Reporte de practica</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LUGAR Y FECH</a:t>
            </a:r>
            <a:r>
              <a:rPr lang="en-US" sz="1200" b="1" dirty="0">
                <a:latin typeface="Arial" panose="020B0604020202020204" pitchFamily="34" charset="0"/>
                <a:ea typeface="Arial" panose="020B0604020202020204" pitchFamily="34" charset="0"/>
                <a:cs typeface="Times New Roman" panose="02020603050405020304" pitchFamily="18" charset="0"/>
              </a:rPr>
              <a:t>A</a:t>
            </a: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FRONTERA COMALAPA, CHIAPAS A 14  AGOSTO DEL 2026</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56922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Introducción</a:t>
            </a:r>
            <a:endParaRPr lang="en-US" sz="2500" dirty="0"/>
          </a:p>
        </p:txBody>
      </p:sp>
      <p:sp>
        <p:nvSpPr>
          <p:cNvPr id="4" name="Text 2"/>
          <p:cNvSpPr/>
          <p:nvPr/>
        </p:nvSpPr>
        <p:spPr>
          <a:xfrm>
            <a:off x="868680" y="1325880"/>
            <a:ext cx="10332720" cy="4297680"/>
          </a:xfrm>
          <a:prstGeom prst="rect">
            <a:avLst/>
          </a:prstGeom>
          <a:noFill/>
          <a:ln/>
        </p:spPr>
        <p:txBody>
          <a:bodyPr wrap="square" lIns="635" tIns="635" rIns="635" bIns="635" rtlCol="0" anchor="t">
            <a:normAutofit/>
          </a:bodyPr>
          <a:lstStyle/>
          <a:p>
            <a:pPr marL="0" indent="0">
              <a:buNone/>
            </a:pPr>
            <a:r>
              <a:rPr lang="en-US" sz="1900" dirty="0">
                <a:solidFill>
                  <a:srgbClr val="222222"/>
                </a:solidFill>
                <a:latin typeface="Arial" pitchFamily="34" charset="0"/>
                <a:ea typeface="Arial" pitchFamily="34" charset="-122"/>
                <a:cs typeface="Arial" pitchFamily="34" charset="-120"/>
              </a:rPr>
              <a:t>En esta práctica se trabajó la gestión inicial de tres proyectos de Tecnologías de la Información: EstacionaTEC, Rinconcito VC y LocalMarket. Para cada propuesta se completaron formularios que permitieron organizar la información general del proyecto, analizar el problema que se desea resolver, definir objetivos y establecer el alcance del sistema. La actividad ayudó a comprender que antes de desarrollar un proyecto tecnológico es necesario documentar sus necesidades, usuarios, recursos, limitaciones y resultados esperados, ya que esta información sirve como base para planear y controlar mejor su elaboración.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Justificación</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325880"/>
            <a:ext cx="10332720" cy="4297680"/>
          </a:xfrm>
          <a:prstGeom prst="rect">
            <a:avLst/>
          </a:prstGeom>
          <a:noFill/>
          <a:ln/>
        </p:spPr>
        <p:txBody>
          <a:bodyPr wrap="square" lIns="635" tIns="635" rIns="635" bIns="635" rtlCol="0" anchor="t">
            <a:normAutofit/>
          </a:bodyPr>
          <a:lstStyle/>
          <a:p>
            <a:pPr marL="0" indent="0">
              <a:buNone/>
            </a:pPr>
            <a:r>
              <a:rPr lang="en-US" sz="1900" dirty="0">
                <a:solidFill>
                  <a:srgbClr val="222222"/>
                </a:solidFill>
                <a:latin typeface="Arial" pitchFamily="34" charset="0"/>
                <a:ea typeface="Arial" pitchFamily="34" charset="-122"/>
                <a:cs typeface="Arial" pitchFamily="34" charset="-120"/>
              </a:rPr>
              <a:t>La práctica es importante porque permite aplicar de forma ordenada los elementos básicos de la gestión de proyectos de TI. Al llenar los formularios se identificaron aspectos esenciales como el propósito de cada proyecto, los recursos de software y hardware, la metodología de trabajo, los riesgos iniciales y los beneficios esperados. Esto evita comenzar un proyecto sin claridad y permite diferenciar cada propuesta de acuerdo con su necesidad principal, sus usuarios y su resultado final.</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Herramientas utilizadas</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261872"/>
            <a:ext cx="10287000" cy="507492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Microsoft Word: elaboración y llenado de los formularios de cada proyecto.</a:t>
            </a:r>
            <a:endParaRPr lang="en-US" sz="1700" dirty="0"/>
          </a:p>
          <a:p>
            <a:r>
              <a:rPr lang="en-US" sz="1700" dirty="0">
                <a:solidFill>
                  <a:srgbClr val="222222"/>
                </a:solidFill>
                <a:latin typeface="Arial" pitchFamily="34" charset="0"/>
                <a:ea typeface="Arial" pitchFamily="34" charset="-122"/>
                <a:cs typeface="Arial" pitchFamily="34" charset="-120"/>
              </a:rPr>
              <a:t>Microsoft PowerPoint: organización del reporte de práctica y presentación de evidencias.</a:t>
            </a:r>
            <a:endParaRPr lang="en-US" sz="1700" dirty="0"/>
          </a:p>
          <a:p>
            <a:r>
              <a:rPr lang="en-US" sz="1700" dirty="0">
                <a:solidFill>
                  <a:srgbClr val="222222"/>
                </a:solidFill>
                <a:latin typeface="Arial" pitchFamily="34" charset="0"/>
                <a:ea typeface="Arial" pitchFamily="34" charset="-122"/>
                <a:cs typeface="Arial" pitchFamily="34" charset="-120"/>
              </a:rPr>
              <a:t>Visual Studio Code: herramienta propuesta para el desarrollo de los sistemas web.</a:t>
            </a:r>
            <a:endParaRPr lang="en-US" sz="1700" dirty="0"/>
          </a:p>
          <a:p>
            <a:r>
              <a:rPr lang="en-US" sz="1700" dirty="0">
                <a:solidFill>
                  <a:srgbClr val="222222"/>
                </a:solidFill>
                <a:latin typeface="Arial" pitchFamily="34" charset="0"/>
                <a:ea typeface="Arial" pitchFamily="34" charset="-122"/>
                <a:cs typeface="Arial" pitchFamily="34" charset="-120"/>
              </a:rPr>
              <a:t>GitHub: control de versiones y respaldo de avances del proyecto.</a:t>
            </a:r>
            <a:endParaRPr lang="en-US" sz="1700" dirty="0"/>
          </a:p>
          <a:p>
            <a:r>
              <a:rPr lang="en-US" sz="1700" dirty="0">
                <a:solidFill>
                  <a:srgbClr val="222222"/>
                </a:solidFill>
                <a:latin typeface="Arial" pitchFamily="34" charset="0"/>
                <a:ea typeface="Arial" pitchFamily="34" charset="-122"/>
                <a:cs typeface="Arial" pitchFamily="34" charset="-120"/>
              </a:rPr>
              <a:t>PostgreSQL o MySQL: almacenamiento de usuarios, registros, productos, pedidos y movimientos.</a:t>
            </a:r>
            <a:endParaRPr lang="en-US" sz="1700" dirty="0"/>
          </a:p>
          <a:p>
            <a:r>
              <a:rPr lang="en-US" sz="1700" dirty="0">
                <a:solidFill>
                  <a:srgbClr val="222222"/>
                </a:solidFill>
                <a:latin typeface="Arial" pitchFamily="34" charset="0"/>
                <a:ea typeface="Arial" pitchFamily="34" charset="-122"/>
                <a:cs typeface="Arial" pitchFamily="34" charset="-120"/>
              </a:rPr>
              <a:t>Navegador web: pruebas de funcionamiento e interfaz de usuario.</a:t>
            </a:r>
            <a:endParaRPr lang="en-US" sz="1700" dirty="0"/>
          </a:p>
          <a:p>
            <a:r>
              <a:rPr lang="en-US" sz="1700" dirty="0">
                <a:solidFill>
                  <a:srgbClr val="222222"/>
                </a:solidFill>
                <a:latin typeface="Arial" pitchFamily="34" charset="0"/>
                <a:ea typeface="Arial" pitchFamily="34" charset="-122"/>
                <a:cs typeface="Arial" pitchFamily="34" charset="-120"/>
              </a:rPr>
              <a:t>Internet: búsqueda de información, consulta de referencias y conexión de las plataformas.</a:t>
            </a:r>
            <a:endParaRPr lang="en-US" sz="1700" dirty="0"/>
          </a:p>
        </p:txBody>
      </p:sp>
      <p:pic>
        <p:nvPicPr>
          <p:cNvPr id="6" name="Imagen 5">
            <a:extLst>
              <a:ext uri="{FF2B5EF4-FFF2-40B4-BE49-F238E27FC236}">
                <a16:creationId xmlns:a16="http://schemas.microsoft.com/office/drawing/2014/main" id="{63338D76-5F2F-14FB-D6CE-5CD31A96998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036320" y="3915579"/>
            <a:ext cx="1428750" cy="1428750"/>
          </a:xfrm>
          <a:prstGeom prst="rect">
            <a:avLst/>
          </a:prstGeom>
        </p:spPr>
      </p:pic>
      <p:pic>
        <p:nvPicPr>
          <p:cNvPr id="15" name="Imagen 14">
            <a:extLst>
              <a:ext uri="{FF2B5EF4-FFF2-40B4-BE49-F238E27FC236}">
                <a16:creationId xmlns:a16="http://schemas.microsoft.com/office/drawing/2014/main" id="{76376C8A-8525-074C-73B1-E781C884ACE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080589" y="4173009"/>
            <a:ext cx="1564433" cy="782217"/>
          </a:xfrm>
          <a:prstGeom prst="rect">
            <a:avLst/>
          </a:prstGeom>
        </p:spPr>
      </p:pic>
      <p:pic>
        <p:nvPicPr>
          <p:cNvPr id="18" name="Imagen 17">
            <a:extLst>
              <a:ext uri="{FF2B5EF4-FFF2-40B4-BE49-F238E27FC236}">
                <a16:creationId xmlns:a16="http://schemas.microsoft.com/office/drawing/2014/main" id="{2EACD761-10C2-6E27-AD47-B885648466AA}"/>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7474986" y="3920968"/>
            <a:ext cx="1564433" cy="12390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Paso 1. Revisión del formato de trabajo</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731520" y="1325880"/>
            <a:ext cx="5440680" cy="489204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Se revisó el formato de gestión de proyectos para conocer los apartados que debían completarse.</a:t>
            </a:r>
            <a:endParaRPr lang="en-US" sz="1700" dirty="0"/>
          </a:p>
          <a:p>
            <a:r>
              <a:rPr lang="en-US" sz="1700" dirty="0">
                <a:solidFill>
                  <a:srgbClr val="222222"/>
                </a:solidFill>
                <a:latin typeface="Arial" pitchFamily="34" charset="0"/>
                <a:ea typeface="Arial" pitchFamily="34" charset="-122"/>
                <a:cs typeface="Arial" pitchFamily="34" charset="-120"/>
              </a:rPr>
              <a:t>Se identificaron cuatro formularios principales: información general, problema y justificación, objetivos y alcance.</a:t>
            </a:r>
            <a:endParaRPr lang="en-US" sz="1700" dirty="0"/>
          </a:p>
          <a:p>
            <a:r>
              <a:rPr lang="en-US" sz="1700" dirty="0">
                <a:solidFill>
                  <a:srgbClr val="222222"/>
                </a:solidFill>
                <a:latin typeface="Arial" pitchFamily="34" charset="0"/>
                <a:ea typeface="Arial" pitchFamily="34" charset="-122"/>
                <a:cs typeface="Arial" pitchFamily="34" charset="-120"/>
              </a:rPr>
              <a:t>Antes de contestar, se definió que los tres proyectos fueran tecnológicos y relacionados con sistemas web.</a:t>
            </a:r>
            <a:endParaRPr lang="en-US" sz="1700" dirty="0"/>
          </a:p>
          <a:p>
            <a:r>
              <a:rPr lang="en-US" sz="1700" dirty="0">
                <a:solidFill>
                  <a:srgbClr val="222222"/>
                </a:solidFill>
                <a:latin typeface="Arial" pitchFamily="34" charset="0"/>
                <a:ea typeface="Arial" pitchFamily="34" charset="-122"/>
                <a:cs typeface="Arial" pitchFamily="34" charset="-120"/>
              </a:rPr>
              <a:t>Con esta revisión se evitó llenar información sin orden y se preparó una estructura común para los tres proyectos.</a:t>
            </a:r>
            <a:endParaRPr lang="en-US" sz="1700" dirty="0"/>
          </a:p>
        </p:txBody>
      </p:sp>
      <p:sp>
        <p:nvSpPr>
          <p:cNvPr id="6" name="Text 4"/>
          <p:cNvSpPr/>
          <p:nvPr/>
        </p:nvSpPr>
        <p:spPr>
          <a:xfrm>
            <a:off x="6720840" y="3360420"/>
            <a:ext cx="4434840" cy="685800"/>
          </a:xfrm>
          <a:prstGeom prst="rect">
            <a:avLst/>
          </a:prstGeom>
          <a:noFill/>
          <a:ln/>
        </p:spPr>
        <p:txBody>
          <a:bodyPr wrap="square" lIns="0" tIns="0" rIns="0" bIns="0" rtlCol="0" anchor="ctr"/>
          <a:lstStyle/>
          <a:p>
            <a:pPr marL="0" indent="0" algn="ctr">
              <a:buNone/>
            </a:pPr>
            <a:endParaRPr lang="en-US" sz="1700" dirty="0"/>
          </a:p>
        </p:txBody>
      </p:sp>
      <p:pic>
        <p:nvPicPr>
          <p:cNvPr id="8" name="Imagen 7">
            <a:extLst>
              <a:ext uri="{FF2B5EF4-FFF2-40B4-BE49-F238E27FC236}">
                <a16:creationId xmlns:a16="http://schemas.microsoft.com/office/drawing/2014/main" id="{1333E54E-47D0-E249-57AD-25A33DF193E6}"/>
              </a:ext>
            </a:extLst>
          </p:cNvPr>
          <p:cNvPicPr>
            <a:picLocks noChangeAspect="1"/>
          </p:cNvPicPr>
          <p:nvPr/>
        </p:nvPicPr>
        <p:blipFill>
          <a:blip r:embed="rId3"/>
          <a:stretch>
            <a:fillRect/>
          </a:stretch>
        </p:blipFill>
        <p:spPr>
          <a:xfrm>
            <a:off x="6172200" y="1325880"/>
            <a:ext cx="6075262" cy="34173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Paso 2. Selección de los tres proyectos</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731520" y="1325880"/>
            <a:ext cx="5440680" cy="489204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Se eligió EstacionaTEC como sistema para administrar estacionamientos de hoteles.</a:t>
            </a:r>
            <a:endParaRPr lang="en-US" sz="1700" dirty="0"/>
          </a:p>
          <a:p>
            <a:r>
              <a:rPr lang="en-US" sz="1700" dirty="0">
                <a:solidFill>
                  <a:srgbClr val="222222"/>
                </a:solidFill>
                <a:latin typeface="Arial" pitchFamily="34" charset="0"/>
                <a:ea typeface="Arial" pitchFamily="34" charset="-122"/>
                <a:cs typeface="Arial" pitchFamily="34" charset="-120"/>
              </a:rPr>
              <a:t>Se eligió Rinconcito VC como marketplace especializado en café natural.</a:t>
            </a:r>
            <a:endParaRPr lang="en-US" sz="1700" dirty="0"/>
          </a:p>
          <a:p>
            <a:r>
              <a:rPr lang="en-US" sz="1700" dirty="0">
                <a:solidFill>
                  <a:srgbClr val="222222"/>
                </a:solidFill>
                <a:latin typeface="Arial" pitchFamily="34" charset="0"/>
                <a:ea typeface="Arial" pitchFamily="34" charset="-122"/>
                <a:cs typeface="Arial" pitchFamily="34" charset="-120"/>
              </a:rPr>
              <a:t>Se eligió LocalMarket como plataforma general de compra y venta con entrega a domicilio.</a:t>
            </a:r>
            <a:endParaRPr lang="en-US" sz="1700" dirty="0"/>
          </a:p>
          <a:p>
            <a:r>
              <a:rPr lang="en-US" sz="1700" dirty="0">
                <a:solidFill>
                  <a:srgbClr val="222222"/>
                </a:solidFill>
                <a:latin typeface="Arial" pitchFamily="34" charset="0"/>
                <a:ea typeface="Arial" pitchFamily="34" charset="-122"/>
                <a:cs typeface="Arial" pitchFamily="34" charset="-120"/>
              </a:rPr>
              <a:t>Cada proyecto se pensó con un problema diferente para que el análisis no fuera repetido.</a:t>
            </a:r>
            <a:endParaRPr lang="en-US" sz="1700" dirty="0"/>
          </a:p>
        </p:txBody>
      </p:sp>
      <p:sp>
        <p:nvSpPr>
          <p:cNvPr id="6" name="Text 4"/>
          <p:cNvSpPr/>
          <p:nvPr/>
        </p:nvSpPr>
        <p:spPr>
          <a:xfrm>
            <a:off x="6720840" y="3360420"/>
            <a:ext cx="4434840" cy="685800"/>
          </a:xfrm>
          <a:prstGeom prst="rect">
            <a:avLst/>
          </a:prstGeom>
          <a:noFill/>
          <a:ln/>
        </p:spPr>
        <p:txBody>
          <a:bodyPr wrap="square" lIns="0" tIns="0" rIns="0" bIns="0" rtlCol="0" anchor="ctr"/>
          <a:lstStyle/>
          <a:p>
            <a:pPr marL="0" indent="0" algn="ctr">
              <a:buNone/>
            </a:pPr>
            <a:endParaRPr lang="en-US" sz="1700" dirty="0"/>
          </a:p>
        </p:txBody>
      </p:sp>
      <p:pic>
        <p:nvPicPr>
          <p:cNvPr id="10" name="Imagen 9">
            <a:extLst>
              <a:ext uri="{FF2B5EF4-FFF2-40B4-BE49-F238E27FC236}">
                <a16:creationId xmlns:a16="http://schemas.microsoft.com/office/drawing/2014/main" id="{C14E0299-0DB1-40FD-7297-6D3F263D881E}"/>
              </a:ext>
            </a:extLst>
          </p:cNvPr>
          <p:cNvPicPr>
            <a:picLocks noChangeAspect="1"/>
          </p:cNvPicPr>
          <p:nvPr/>
        </p:nvPicPr>
        <p:blipFill>
          <a:blip r:embed="rId3"/>
          <a:stretch>
            <a:fillRect/>
          </a:stretch>
        </p:blipFill>
        <p:spPr>
          <a:xfrm>
            <a:off x="685800" y="3703320"/>
            <a:ext cx="3626277" cy="2724348"/>
          </a:xfrm>
          <a:prstGeom prst="rect">
            <a:avLst/>
          </a:prstGeom>
        </p:spPr>
      </p:pic>
      <p:pic>
        <p:nvPicPr>
          <p:cNvPr id="12" name="Imagen 11">
            <a:extLst>
              <a:ext uri="{FF2B5EF4-FFF2-40B4-BE49-F238E27FC236}">
                <a16:creationId xmlns:a16="http://schemas.microsoft.com/office/drawing/2014/main" id="{84F536B4-E4FD-48D0-EAF5-F37C1C09B606}"/>
              </a:ext>
            </a:extLst>
          </p:cNvPr>
          <p:cNvPicPr>
            <a:picLocks noChangeAspect="1"/>
          </p:cNvPicPr>
          <p:nvPr/>
        </p:nvPicPr>
        <p:blipFill>
          <a:blip r:embed="rId4"/>
          <a:stretch>
            <a:fillRect/>
          </a:stretch>
        </p:blipFill>
        <p:spPr>
          <a:xfrm>
            <a:off x="3899717" y="3611879"/>
            <a:ext cx="3443474" cy="2697036"/>
          </a:xfrm>
          <a:prstGeom prst="rect">
            <a:avLst/>
          </a:prstGeom>
        </p:spPr>
      </p:pic>
      <p:pic>
        <p:nvPicPr>
          <p:cNvPr id="14" name="Imagen 13">
            <a:extLst>
              <a:ext uri="{FF2B5EF4-FFF2-40B4-BE49-F238E27FC236}">
                <a16:creationId xmlns:a16="http://schemas.microsoft.com/office/drawing/2014/main" id="{9F9F309D-E27C-1722-5DB8-447D54BDD73E}"/>
              </a:ext>
            </a:extLst>
          </p:cNvPr>
          <p:cNvPicPr>
            <a:picLocks noChangeAspect="1"/>
          </p:cNvPicPr>
          <p:nvPr/>
        </p:nvPicPr>
        <p:blipFill>
          <a:blip r:embed="rId5"/>
          <a:stretch>
            <a:fillRect/>
          </a:stretch>
        </p:blipFill>
        <p:spPr>
          <a:xfrm>
            <a:off x="7891831" y="3487394"/>
            <a:ext cx="4042750" cy="27305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Paso 3. Formulario de información general</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731520" y="1325880"/>
            <a:ext cx="5440680" cy="489204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En este formulario se colocó el nombre del proyecto, empresa, área responsable, integrante y fechas estimadas.</a:t>
            </a:r>
            <a:endParaRPr lang="en-US" sz="1700" dirty="0"/>
          </a:p>
          <a:p>
            <a:r>
              <a:rPr lang="en-US" sz="1700" dirty="0">
                <a:solidFill>
                  <a:srgbClr val="222222"/>
                </a:solidFill>
                <a:latin typeface="Arial" pitchFamily="34" charset="0"/>
                <a:ea typeface="Arial" pitchFamily="34" charset="-122"/>
                <a:cs typeface="Arial" pitchFamily="34" charset="-120"/>
              </a:rPr>
              <a:t>También se redactó en qué consiste cada proyecto, qué se pretende realizar, a quién va dirigido y dónde se implementará.</a:t>
            </a:r>
            <a:endParaRPr lang="en-US" sz="1700" dirty="0"/>
          </a:p>
          <a:p>
            <a:r>
              <a:rPr lang="en-US" sz="1700" dirty="0">
                <a:solidFill>
                  <a:srgbClr val="222222"/>
                </a:solidFill>
                <a:latin typeface="Arial" pitchFamily="34" charset="0"/>
                <a:ea typeface="Arial" pitchFamily="34" charset="-122"/>
                <a:cs typeface="Arial" pitchFamily="34" charset="-120"/>
              </a:rPr>
              <a:t>Después se indicó el tipo de proyecto, la metodología y los recursos principales.</a:t>
            </a:r>
            <a:endParaRPr lang="en-US" sz="1700" dirty="0"/>
          </a:p>
          <a:p>
            <a:r>
              <a:rPr lang="en-US" sz="1700" dirty="0">
                <a:solidFill>
                  <a:srgbClr val="222222"/>
                </a:solidFill>
                <a:latin typeface="Arial" pitchFamily="34" charset="0"/>
                <a:ea typeface="Arial" pitchFamily="34" charset="-122"/>
                <a:cs typeface="Arial" pitchFamily="34" charset="-120"/>
              </a:rPr>
              <a:t>Este paso permitió dejar clara la idea inicial de EstacionaTEC, Rinconcito VC y LocalMarket.</a:t>
            </a:r>
            <a:endParaRPr lang="en-US" sz="1700" dirty="0"/>
          </a:p>
        </p:txBody>
      </p:sp>
      <p:sp>
        <p:nvSpPr>
          <p:cNvPr id="6" name="Text 4"/>
          <p:cNvSpPr/>
          <p:nvPr/>
        </p:nvSpPr>
        <p:spPr>
          <a:xfrm>
            <a:off x="6720840" y="3360420"/>
            <a:ext cx="4434840" cy="685800"/>
          </a:xfrm>
          <a:prstGeom prst="rect">
            <a:avLst/>
          </a:prstGeom>
          <a:noFill/>
          <a:ln/>
        </p:spPr>
        <p:txBody>
          <a:bodyPr wrap="square" lIns="0" tIns="0" rIns="0" bIns="0" rtlCol="0" anchor="ctr"/>
          <a:lstStyle/>
          <a:p>
            <a:pPr marL="0" indent="0" algn="ctr">
              <a:buNone/>
            </a:pPr>
            <a:endParaRPr lang="en-US" sz="1700" dirty="0"/>
          </a:p>
        </p:txBody>
      </p:sp>
      <p:pic>
        <p:nvPicPr>
          <p:cNvPr id="8" name="Imagen 7">
            <a:extLst>
              <a:ext uri="{FF2B5EF4-FFF2-40B4-BE49-F238E27FC236}">
                <a16:creationId xmlns:a16="http://schemas.microsoft.com/office/drawing/2014/main" id="{B3375FE0-A674-FA8D-93FE-9A3EB7C4301F}"/>
              </a:ext>
            </a:extLst>
          </p:cNvPr>
          <p:cNvPicPr>
            <a:picLocks noChangeAspect="1"/>
          </p:cNvPicPr>
          <p:nvPr/>
        </p:nvPicPr>
        <p:blipFill>
          <a:blip r:embed="rId3"/>
          <a:stretch>
            <a:fillRect/>
          </a:stretch>
        </p:blipFill>
        <p:spPr>
          <a:xfrm>
            <a:off x="4093806" y="4314583"/>
            <a:ext cx="4156788" cy="2208294"/>
          </a:xfrm>
          <a:prstGeom prst="rect">
            <a:avLst/>
          </a:prstGeom>
        </p:spPr>
      </p:pic>
      <p:pic>
        <p:nvPicPr>
          <p:cNvPr id="10" name="Imagen 9">
            <a:extLst>
              <a:ext uri="{FF2B5EF4-FFF2-40B4-BE49-F238E27FC236}">
                <a16:creationId xmlns:a16="http://schemas.microsoft.com/office/drawing/2014/main" id="{4B03C5A4-D744-C302-9D90-703FBAE9F600}"/>
              </a:ext>
            </a:extLst>
          </p:cNvPr>
          <p:cNvPicPr>
            <a:picLocks noChangeAspect="1"/>
          </p:cNvPicPr>
          <p:nvPr/>
        </p:nvPicPr>
        <p:blipFill>
          <a:blip r:embed="rId4"/>
          <a:stretch>
            <a:fillRect/>
          </a:stretch>
        </p:blipFill>
        <p:spPr>
          <a:xfrm>
            <a:off x="315848" y="4390940"/>
            <a:ext cx="3631001" cy="2055580"/>
          </a:xfrm>
          <a:prstGeom prst="rect">
            <a:avLst/>
          </a:prstGeom>
        </p:spPr>
      </p:pic>
      <p:pic>
        <p:nvPicPr>
          <p:cNvPr id="12" name="Imagen 11">
            <a:extLst>
              <a:ext uri="{FF2B5EF4-FFF2-40B4-BE49-F238E27FC236}">
                <a16:creationId xmlns:a16="http://schemas.microsoft.com/office/drawing/2014/main" id="{2249C9A2-2ACF-A29D-F3A2-E31C34BF3C82}"/>
              </a:ext>
            </a:extLst>
          </p:cNvPr>
          <p:cNvPicPr>
            <a:picLocks noChangeAspect="1"/>
          </p:cNvPicPr>
          <p:nvPr/>
        </p:nvPicPr>
        <p:blipFill>
          <a:blip r:embed="rId5"/>
          <a:stretch>
            <a:fillRect/>
          </a:stretch>
        </p:blipFill>
        <p:spPr>
          <a:xfrm>
            <a:off x="6869264" y="1246060"/>
            <a:ext cx="5507278" cy="27217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Paso 4. Formulario de problema y justificación</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731520" y="1325880"/>
            <a:ext cx="5440680" cy="489204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Se describió la situación actual que originó cada proyecto.</a:t>
            </a:r>
            <a:endParaRPr lang="en-US" sz="1700" dirty="0"/>
          </a:p>
          <a:p>
            <a:r>
              <a:rPr lang="en-US" sz="1700" dirty="0">
                <a:solidFill>
                  <a:srgbClr val="222222"/>
                </a:solidFill>
                <a:latin typeface="Arial" pitchFamily="34" charset="0"/>
                <a:ea typeface="Arial" pitchFamily="34" charset="-122"/>
                <a:cs typeface="Arial" pitchFamily="34" charset="-120"/>
              </a:rPr>
              <a:t>Se identificó el problema principal que se desea resolver.</a:t>
            </a:r>
            <a:endParaRPr lang="en-US" sz="1700" dirty="0"/>
          </a:p>
          <a:p>
            <a:r>
              <a:rPr lang="en-US" sz="1700" dirty="0">
                <a:solidFill>
                  <a:srgbClr val="222222"/>
                </a:solidFill>
                <a:latin typeface="Arial" pitchFamily="34" charset="0"/>
                <a:ea typeface="Arial" pitchFamily="34" charset="-122"/>
                <a:cs typeface="Arial" pitchFamily="34" charset="-120"/>
              </a:rPr>
              <a:t>Se redactaron causas, consecuencias, necesidad identificada, beneficios e impacto esperado.</a:t>
            </a:r>
            <a:endParaRPr lang="en-US" sz="1700" dirty="0"/>
          </a:p>
          <a:p>
            <a:r>
              <a:rPr lang="en-US" sz="1700" dirty="0">
                <a:solidFill>
                  <a:srgbClr val="222222"/>
                </a:solidFill>
                <a:latin typeface="Arial" pitchFamily="34" charset="0"/>
                <a:ea typeface="Arial" pitchFamily="34" charset="-122"/>
                <a:cs typeface="Arial" pitchFamily="34" charset="-120"/>
              </a:rPr>
              <a:t>También se anotaron riesgos iniciales relacionados con tiempo, presupuesto, recursos humanos y tecnología.</a:t>
            </a:r>
            <a:endParaRPr lang="en-US" sz="1700" dirty="0"/>
          </a:p>
        </p:txBody>
      </p:sp>
      <p:sp>
        <p:nvSpPr>
          <p:cNvPr id="6" name="Text 4"/>
          <p:cNvSpPr/>
          <p:nvPr/>
        </p:nvSpPr>
        <p:spPr>
          <a:xfrm>
            <a:off x="6720840" y="3360420"/>
            <a:ext cx="4434840" cy="685800"/>
          </a:xfrm>
          <a:prstGeom prst="rect">
            <a:avLst/>
          </a:prstGeom>
          <a:noFill/>
          <a:ln/>
        </p:spPr>
        <p:txBody>
          <a:bodyPr wrap="square" lIns="0" tIns="0" rIns="0" bIns="0" rtlCol="0" anchor="ctr"/>
          <a:lstStyle/>
          <a:p>
            <a:pPr marL="0" indent="0" algn="ctr">
              <a:buNone/>
            </a:pPr>
            <a:endParaRPr lang="en-US" sz="1700" dirty="0"/>
          </a:p>
        </p:txBody>
      </p:sp>
      <p:pic>
        <p:nvPicPr>
          <p:cNvPr id="8" name="Imagen 7">
            <a:extLst>
              <a:ext uri="{FF2B5EF4-FFF2-40B4-BE49-F238E27FC236}">
                <a16:creationId xmlns:a16="http://schemas.microsoft.com/office/drawing/2014/main" id="{4CDB8AB7-5BE5-305B-81FC-A5180419E46F}"/>
              </a:ext>
            </a:extLst>
          </p:cNvPr>
          <p:cNvPicPr>
            <a:picLocks noChangeAspect="1"/>
          </p:cNvPicPr>
          <p:nvPr/>
        </p:nvPicPr>
        <p:blipFill>
          <a:blip r:embed="rId3"/>
          <a:stretch>
            <a:fillRect/>
          </a:stretch>
        </p:blipFill>
        <p:spPr>
          <a:xfrm>
            <a:off x="6593344" y="1488211"/>
            <a:ext cx="4434838" cy="32852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Paso 5. Formulario de objetivos del proyecto</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731520" y="1325880"/>
            <a:ext cx="5440680" cy="489204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Se redactó un objetivo general para cada proyecto.</a:t>
            </a:r>
            <a:endParaRPr lang="en-US" sz="1700" dirty="0"/>
          </a:p>
          <a:p>
            <a:r>
              <a:rPr lang="en-US" sz="1700" dirty="0">
                <a:solidFill>
                  <a:srgbClr val="222222"/>
                </a:solidFill>
                <a:latin typeface="Arial" pitchFamily="34" charset="0"/>
                <a:ea typeface="Arial" pitchFamily="34" charset="-122"/>
                <a:cs typeface="Arial" pitchFamily="34" charset="-120"/>
              </a:rPr>
              <a:t>Se propusieron objetivos específicos que apoyan el logro del objetivo principal.</a:t>
            </a:r>
            <a:endParaRPr lang="en-US" sz="1700" dirty="0"/>
          </a:p>
          <a:p>
            <a:r>
              <a:rPr lang="en-US" sz="1700" dirty="0">
                <a:solidFill>
                  <a:srgbClr val="222222"/>
                </a:solidFill>
                <a:latin typeface="Arial" pitchFamily="34" charset="0"/>
                <a:ea typeface="Arial" pitchFamily="34" charset="-122"/>
                <a:cs typeface="Arial" pitchFamily="34" charset="-120"/>
              </a:rPr>
              <a:t>Se establecieron los resultados esperados al finalizar cada sistema.</a:t>
            </a:r>
            <a:endParaRPr lang="en-US" sz="1700" dirty="0"/>
          </a:p>
          <a:p>
            <a:r>
              <a:rPr lang="en-US" sz="1700" dirty="0">
                <a:solidFill>
                  <a:srgbClr val="222222"/>
                </a:solidFill>
                <a:latin typeface="Arial" pitchFamily="34" charset="0"/>
                <a:ea typeface="Arial" pitchFamily="34" charset="-122"/>
                <a:cs typeface="Arial" pitchFamily="34" charset="-120"/>
              </a:rPr>
              <a:t>Finalmente, se verificó que los objetivos fueran claros, alcanzables y relacionados con el problema.</a:t>
            </a:r>
            <a:endParaRPr lang="en-US" sz="1700" dirty="0"/>
          </a:p>
        </p:txBody>
      </p:sp>
      <p:sp>
        <p:nvSpPr>
          <p:cNvPr id="6" name="Text 4"/>
          <p:cNvSpPr/>
          <p:nvPr/>
        </p:nvSpPr>
        <p:spPr>
          <a:xfrm>
            <a:off x="6720840" y="3360420"/>
            <a:ext cx="4434840" cy="685800"/>
          </a:xfrm>
          <a:prstGeom prst="rect">
            <a:avLst/>
          </a:prstGeom>
          <a:noFill/>
          <a:ln/>
        </p:spPr>
        <p:txBody>
          <a:bodyPr wrap="square" lIns="0" tIns="0" rIns="0" bIns="0" rtlCol="0" anchor="ctr"/>
          <a:lstStyle/>
          <a:p>
            <a:pPr marL="0" indent="0" algn="ctr">
              <a:buNone/>
            </a:pPr>
            <a:endParaRPr lang="en-US" sz="1700" dirty="0"/>
          </a:p>
        </p:txBody>
      </p:sp>
      <p:pic>
        <p:nvPicPr>
          <p:cNvPr id="8" name="Imagen 7">
            <a:extLst>
              <a:ext uri="{FF2B5EF4-FFF2-40B4-BE49-F238E27FC236}">
                <a16:creationId xmlns:a16="http://schemas.microsoft.com/office/drawing/2014/main" id="{3DBCF4C2-AB47-99E3-F663-A4B1FEA3039C}"/>
              </a:ext>
            </a:extLst>
          </p:cNvPr>
          <p:cNvPicPr>
            <a:picLocks noChangeAspect="1"/>
          </p:cNvPicPr>
          <p:nvPr/>
        </p:nvPicPr>
        <p:blipFill>
          <a:blip r:embed="rId3"/>
          <a:stretch>
            <a:fillRect/>
          </a:stretch>
        </p:blipFill>
        <p:spPr>
          <a:xfrm>
            <a:off x="1393683" y="3360420"/>
            <a:ext cx="8154955" cy="3595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Paso 6. Formulario de alcance del proyecto</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731520" y="1325880"/>
            <a:ext cx="5440680" cy="4892040"/>
          </a:xfrm>
          <a:prstGeom prst="rect">
            <a:avLst/>
          </a:prstGeom>
          <a:noFill/>
          <a:ln/>
        </p:spPr>
        <p:txBody>
          <a:bodyPr wrap="square" lIns="635" tIns="635" rIns="635" bIns="635" rtlCol="0" anchor="t">
            <a:normAutofit/>
          </a:bodyPr>
          <a:lstStyle/>
          <a:p>
            <a:r>
              <a:rPr lang="en-US" sz="1700" dirty="0">
                <a:solidFill>
                  <a:srgbClr val="222222"/>
                </a:solidFill>
                <a:latin typeface="Arial" pitchFamily="34" charset="0"/>
                <a:ea typeface="Arial" pitchFamily="34" charset="-122"/>
                <a:cs typeface="Arial" pitchFamily="34" charset="-120"/>
              </a:rPr>
              <a:t>Se explicó hasta dónde llegará cada proyecto y qué cubrirá su primera versión.</a:t>
            </a:r>
            <a:endParaRPr lang="en-US" sz="1700" dirty="0"/>
          </a:p>
          <a:p>
            <a:r>
              <a:rPr lang="en-US" sz="1700" dirty="0">
                <a:solidFill>
                  <a:srgbClr val="222222"/>
                </a:solidFill>
                <a:latin typeface="Arial" pitchFamily="34" charset="0"/>
                <a:ea typeface="Arial" pitchFamily="34" charset="-122"/>
                <a:cs typeface="Arial" pitchFamily="34" charset="-120"/>
              </a:rPr>
              <a:t>Se indicaron los elementos incluidos, como usuarios, registros, catálogos, pedidos o historial.</a:t>
            </a:r>
            <a:endParaRPr lang="en-US" sz="1700" dirty="0"/>
          </a:p>
          <a:p>
            <a:r>
              <a:rPr lang="en-US" sz="1700" dirty="0">
                <a:solidFill>
                  <a:srgbClr val="222222"/>
                </a:solidFill>
                <a:latin typeface="Arial" pitchFamily="34" charset="0"/>
                <a:ea typeface="Arial" pitchFamily="34" charset="-122"/>
                <a:cs typeface="Arial" pitchFamily="34" charset="-120"/>
              </a:rPr>
              <a:t>Se definieron funciones principales y limitaciones.</a:t>
            </a:r>
            <a:endParaRPr lang="en-US" sz="1700" dirty="0"/>
          </a:p>
          <a:p>
            <a:r>
              <a:rPr lang="en-US" sz="1700" dirty="0">
                <a:solidFill>
                  <a:srgbClr val="222222"/>
                </a:solidFill>
                <a:latin typeface="Arial" pitchFamily="34" charset="0"/>
                <a:ea typeface="Arial" pitchFamily="34" charset="-122"/>
                <a:cs typeface="Arial" pitchFamily="34" charset="-120"/>
              </a:rPr>
              <a:t>También se aclaró qué aspectos quedan fuera del alcance para evitar confusión en la planeación.</a:t>
            </a:r>
            <a:endParaRPr lang="en-US" sz="1700" dirty="0"/>
          </a:p>
        </p:txBody>
      </p:sp>
      <p:sp>
        <p:nvSpPr>
          <p:cNvPr id="6" name="Text 4"/>
          <p:cNvSpPr/>
          <p:nvPr/>
        </p:nvSpPr>
        <p:spPr>
          <a:xfrm>
            <a:off x="6720840" y="3360420"/>
            <a:ext cx="4434840" cy="685800"/>
          </a:xfrm>
          <a:prstGeom prst="rect">
            <a:avLst/>
          </a:prstGeom>
          <a:noFill/>
          <a:ln/>
        </p:spPr>
        <p:txBody>
          <a:bodyPr wrap="square" lIns="0" tIns="0" rIns="0" bIns="0" rtlCol="0" anchor="ctr"/>
          <a:lstStyle/>
          <a:p>
            <a:pPr marL="0" indent="0" algn="ctr">
              <a:buNone/>
            </a:pPr>
            <a:endParaRPr lang="en-US" sz="1700" dirty="0"/>
          </a:p>
        </p:txBody>
      </p:sp>
      <p:pic>
        <p:nvPicPr>
          <p:cNvPr id="8" name="Imagen 7">
            <a:extLst>
              <a:ext uri="{FF2B5EF4-FFF2-40B4-BE49-F238E27FC236}">
                <a16:creationId xmlns:a16="http://schemas.microsoft.com/office/drawing/2014/main" id="{38EE9841-050C-D39B-8E39-AF36677AD6E3}"/>
              </a:ext>
            </a:extLst>
          </p:cNvPr>
          <p:cNvPicPr>
            <a:picLocks noChangeAspect="1"/>
          </p:cNvPicPr>
          <p:nvPr/>
        </p:nvPicPr>
        <p:blipFill>
          <a:blip r:embed="rId3"/>
          <a:stretch>
            <a:fillRect/>
          </a:stretch>
        </p:blipFill>
        <p:spPr>
          <a:xfrm>
            <a:off x="6172200" y="1811669"/>
            <a:ext cx="5681784" cy="40404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Herramientas del proyecto EstacionaTEC</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261872"/>
            <a:ext cx="10241280" cy="4983480"/>
          </a:xfrm>
          <a:prstGeom prst="rect">
            <a:avLst/>
          </a:prstGeom>
          <a:noFill/>
          <a:ln/>
        </p:spPr>
        <p:txBody>
          <a:bodyPr wrap="square" lIns="635" tIns="635" rIns="635" bIns="635" rtlCol="0" anchor="t">
            <a:normAutofit/>
          </a:bodyPr>
          <a:lstStyle/>
          <a:p>
            <a:r>
              <a:rPr lang="en-US" sz="1800" dirty="0">
                <a:solidFill>
                  <a:srgbClr val="222222"/>
                </a:solidFill>
                <a:latin typeface="Arial" pitchFamily="34" charset="0"/>
                <a:ea typeface="Arial" pitchFamily="34" charset="-122"/>
                <a:cs typeface="Arial" pitchFamily="34" charset="-120"/>
              </a:rPr>
              <a:t>Software propuesto: Visual Studio Code, Java, Spring Boot, HTML, CSS, JavaScript, PostgreSQL y GitHub.</a:t>
            </a:r>
            <a:endParaRPr lang="en-US" sz="1800" dirty="0"/>
          </a:p>
          <a:p>
            <a:r>
              <a:rPr lang="en-US" sz="1800" dirty="0">
                <a:solidFill>
                  <a:srgbClr val="222222"/>
                </a:solidFill>
                <a:latin typeface="Arial" pitchFamily="34" charset="0"/>
                <a:ea typeface="Arial" pitchFamily="34" charset="-122"/>
                <a:cs typeface="Arial" pitchFamily="34" charset="-120"/>
              </a:rPr>
              <a:t>Hardware necesario: computadora, servidor o equipo para alojar el sistema y conexión de red.</a:t>
            </a:r>
            <a:endParaRPr lang="en-US" sz="1800" dirty="0"/>
          </a:p>
          <a:p>
            <a:r>
              <a:rPr lang="en-US" sz="1800" dirty="0">
                <a:solidFill>
                  <a:srgbClr val="222222"/>
                </a:solidFill>
                <a:latin typeface="Arial" pitchFamily="34" charset="0"/>
                <a:ea typeface="Arial" pitchFamily="34" charset="-122"/>
                <a:cs typeface="Arial" pitchFamily="34" charset="-120"/>
              </a:rPr>
              <a:t>Usuarios principales: administrador del hotel, recepcionista y personal de vigilancia.</a:t>
            </a:r>
            <a:endParaRPr lang="en-US" sz="1800" dirty="0"/>
          </a:p>
          <a:p>
            <a:r>
              <a:rPr lang="en-US" sz="1800" dirty="0">
                <a:solidFill>
                  <a:srgbClr val="222222"/>
                </a:solidFill>
                <a:latin typeface="Arial" pitchFamily="34" charset="0"/>
                <a:ea typeface="Arial" pitchFamily="34" charset="-122"/>
                <a:cs typeface="Arial" pitchFamily="34" charset="-120"/>
              </a:rPr>
              <a:t>Metodología: Scrum, porque permite trabajar por etapas y realizar mejoras conforme avanza el sistema.</a:t>
            </a:r>
            <a:endParaRPr lang="en-US" sz="1800" dirty="0"/>
          </a:p>
          <a:p>
            <a:r>
              <a:rPr lang="en-US" sz="1800" dirty="0">
                <a:solidFill>
                  <a:srgbClr val="222222"/>
                </a:solidFill>
                <a:latin typeface="Arial" pitchFamily="34" charset="0"/>
                <a:ea typeface="Arial" pitchFamily="34" charset="-122"/>
                <a:cs typeface="Arial" pitchFamily="34" charset="-120"/>
              </a:rPr>
              <a:t>Funciones base: registro de vehículos, entrada, salida, disponibilidad de espacios e historial.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Herramientas del proyecto Rinconcito VC</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261872"/>
            <a:ext cx="10241280" cy="4983480"/>
          </a:xfrm>
          <a:prstGeom prst="rect">
            <a:avLst/>
          </a:prstGeom>
          <a:noFill/>
          <a:ln/>
        </p:spPr>
        <p:txBody>
          <a:bodyPr wrap="square" lIns="635" tIns="635" rIns="635" bIns="635" rtlCol="0" anchor="t">
            <a:normAutofit/>
          </a:bodyPr>
          <a:lstStyle/>
          <a:p>
            <a:r>
              <a:rPr lang="en-US" sz="1800" dirty="0">
                <a:solidFill>
                  <a:srgbClr val="222222"/>
                </a:solidFill>
                <a:latin typeface="Arial" pitchFamily="34" charset="0"/>
                <a:ea typeface="Arial" pitchFamily="34" charset="-122"/>
                <a:cs typeface="Arial" pitchFamily="34" charset="-120"/>
              </a:rPr>
              <a:t>Software propuesto: Visual Studio Code, HTML, CSS, JavaScript, framework web, PostgreSQL, GitHub y herramientas de diseño.</a:t>
            </a:r>
            <a:endParaRPr lang="en-US" sz="1800" dirty="0"/>
          </a:p>
          <a:p>
            <a:r>
              <a:rPr lang="en-US" sz="1800" dirty="0">
                <a:solidFill>
                  <a:srgbClr val="222222"/>
                </a:solidFill>
                <a:latin typeface="Arial" pitchFamily="34" charset="0"/>
                <a:ea typeface="Arial" pitchFamily="34" charset="-122"/>
                <a:cs typeface="Arial" pitchFamily="34" charset="-120"/>
              </a:rPr>
              <a:t>Hardware necesario: computadora, servidor de alojamiento y dispositivos móviles para pruebas.</a:t>
            </a:r>
            <a:endParaRPr lang="en-US" sz="1800" dirty="0"/>
          </a:p>
          <a:p>
            <a:r>
              <a:rPr lang="en-US" sz="1800" dirty="0">
                <a:solidFill>
                  <a:srgbClr val="222222"/>
                </a:solidFill>
                <a:latin typeface="Arial" pitchFamily="34" charset="0"/>
                <a:ea typeface="Arial" pitchFamily="34" charset="-122"/>
                <a:cs typeface="Arial" pitchFamily="34" charset="-120"/>
              </a:rPr>
              <a:t>Usuarios principales: productores de café, cafeterías, compradores y administrador de la plataforma.</a:t>
            </a:r>
            <a:endParaRPr lang="en-US" sz="1800" dirty="0"/>
          </a:p>
          <a:p>
            <a:r>
              <a:rPr lang="en-US" sz="1800" dirty="0">
                <a:solidFill>
                  <a:srgbClr val="222222"/>
                </a:solidFill>
                <a:latin typeface="Arial" pitchFamily="34" charset="0"/>
                <a:ea typeface="Arial" pitchFamily="34" charset="-122"/>
                <a:cs typeface="Arial" pitchFamily="34" charset="-120"/>
              </a:rPr>
              <a:t>Metodología: Scrum, ya que facilita revisar avances de registro, catálogo, verificación y pedidos.</a:t>
            </a:r>
            <a:endParaRPr lang="en-US" sz="1800" dirty="0"/>
          </a:p>
          <a:p>
            <a:r>
              <a:rPr lang="en-US" sz="1800" dirty="0">
                <a:solidFill>
                  <a:srgbClr val="222222"/>
                </a:solidFill>
                <a:latin typeface="Arial" pitchFamily="34" charset="0"/>
                <a:ea typeface="Arial" pitchFamily="34" charset="-122"/>
                <a:cs typeface="Arial" pitchFamily="34" charset="-120"/>
              </a:rPr>
              <a:t>Funciones base: registro de usuarios, verificación de vendedores, publicación de café, compras y seguimiento.</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Herramientas del proyecto LocalMarket</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261872"/>
            <a:ext cx="10241280" cy="4983480"/>
          </a:xfrm>
          <a:prstGeom prst="rect">
            <a:avLst/>
          </a:prstGeom>
          <a:noFill/>
          <a:ln/>
        </p:spPr>
        <p:txBody>
          <a:bodyPr wrap="square" lIns="635" tIns="635" rIns="635" bIns="635" rtlCol="0" anchor="t">
            <a:normAutofit/>
          </a:bodyPr>
          <a:lstStyle/>
          <a:p>
            <a:r>
              <a:rPr lang="en-US" sz="1800" dirty="0">
                <a:solidFill>
                  <a:srgbClr val="222222"/>
                </a:solidFill>
                <a:latin typeface="Arial" pitchFamily="34" charset="0"/>
                <a:ea typeface="Arial" pitchFamily="34" charset="-122"/>
                <a:cs typeface="Arial" pitchFamily="34" charset="-120"/>
              </a:rPr>
              <a:t>Software propuesto: Visual Studio Code, HTML, CSS, JavaScript, framework web, PostgreSQL, GitHub y navegador web.</a:t>
            </a:r>
            <a:endParaRPr lang="en-US" sz="1800" dirty="0"/>
          </a:p>
          <a:p>
            <a:r>
              <a:rPr lang="en-US" sz="1800" dirty="0">
                <a:solidFill>
                  <a:srgbClr val="222222"/>
                </a:solidFill>
                <a:latin typeface="Arial" pitchFamily="34" charset="0"/>
                <a:ea typeface="Arial" pitchFamily="34" charset="-122"/>
                <a:cs typeface="Arial" pitchFamily="34" charset="-120"/>
              </a:rPr>
              <a:t>Hardware necesario: computadora, servidor y dispositivos móviles para pruebas.</a:t>
            </a:r>
            <a:endParaRPr lang="en-US" sz="1800" dirty="0"/>
          </a:p>
          <a:p>
            <a:r>
              <a:rPr lang="en-US" sz="1800" dirty="0">
                <a:solidFill>
                  <a:srgbClr val="222222"/>
                </a:solidFill>
                <a:latin typeface="Arial" pitchFamily="34" charset="0"/>
                <a:ea typeface="Arial" pitchFamily="34" charset="-122"/>
                <a:cs typeface="Arial" pitchFamily="34" charset="-120"/>
              </a:rPr>
              <a:t>Usuarios principales: vendedores, compradores, administrador y personal encargado de entregas.</a:t>
            </a:r>
            <a:endParaRPr lang="en-US" sz="1800" dirty="0"/>
          </a:p>
          <a:p>
            <a:r>
              <a:rPr lang="en-US" sz="1800" dirty="0">
                <a:solidFill>
                  <a:srgbClr val="222222"/>
                </a:solidFill>
                <a:latin typeface="Arial" pitchFamily="34" charset="0"/>
                <a:ea typeface="Arial" pitchFamily="34" charset="-122"/>
                <a:cs typeface="Arial" pitchFamily="34" charset="-120"/>
              </a:rPr>
              <a:t>Metodología: Kanban, porque permite organizar tareas pendientes, en proceso y finalizadas.</a:t>
            </a:r>
            <a:endParaRPr lang="en-US" sz="1800" dirty="0"/>
          </a:p>
          <a:p>
            <a:r>
              <a:rPr lang="en-US" sz="1800" dirty="0">
                <a:solidFill>
                  <a:srgbClr val="222222"/>
                </a:solidFill>
                <a:latin typeface="Arial" pitchFamily="34" charset="0"/>
                <a:ea typeface="Arial" pitchFamily="34" charset="-122"/>
                <a:cs typeface="Arial" pitchFamily="34" charset="-120"/>
              </a:rPr>
              <a:t>Funciones base: publicación de productos, búsqueda, compras, pedidos, dirección y entrega a domicilio.</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Resultado final</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325880"/>
            <a:ext cx="10332720" cy="4389120"/>
          </a:xfrm>
          <a:prstGeom prst="rect">
            <a:avLst/>
          </a:prstGeom>
          <a:noFill/>
          <a:ln/>
        </p:spPr>
        <p:txBody>
          <a:bodyPr wrap="square" lIns="635" tIns="635" rIns="635" bIns="635" rtlCol="0" anchor="t">
            <a:normAutofit/>
          </a:bodyPr>
          <a:lstStyle/>
          <a:p>
            <a:r>
              <a:rPr lang="en-US" sz="1900" dirty="0">
                <a:solidFill>
                  <a:srgbClr val="222222"/>
                </a:solidFill>
                <a:latin typeface="Arial" pitchFamily="34" charset="0"/>
                <a:ea typeface="Arial" pitchFamily="34" charset="-122"/>
                <a:cs typeface="Arial" pitchFamily="34" charset="-120"/>
              </a:rPr>
              <a:t>Se completaron los formularios principales para los tres proyectos seleccionados.</a:t>
            </a:r>
            <a:endParaRPr lang="en-US" sz="1900" dirty="0"/>
          </a:p>
          <a:p>
            <a:r>
              <a:rPr lang="en-US" sz="1900" dirty="0">
                <a:solidFill>
                  <a:srgbClr val="222222"/>
                </a:solidFill>
                <a:latin typeface="Arial" pitchFamily="34" charset="0"/>
                <a:ea typeface="Arial" pitchFamily="34" charset="-122"/>
                <a:cs typeface="Arial" pitchFamily="34" charset="-120"/>
              </a:rPr>
              <a:t>Cada proyecto quedó definido con su problema, objetivos, alcance, recursos, metodología y resultado esperado.</a:t>
            </a:r>
            <a:endParaRPr lang="en-US" sz="1900" dirty="0"/>
          </a:p>
          <a:p>
            <a:r>
              <a:rPr lang="en-US" sz="1900" dirty="0">
                <a:solidFill>
                  <a:srgbClr val="222222"/>
                </a:solidFill>
                <a:latin typeface="Arial" pitchFamily="34" charset="0"/>
                <a:ea typeface="Arial" pitchFamily="34" charset="-122"/>
                <a:cs typeface="Arial" pitchFamily="34" charset="-120"/>
              </a:rPr>
              <a:t>Se identificaron diferencias entre los proyectos: EstacionaTEC controla estacionamientos, Rinconcito VC se enfoca en café y LocalMarket en ventas generales en línea.</a:t>
            </a:r>
            <a:endParaRPr lang="en-US" sz="1900" dirty="0"/>
          </a:p>
          <a:p>
            <a:r>
              <a:rPr lang="en-US" sz="1900" dirty="0">
                <a:solidFill>
                  <a:srgbClr val="222222"/>
                </a:solidFill>
                <a:latin typeface="Arial" pitchFamily="34" charset="0"/>
                <a:ea typeface="Arial" pitchFamily="34" charset="-122"/>
                <a:cs typeface="Arial" pitchFamily="34" charset="-120"/>
              </a:rPr>
              <a:t>El reporte dejó evidencia del proceso seguido para organizar la información de cada propuesta.</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20251"/>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Anexos de capturas</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5" name="Text 3"/>
          <p:cNvSpPr/>
          <p:nvPr/>
        </p:nvSpPr>
        <p:spPr>
          <a:xfrm>
            <a:off x="914400" y="2125980"/>
            <a:ext cx="4846320" cy="685800"/>
          </a:xfrm>
          <a:prstGeom prst="rect">
            <a:avLst/>
          </a:prstGeom>
          <a:noFill/>
          <a:ln/>
        </p:spPr>
        <p:txBody>
          <a:bodyPr wrap="square" lIns="0" tIns="0" rIns="0" bIns="0" rtlCol="0" anchor="ctr"/>
          <a:lstStyle/>
          <a:p>
            <a:pPr marL="0" indent="0" algn="ctr">
              <a:buNone/>
            </a:pPr>
            <a:endParaRPr lang="en-US" sz="1700" dirty="0"/>
          </a:p>
        </p:txBody>
      </p:sp>
      <p:sp>
        <p:nvSpPr>
          <p:cNvPr id="7" name="Text 5"/>
          <p:cNvSpPr/>
          <p:nvPr/>
        </p:nvSpPr>
        <p:spPr>
          <a:xfrm>
            <a:off x="6446520" y="2125980"/>
            <a:ext cx="4846320" cy="685800"/>
          </a:xfrm>
          <a:prstGeom prst="rect">
            <a:avLst/>
          </a:prstGeom>
          <a:noFill/>
          <a:ln/>
        </p:spPr>
        <p:txBody>
          <a:bodyPr wrap="square" lIns="0" tIns="0" rIns="0" bIns="0" rtlCol="0" anchor="ctr"/>
          <a:lstStyle/>
          <a:p>
            <a:pPr marL="0" indent="0" algn="ctr">
              <a:buNone/>
            </a:pPr>
            <a:endParaRPr lang="en-US" sz="1700" dirty="0"/>
          </a:p>
        </p:txBody>
      </p:sp>
      <p:sp>
        <p:nvSpPr>
          <p:cNvPr id="9" name="Text 7"/>
          <p:cNvSpPr/>
          <p:nvPr/>
        </p:nvSpPr>
        <p:spPr>
          <a:xfrm>
            <a:off x="914400" y="4503420"/>
            <a:ext cx="4846320" cy="685800"/>
          </a:xfrm>
          <a:prstGeom prst="rect">
            <a:avLst/>
          </a:prstGeom>
          <a:noFill/>
          <a:ln/>
        </p:spPr>
        <p:txBody>
          <a:bodyPr wrap="square" lIns="0" tIns="0" rIns="0" bIns="0" rtlCol="0" anchor="ctr"/>
          <a:lstStyle/>
          <a:p>
            <a:pPr marL="0" indent="0" algn="ctr">
              <a:buNone/>
            </a:pPr>
            <a:endParaRPr lang="en-US" sz="1700" dirty="0"/>
          </a:p>
        </p:txBody>
      </p:sp>
      <p:sp>
        <p:nvSpPr>
          <p:cNvPr id="11" name="Text 9"/>
          <p:cNvSpPr/>
          <p:nvPr/>
        </p:nvSpPr>
        <p:spPr>
          <a:xfrm>
            <a:off x="6446520" y="4503420"/>
            <a:ext cx="4846320" cy="685800"/>
          </a:xfrm>
          <a:prstGeom prst="rect">
            <a:avLst/>
          </a:prstGeom>
          <a:noFill/>
          <a:ln/>
        </p:spPr>
        <p:txBody>
          <a:bodyPr wrap="square" lIns="0" tIns="0" rIns="0" bIns="0" rtlCol="0" anchor="ctr"/>
          <a:lstStyle/>
          <a:p>
            <a:pPr marL="0" indent="0" algn="ctr">
              <a:buNone/>
            </a:pPr>
            <a:endParaRPr lang="en-US" sz="1700" dirty="0"/>
          </a:p>
        </p:txBody>
      </p:sp>
      <p:pic>
        <p:nvPicPr>
          <p:cNvPr id="13" name="Imagen 12">
            <a:extLst>
              <a:ext uri="{FF2B5EF4-FFF2-40B4-BE49-F238E27FC236}">
                <a16:creationId xmlns:a16="http://schemas.microsoft.com/office/drawing/2014/main" id="{AD681125-1FC2-BF31-0B7B-9804DA96AB60}"/>
              </a:ext>
            </a:extLst>
          </p:cNvPr>
          <p:cNvPicPr>
            <a:picLocks noChangeAspect="1"/>
          </p:cNvPicPr>
          <p:nvPr/>
        </p:nvPicPr>
        <p:blipFill>
          <a:blip r:embed="rId3"/>
          <a:stretch>
            <a:fillRect/>
          </a:stretch>
        </p:blipFill>
        <p:spPr>
          <a:xfrm>
            <a:off x="437177" y="1194085"/>
            <a:ext cx="3797206" cy="2846973"/>
          </a:xfrm>
          <a:prstGeom prst="rect">
            <a:avLst/>
          </a:prstGeom>
        </p:spPr>
      </p:pic>
      <p:pic>
        <p:nvPicPr>
          <p:cNvPr id="15" name="Imagen 14">
            <a:extLst>
              <a:ext uri="{FF2B5EF4-FFF2-40B4-BE49-F238E27FC236}">
                <a16:creationId xmlns:a16="http://schemas.microsoft.com/office/drawing/2014/main" id="{E2F81FF4-8CED-F8EA-FE72-712C6DD65FFF}"/>
              </a:ext>
            </a:extLst>
          </p:cNvPr>
          <p:cNvPicPr>
            <a:picLocks noChangeAspect="1"/>
          </p:cNvPicPr>
          <p:nvPr/>
        </p:nvPicPr>
        <p:blipFill>
          <a:blip r:embed="rId4"/>
          <a:stretch>
            <a:fillRect/>
          </a:stretch>
        </p:blipFill>
        <p:spPr>
          <a:xfrm>
            <a:off x="4618339" y="1194085"/>
            <a:ext cx="3559958" cy="2888971"/>
          </a:xfrm>
          <a:prstGeom prst="rect">
            <a:avLst/>
          </a:prstGeom>
        </p:spPr>
      </p:pic>
      <p:pic>
        <p:nvPicPr>
          <p:cNvPr id="17" name="Imagen 16">
            <a:extLst>
              <a:ext uri="{FF2B5EF4-FFF2-40B4-BE49-F238E27FC236}">
                <a16:creationId xmlns:a16="http://schemas.microsoft.com/office/drawing/2014/main" id="{61001120-1A07-CE22-DFC3-CB2053815FC5}"/>
              </a:ext>
            </a:extLst>
          </p:cNvPr>
          <p:cNvPicPr>
            <a:picLocks noChangeAspect="1"/>
          </p:cNvPicPr>
          <p:nvPr/>
        </p:nvPicPr>
        <p:blipFill>
          <a:blip r:embed="rId5"/>
          <a:stretch>
            <a:fillRect/>
          </a:stretch>
        </p:blipFill>
        <p:spPr>
          <a:xfrm>
            <a:off x="1139751" y="4213290"/>
            <a:ext cx="2932224" cy="25005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11480"/>
            <a:ext cx="10789920" cy="502920"/>
          </a:xfrm>
          <a:prstGeom prst="rect">
            <a:avLst/>
          </a:prstGeom>
          <a:noFill/>
          <a:ln/>
        </p:spPr>
        <p:txBody>
          <a:bodyPr wrap="square" lIns="0" tIns="0" rIns="0" bIns="0" rtlCol="0" anchor="ctr"/>
          <a:lstStyle/>
          <a:p>
            <a:pPr marL="0" indent="0">
              <a:buNone/>
            </a:pPr>
            <a:r>
              <a:rPr lang="en-US" sz="2500" b="1" dirty="0">
                <a:solidFill>
                  <a:srgbClr val="222222"/>
                </a:solidFill>
                <a:latin typeface="Arial" pitchFamily="34" charset="0"/>
                <a:ea typeface="Arial" pitchFamily="34" charset="-122"/>
                <a:cs typeface="Arial" pitchFamily="34" charset="-120"/>
              </a:rPr>
              <a:t>Conclusión</a:t>
            </a:r>
            <a:endParaRPr lang="en-US" sz="2500" dirty="0"/>
          </a:p>
        </p:txBody>
      </p:sp>
      <p:sp>
        <p:nvSpPr>
          <p:cNvPr id="3" name="Shape 1"/>
          <p:cNvSpPr/>
          <p:nvPr/>
        </p:nvSpPr>
        <p:spPr>
          <a:xfrm>
            <a:off x="685800" y="1005840"/>
            <a:ext cx="10835640" cy="0"/>
          </a:xfrm>
          <a:prstGeom prst="line">
            <a:avLst/>
          </a:prstGeom>
          <a:noFill/>
          <a:ln w="12700">
            <a:solidFill>
              <a:srgbClr val="BDBDBD"/>
            </a:solidFill>
            <a:prstDash val="solid"/>
          </a:ln>
        </p:spPr>
      </p:sp>
      <p:sp>
        <p:nvSpPr>
          <p:cNvPr id="4" name="Text 2"/>
          <p:cNvSpPr/>
          <p:nvPr/>
        </p:nvSpPr>
        <p:spPr>
          <a:xfrm>
            <a:off x="868680" y="1325880"/>
            <a:ext cx="10332720" cy="4389120"/>
          </a:xfrm>
          <a:prstGeom prst="rect">
            <a:avLst/>
          </a:prstGeom>
          <a:noFill/>
          <a:ln/>
        </p:spPr>
        <p:txBody>
          <a:bodyPr wrap="square" lIns="635" tIns="635" rIns="635" bIns="635" rtlCol="0" anchor="t">
            <a:normAutofit/>
          </a:bodyPr>
          <a:lstStyle/>
          <a:p>
            <a:pPr marL="0" indent="0">
              <a:buNone/>
            </a:pPr>
            <a:r>
              <a:rPr lang="en-US" sz="1900" dirty="0">
                <a:solidFill>
                  <a:srgbClr val="222222"/>
                </a:solidFill>
                <a:latin typeface="Arial" pitchFamily="34" charset="0"/>
                <a:ea typeface="Arial" pitchFamily="34" charset="-122"/>
                <a:cs typeface="Arial" pitchFamily="34" charset="-120"/>
              </a:rPr>
              <a:t>Se concluye que la práctica permitió comprender la importancia de organizar la información antes de iniciar un proyecto de TI. Al trabajar con EstacionaTEC, Rinconcito VC y LocalMarket se identificó que cada proyecto necesita una definición clara del problema, objetivos alcanzables, recursos adecuados y un alcance bien delimitado. También se observó que las herramientas tecnológicas y la metodología seleccionada influyen directamente en la forma en que se planea el desarrollo. Esta actividad sirvió como base para iniciar la gestión de los proyectos de manera más ordenada y profesional.</a:t>
            </a:r>
            <a:endParaRPr lang="en-US" sz="1900" dirty="0"/>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25</TotalTime>
  <Words>1196</Words>
  <Application>Microsoft Office PowerPoint</Application>
  <PresentationFormat>Panorámica</PresentationFormat>
  <Paragraphs>99</Paragraphs>
  <Slides>16</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-apple-system</vt: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Instituto Tecnológico de Frontera Comalapa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Reporte de práctica Unidad 1 - Gestión de Proyectos de TI</dc:title>
  <dc:subject>Reporte de práctica Unidad 1</dc:subject>
  <dc:creator>Eddi Uriel Castillo Sánchez</dc:creator>
  <cp:lastModifiedBy>eddi castillo</cp:lastModifiedBy>
  <cp:revision>2</cp:revision>
  <dcterms:created xsi:type="dcterms:W3CDTF">2026-09-01T02:19:38Z</dcterms:created>
  <dcterms:modified xsi:type="dcterms:W3CDTF">2026-09-01T02:47:53Z</dcterms:modified>
</cp:coreProperties>
</file>