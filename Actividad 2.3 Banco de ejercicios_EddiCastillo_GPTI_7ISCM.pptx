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Lst>
  <p:sldIdLst>
    <p:sldId id="274" r:id="rId2"/>
    <p:sldId id="257" r:id="rId3"/>
    <p:sldId id="258" r:id="rId4"/>
    <p:sldId id="259" r:id="rId5"/>
    <p:sldId id="260" r:id="rId6"/>
    <p:sldId id="261" r:id="rId7"/>
    <p:sldId id="262" r:id="rId8"/>
    <p:sldId id="263" r:id="rId9"/>
    <p:sldId id="264" r:id="rId10"/>
    <p:sldId id="265" r:id="rId11"/>
    <p:sldId id="283"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403004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022813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91406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65455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7731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30422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31250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562993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518628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92301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FF6DA9-008F-8B48-92A6-B652298478BF}" type="slidenum">
              <a:rPr lang="en-US" smtClean="0"/>
              <a:t>‹Nº›</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07182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20220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‹Nº›</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50945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521100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3729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7398350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9394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82741277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0ACF47F6-D6E6-F779-72D2-7998454BA259}"/>
              </a:ext>
            </a:extLst>
          </p:cNvPr>
          <p:cNvPicPr>
            <a:picLocks/>
          </p:cNvPicPr>
          <p:nvPr/>
        </p:nvPicPr>
        <p:blipFill>
          <a:blip r:embed="rId2" cstate="print"/>
          <a:stretch>
            <a:fillRect/>
          </a:stretch>
        </p:blipFill>
        <p:spPr>
          <a:xfrm>
            <a:off x="1070292" y="110606"/>
            <a:ext cx="2736215" cy="566420"/>
          </a:xfrm>
          <a:prstGeom prst="rect">
            <a:avLst/>
          </a:prstGeom>
        </p:spPr>
      </p:pic>
      <p:pic>
        <p:nvPicPr>
          <p:cNvPr id="3" name="Image 2">
            <a:extLst>
              <a:ext uri="{FF2B5EF4-FFF2-40B4-BE49-F238E27FC236}">
                <a16:creationId xmlns:a16="http://schemas.microsoft.com/office/drawing/2014/main" id="{59AB4131-ADA3-2181-5CA3-BCAE880BE235}"/>
              </a:ext>
            </a:extLst>
          </p:cNvPr>
          <p:cNvPicPr>
            <a:picLocks/>
          </p:cNvPicPr>
          <p:nvPr/>
        </p:nvPicPr>
        <p:blipFill>
          <a:blip r:embed="rId3" cstate="print"/>
          <a:stretch>
            <a:fillRect/>
          </a:stretch>
        </p:blipFill>
        <p:spPr>
          <a:xfrm>
            <a:off x="5673996" y="186547"/>
            <a:ext cx="1071880" cy="528320"/>
          </a:xfrm>
          <a:prstGeom prst="rect">
            <a:avLst/>
          </a:prstGeom>
        </p:spPr>
      </p:pic>
      <p:pic>
        <p:nvPicPr>
          <p:cNvPr id="4" name="Image 3">
            <a:extLst>
              <a:ext uri="{FF2B5EF4-FFF2-40B4-BE49-F238E27FC236}">
                <a16:creationId xmlns:a16="http://schemas.microsoft.com/office/drawing/2014/main" id="{6A94ADEF-8042-2861-DAA0-54A4A5B07478}"/>
              </a:ext>
            </a:extLst>
          </p:cNvPr>
          <p:cNvPicPr>
            <a:picLocks/>
          </p:cNvPicPr>
          <p:nvPr/>
        </p:nvPicPr>
        <p:blipFill>
          <a:blip r:embed="rId4" cstate="print"/>
          <a:stretch>
            <a:fillRect/>
          </a:stretch>
        </p:blipFill>
        <p:spPr>
          <a:xfrm>
            <a:off x="9179514" y="158891"/>
            <a:ext cx="756285" cy="523875"/>
          </a:xfrm>
          <a:prstGeom prst="rect">
            <a:avLst/>
          </a:prstGeom>
        </p:spPr>
      </p:pic>
      <p:sp>
        <p:nvSpPr>
          <p:cNvPr id="6" name="CuadroTexto 5">
            <a:extLst>
              <a:ext uri="{FF2B5EF4-FFF2-40B4-BE49-F238E27FC236}">
                <a16:creationId xmlns:a16="http://schemas.microsoft.com/office/drawing/2014/main" id="{FCACA373-3DDA-7FFB-7FA9-E80D6DB680E8}"/>
              </a:ext>
            </a:extLst>
          </p:cNvPr>
          <p:cNvSpPr txBox="1"/>
          <p:nvPr/>
        </p:nvSpPr>
        <p:spPr>
          <a:xfrm>
            <a:off x="1997945" y="753445"/>
            <a:ext cx="7625027" cy="5270674"/>
          </a:xfrm>
          <a:prstGeom prst="rect">
            <a:avLst/>
          </a:prstGeom>
          <a:noFill/>
        </p:spPr>
        <p:txBody>
          <a:bodyPr wrap="square">
            <a:spAutoFit/>
          </a:bodyPr>
          <a:lstStyle/>
          <a:p>
            <a:pPr marL="229870" marR="5080" algn="ctr">
              <a:spcBef>
                <a:spcPts val="1600"/>
              </a:spcBef>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TECNOLÓGICO</a:t>
            </a:r>
            <a:r>
              <a:rPr lang="en-US" sz="1200" b="1" spc="-4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NACIONAL</a:t>
            </a:r>
            <a:r>
              <a:rPr lang="en-US" sz="1200" b="1" spc="-7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3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MÉXICO</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10160" algn="ctr">
              <a:spcBef>
                <a:spcPts val="775"/>
              </a:spcBef>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INSTITUTO</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TECNOLÓGICO</a:t>
            </a:r>
            <a:r>
              <a:rPr lang="en-US" sz="1200" b="1" spc="-6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4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FRONTERA</a:t>
            </a:r>
            <a:r>
              <a:rPr lang="en-US" sz="1200" b="1" spc="-9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COMALAPA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8890"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1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LA</a:t>
            </a:r>
            <a:r>
              <a:rPr lang="en-US" sz="1200" b="1" spc="-7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MATERIA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4445" algn="ctr">
              <a:spcBef>
                <a:spcPts val="650"/>
              </a:spcBef>
              <a:spcAft>
                <a:spcPts val="1000"/>
              </a:spcAft>
            </a:pPr>
            <a:r>
              <a:rPr lang="es-ES" sz="1200" dirty="0" err="1">
                <a:effectLst/>
                <a:latin typeface="Arial" panose="020B0604020202020204" pitchFamily="34" charset="0"/>
                <a:ea typeface="Arial" panose="020B0604020202020204" pitchFamily="34" charset="0"/>
                <a:cs typeface="Times New Roman" panose="02020603050405020304" pitchFamily="18" charset="0"/>
              </a:rPr>
              <a:t>Gestion</a:t>
            </a:r>
            <a:r>
              <a:rPr lang="es-ES" sz="1200" dirty="0">
                <a:effectLst/>
                <a:latin typeface="Arial" panose="020B0604020202020204" pitchFamily="34" charset="0"/>
                <a:ea typeface="Arial" panose="020B0604020202020204" pitchFamily="34" charset="0"/>
                <a:cs typeface="Times New Roman" panose="02020603050405020304" pitchFamily="18" charset="0"/>
              </a:rPr>
              <a:t> de proyectos de TI</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ESTUDIANTE</a:t>
            </a:r>
            <a:endParaRPr lang="es-MX" sz="700" b="1" spc="-10" dirty="0">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EDDI URIEL CASTILLO SÁNCHEZ</a:t>
            </a: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CARRERA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10160" algn="ctr">
              <a:spcBef>
                <a:spcPts val="780"/>
              </a:spcBef>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INGENIERÍA</a:t>
            </a:r>
            <a:r>
              <a:rPr lang="en-US" sz="1200" spc="-30" dirty="0">
                <a:effectLst/>
                <a:latin typeface="Arial" panose="020B0604020202020204" pitchFamily="34" charset="0"/>
                <a:ea typeface="Arial" panose="020B0604020202020204" pitchFamily="34" charset="0"/>
                <a:cs typeface="Times New Roman" panose="02020603050405020304" pitchFamily="18" charset="0"/>
              </a:rPr>
              <a:t> </a:t>
            </a:r>
            <a:r>
              <a:rPr lang="en-US" sz="1200" dirty="0">
                <a:effectLst/>
                <a:latin typeface="Arial" panose="020B0604020202020204" pitchFamily="34" charset="0"/>
                <a:ea typeface="Arial" panose="020B0604020202020204" pitchFamily="34" charset="0"/>
                <a:cs typeface="Times New Roman" panose="02020603050405020304" pitchFamily="18" charset="0"/>
              </a:rPr>
              <a:t>EN</a:t>
            </a:r>
            <a:r>
              <a:rPr lang="en-US" sz="1200" spc="-30" dirty="0">
                <a:effectLst/>
                <a:latin typeface="Arial" panose="020B0604020202020204" pitchFamily="34" charset="0"/>
                <a:ea typeface="Arial" panose="020B0604020202020204" pitchFamily="34" charset="0"/>
                <a:cs typeface="Times New Roman" panose="02020603050405020304" pitchFamily="18" charset="0"/>
              </a:rPr>
              <a:t> </a:t>
            </a:r>
            <a:r>
              <a:rPr lang="en-US" sz="1200" dirty="0">
                <a:effectLst/>
                <a:latin typeface="Arial" panose="020B0604020202020204" pitchFamily="34" charset="0"/>
                <a:ea typeface="Arial" panose="020B0604020202020204" pitchFamily="34" charset="0"/>
                <a:cs typeface="Times New Roman" panose="02020603050405020304" pitchFamily="18" charset="0"/>
              </a:rPr>
              <a:t>SISTEMAS</a:t>
            </a:r>
            <a:r>
              <a:rPr lang="en-US" sz="1200" spc="5" dirty="0">
                <a:effectLst/>
                <a:latin typeface="Arial" panose="020B0604020202020204" pitchFamily="34" charset="0"/>
                <a:ea typeface="Arial" panose="020B0604020202020204" pitchFamily="34" charset="0"/>
                <a:cs typeface="Times New Roman" panose="02020603050405020304" pitchFamily="18" charset="0"/>
              </a:rPr>
              <a:t> </a:t>
            </a:r>
            <a:r>
              <a:rPr lang="en-US" sz="1200" spc="-10" dirty="0">
                <a:effectLst/>
                <a:latin typeface="Arial" panose="020B0604020202020204" pitchFamily="34" charset="0"/>
                <a:ea typeface="Arial" panose="020B0604020202020204" pitchFamily="34" charset="0"/>
                <a:cs typeface="Times New Roman" panose="02020603050405020304" pitchFamily="18" charset="0"/>
              </a:rPr>
              <a:t>COMPUTACIONALES</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SEMESTRE</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5715" algn="ctr">
              <a:spcBef>
                <a:spcPts val="780"/>
              </a:spcBef>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SÉPTIMO</a:t>
            </a:r>
            <a:r>
              <a:rPr lang="en-US" sz="1200" spc="-40" dirty="0">
                <a:effectLst/>
                <a:latin typeface="Arial" panose="020B0604020202020204" pitchFamily="34" charset="0"/>
                <a:ea typeface="Arial" panose="020B0604020202020204" pitchFamily="34" charset="0"/>
                <a:cs typeface="Times New Roman" panose="02020603050405020304" pitchFamily="18" charset="0"/>
              </a:rPr>
              <a:t> </a:t>
            </a:r>
            <a:r>
              <a:rPr lang="en-US" sz="1200" spc="-10" dirty="0">
                <a:effectLst/>
                <a:latin typeface="Arial" panose="020B0604020202020204" pitchFamily="34" charset="0"/>
                <a:ea typeface="Arial" panose="020B0604020202020204" pitchFamily="34" charset="0"/>
                <a:cs typeface="Times New Roman" panose="02020603050405020304" pitchFamily="18" charset="0"/>
              </a:rPr>
              <a:t>SEMESTRE</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DOCENTE</a:t>
            </a:r>
            <a:endParaRPr lang="es-MX" sz="700" b="1" spc="-10" dirty="0">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s-ES" sz="1200" dirty="0">
                <a:latin typeface="Arial" panose="020B0604020202020204" pitchFamily="34" charset="0"/>
                <a:ea typeface="Arial" panose="020B0604020202020204" pitchFamily="34" charset="0"/>
                <a:cs typeface="Times New Roman" panose="02020603050405020304" pitchFamily="18" charset="0"/>
              </a:rPr>
              <a:t>ING, Javier Francisco Mingo Velázquez</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TRABAJO</a:t>
            </a:r>
          </a:p>
          <a:p>
            <a:pPr algn="ctr"/>
            <a:r>
              <a:rPr lang="es-ES" sz="1400" b="0" i="0" dirty="0">
                <a:solidFill>
                  <a:srgbClr val="212529"/>
                </a:solidFill>
                <a:effectLst/>
                <a:latin typeface="-apple-system"/>
              </a:rPr>
              <a:t>Actividad </a:t>
            </a:r>
            <a:r>
              <a:rPr lang="es-ES" sz="1400" dirty="0">
                <a:solidFill>
                  <a:srgbClr val="212529"/>
                </a:solidFill>
                <a:latin typeface="-apple-system"/>
              </a:rPr>
              <a:t>2.3</a:t>
            </a:r>
            <a:r>
              <a:rPr lang="es-ES" sz="1400" b="0" i="0" dirty="0">
                <a:solidFill>
                  <a:srgbClr val="212529"/>
                </a:solidFill>
                <a:effectLst/>
                <a:latin typeface="-apple-system"/>
              </a:rPr>
              <a:t> Banco de ejercicios</a:t>
            </a: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LUGAR Y FECH</a:t>
            </a:r>
            <a:r>
              <a:rPr lang="en-US" sz="1200" b="1" dirty="0">
                <a:latin typeface="Arial" panose="020B0604020202020204" pitchFamily="34" charset="0"/>
                <a:ea typeface="Arial" panose="020B0604020202020204" pitchFamily="34" charset="0"/>
                <a:cs typeface="Times New Roman" panose="02020603050405020304" pitchFamily="18" charset="0"/>
              </a:rPr>
              <a:t>A</a:t>
            </a:r>
          </a:p>
          <a:p>
            <a:pPr algn="ctr">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FRONTERA COMALAPA, CHIAPAS A </a:t>
            </a:r>
            <a:r>
              <a:rPr lang="en-US" sz="1200" dirty="0">
                <a:latin typeface="Arial" panose="020B0604020202020204" pitchFamily="34" charset="0"/>
                <a:ea typeface="Arial" panose="020B0604020202020204" pitchFamily="34" charset="0"/>
                <a:cs typeface="Times New Roman" panose="02020603050405020304" pitchFamily="18" charset="0"/>
              </a:rPr>
              <a:t>27</a:t>
            </a:r>
            <a:r>
              <a:rPr lang="en-US" sz="1200" dirty="0">
                <a:effectLst/>
                <a:latin typeface="Arial" panose="020B0604020202020204" pitchFamily="34" charset="0"/>
                <a:ea typeface="Arial" panose="020B0604020202020204" pitchFamily="34" charset="0"/>
                <a:cs typeface="Times New Roman" panose="02020603050405020304" pitchFamily="18" charset="0"/>
              </a:rPr>
              <a:t>  AGOSTO DEL 2026</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56922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607040" cy="457200"/>
          </a:xfrm>
          <a:prstGeom prst="rect">
            <a:avLst/>
          </a:prstGeom>
          <a:noFill/>
        </p:spPr>
        <p:txBody>
          <a:bodyPr wrap="square">
            <a:spAutoFit/>
          </a:bodyPr>
          <a:lstStyle/>
          <a:p>
            <a:r>
              <a:rPr sz="2600" b="1">
                <a:solidFill>
                  <a:srgbClr val="1F2B67"/>
                </a:solidFill>
                <a:latin typeface="Arial"/>
              </a:rPr>
              <a:t>Introducción</a:t>
            </a:r>
          </a:p>
        </p:txBody>
      </p:sp>
      <p:sp>
        <p:nvSpPr>
          <p:cNvPr id="3" name="Rectangle 2"/>
          <p:cNvSpPr/>
          <p:nvPr/>
        </p:nvSpPr>
        <p:spPr>
          <a:xfrm>
            <a:off x="594360" y="896112"/>
            <a:ext cx="1188720" cy="36576"/>
          </a:xfrm>
          <a:prstGeom prst="rect">
            <a:avLst/>
          </a:prstGeom>
          <a:solidFill>
            <a:srgbClr val="3C4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97280"/>
            <a:ext cx="10972800" cy="5120640"/>
          </a:xfrm>
          <a:prstGeom prst="rect">
            <a:avLst/>
          </a:prstGeom>
          <a:noFill/>
        </p:spPr>
        <p:txBody>
          <a:bodyPr wrap="square">
            <a:spAutoFit/>
          </a:bodyPr>
          <a:lstStyle/>
          <a:p>
            <a:pPr>
              <a:lnSpc>
                <a:spcPct val="115000"/>
              </a:lnSpc>
              <a:spcAft>
                <a:spcPts val="800"/>
              </a:spcAft>
            </a:pPr>
            <a:r>
              <a:rPr sz="1700" b="0" dirty="0">
                <a:solidFill>
                  <a:srgbClr val="181B27"/>
                </a:solidFill>
                <a:latin typeface="Arial"/>
              </a:rPr>
              <a:t>Este banco de </a:t>
            </a:r>
            <a:r>
              <a:rPr sz="1700" b="0" dirty="0" err="1">
                <a:solidFill>
                  <a:srgbClr val="181B27"/>
                </a:solidFill>
                <a:latin typeface="Arial"/>
              </a:rPr>
              <a:t>ejercicios</a:t>
            </a:r>
            <a:r>
              <a:rPr sz="1700" b="0" dirty="0">
                <a:solidFill>
                  <a:srgbClr val="181B27"/>
                </a:solidFill>
                <a:latin typeface="Arial"/>
              </a:rPr>
              <a:t> </a:t>
            </a:r>
            <a:r>
              <a:rPr sz="1700" b="0" dirty="0" err="1">
                <a:solidFill>
                  <a:srgbClr val="181B27"/>
                </a:solidFill>
                <a:latin typeface="Arial"/>
              </a:rPr>
              <a:t>presenta</a:t>
            </a:r>
            <a:r>
              <a:rPr sz="1700" b="0" dirty="0">
                <a:solidFill>
                  <a:srgbClr val="181B27"/>
                </a:solidFill>
                <a:latin typeface="Arial"/>
              </a:rPr>
              <a:t> la </a:t>
            </a:r>
            <a:r>
              <a:rPr sz="1700" b="0" dirty="0" err="1">
                <a:solidFill>
                  <a:srgbClr val="181B27"/>
                </a:solidFill>
                <a:latin typeface="Arial"/>
              </a:rPr>
              <a:t>aplicación</a:t>
            </a:r>
            <a:r>
              <a:rPr sz="1700" b="0" dirty="0">
                <a:solidFill>
                  <a:srgbClr val="181B27"/>
                </a:solidFill>
                <a:latin typeface="Arial"/>
              </a:rPr>
              <a:t> </a:t>
            </a:r>
            <a:r>
              <a:rPr sz="1700" b="0" dirty="0" err="1">
                <a:solidFill>
                  <a:srgbClr val="181B27"/>
                </a:solidFill>
                <a:latin typeface="Arial"/>
              </a:rPr>
              <a:t>práctica</a:t>
            </a:r>
            <a:r>
              <a:rPr sz="1700" b="0" dirty="0">
                <a:solidFill>
                  <a:srgbClr val="181B27"/>
                </a:solidFill>
                <a:latin typeface="Arial"/>
              </a:rPr>
              <a:t> de </a:t>
            </a:r>
            <a:r>
              <a:rPr sz="1700" b="0" dirty="0" err="1">
                <a:solidFill>
                  <a:srgbClr val="181B27"/>
                </a:solidFill>
                <a:latin typeface="Arial"/>
              </a:rPr>
              <a:t>tres</a:t>
            </a:r>
            <a:r>
              <a:rPr sz="1700" b="0" dirty="0">
                <a:solidFill>
                  <a:srgbClr val="181B27"/>
                </a:solidFill>
                <a:latin typeface="Arial"/>
              </a:rPr>
              <a:t> </a:t>
            </a:r>
            <a:r>
              <a:rPr sz="1700" b="0" dirty="0" err="1">
                <a:solidFill>
                  <a:srgbClr val="181B27"/>
                </a:solidFill>
                <a:latin typeface="Arial"/>
              </a:rPr>
              <a:t>enfoques</a:t>
            </a:r>
            <a:r>
              <a:rPr sz="1700" b="0" dirty="0">
                <a:solidFill>
                  <a:srgbClr val="181B27"/>
                </a:solidFill>
                <a:latin typeface="Arial"/>
              </a:rPr>
              <a:t> de </a:t>
            </a:r>
            <a:r>
              <a:rPr sz="1700" b="0" dirty="0" err="1">
                <a:solidFill>
                  <a:srgbClr val="181B27"/>
                </a:solidFill>
                <a:latin typeface="Arial"/>
              </a:rPr>
              <a:t>gestión</a:t>
            </a:r>
            <a:r>
              <a:rPr sz="1700" b="0" dirty="0">
                <a:solidFill>
                  <a:srgbClr val="181B27"/>
                </a:solidFill>
                <a:latin typeface="Arial"/>
              </a:rPr>
              <a:t> de </a:t>
            </a:r>
            <a:r>
              <a:rPr sz="1700" b="0" dirty="0" err="1">
                <a:solidFill>
                  <a:srgbClr val="181B27"/>
                </a:solidFill>
                <a:latin typeface="Arial"/>
              </a:rPr>
              <a:t>proyectos</a:t>
            </a:r>
            <a:r>
              <a:rPr sz="1700" b="0" dirty="0">
                <a:solidFill>
                  <a:srgbClr val="181B27"/>
                </a:solidFill>
                <a:latin typeface="Arial"/>
              </a:rPr>
              <a:t>: PMBOK, Scrum y Kanban. </a:t>
            </a:r>
            <a:r>
              <a:rPr sz="1700" b="0" dirty="0" err="1">
                <a:solidFill>
                  <a:srgbClr val="181B27"/>
                </a:solidFill>
                <a:latin typeface="Arial"/>
              </a:rPr>
              <a:t>Cada</a:t>
            </a:r>
            <a:r>
              <a:rPr sz="1700" b="0" dirty="0">
                <a:solidFill>
                  <a:srgbClr val="181B27"/>
                </a:solidFill>
                <a:latin typeface="Arial"/>
              </a:rPr>
              <a:t> </a:t>
            </a:r>
            <a:r>
              <a:rPr sz="1700" b="0" dirty="0" err="1">
                <a:solidFill>
                  <a:srgbClr val="181B27"/>
                </a:solidFill>
                <a:latin typeface="Arial"/>
              </a:rPr>
              <a:t>metodología</a:t>
            </a:r>
            <a:r>
              <a:rPr sz="1700" b="0" dirty="0">
                <a:solidFill>
                  <a:srgbClr val="181B27"/>
                </a:solidFill>
                <a:latin typeface="Arial"/>
              </a:rPr>
              <a:t> se </a:t>
            </a:r>
            <a:r>
              <a:rPr sz="1700" b="0" dirty="0" err="1">
                <a:solidFill>
                  <a:srgbClr val="181B27"/>
                </a:solidFill>
                <a:latin typeface="Arial"/>
              </a:rPr>
              <a:t>relacionó</a:t>
            </a:r>
            <a:r>
              <a:rPr sz="1700" b="0" dirty="0">
                <a:solidFill>
                  <a:srgbClr val="181B27"/>
                </a:solidFill>
                <a:latin typeface="Arial"/>
              </a:rPr>
              <a:t> con un </a:t>
            </a:r>
            <a:r>
              <a:rPr sz="1700" b="0" dirty="0" err="1">
                <a:solidFill>
                  <a:srgbClr val="181B27"/>
                </a:solidFill>
                <a:latin typeface="Arial"/>
              </a:rPr>
              <a:t>proyecto</a:t>
            </a:r>
            <a:r>
              <a:rPr sz="1700" b="0" dirty="0">
                <a:solidFill>
                  <a:srgbClr val="181B27"/>
                </a:solidFill>
                <a:latin typeface="Arial"/>
              </a:rPr>
              <a:t> </a:t>
            </a:r>
            <a:r>
              <a:rPr sz="1700" b="0" dirty="0" err="1">
                <a:solidFill>
                  <a:srgbClr val="181B27"/>
                </a:solidFill>
                <a:latin typeface="Arial"/>
              </a:rPr>
              <a:t>diferente</a:t>
            </a:r>
            <a:r>
              <a:rPr sz="1700" b="0" dirty="0">
                <a:solidFill>
                  <a:srgbClr val="181B27"/>
                </a:solidFill>
                <a:latin typeface="Arial"/>
              </a:rPr>
              <a:t> para </a:t>
            </a:r>
            <a:r>
              <a:rPr sz="1700" b="0" dirty="0" err="1">
                <a:solidFill>
                  <a:srgbClr val="181B27"/>
                </a:solidFill>
                <a:latin typeface="Arial"/>
              </a:rPr>
              <a:t>observar</a:t>
            </a:r>
            <a:r>
              <a:rPr sz="1700" b="0" dirty="0">
                <a:solidFill>
                  <a:srgbClr val="181B27"/>
                </a:solidFill>
                <a:latin typeface="Arial"/>
              </a:rPr>
              <a:t> </a:t>
            </a:r>
            <a:r>
              <a:rPr sz="1700" b="0" dirty="0" err="1">
                <a:solidFill>
                  <a:srgbClr val="181B27"/>
                </a:solidFill>
                <a:latin typeface="Arial"/>
              </a:rPr>
              <a:t>cómo</a:t>
            </a:r>
            <a:r>
              <a:rPr sz="1700" b="0" dirty="0">
                <a:solidFill>
                  <a:srgbClr val="181B27"/>
                </a:solidFill>
                <a:latin typeface="Arial"/>
              </a:rPr>
              <a:t> cambia la forma de </a:t>
            </a:r>
            <a:r>
              <a:rPr sz="1700" b="0" dirty="0" err="1">
                <a:solidFill>
                  <a:srgbClr val="181B27"/>
                </a:solidFill>
                <a:latin typeface="Arial"/>
              </a:rPr>
              <a:t>planificar</a:t>
            </a:r>
            <a:r>
              <a:rPr sz="1700" b="0" dirty="0">
                <a:solidFill>
                  <a:srgbClr val="181B27"/>
                </a:solidFill>
                <a:latin typeface="Arial"/>
              </a:rPr>
              <a:t>, </a:t>
            </a:r>
            <a:r>
              <a:rPr sz="1700" b="0" dirty="0" err="1">
                <a:solidFill>
                  <a:srgbClr val="181B27"/>
                </a:solidFill>
                <a:latin typeface="Arial"/>
              </a:rPr>
              <a:t>organizar</a:t>
            </a:r>
            <a:r>
              <a:rPr sz="1700" b="0" dirty="0">
                <a:solidFill>
                  <a:srgbClr val="181B27"/>
                </a:solidFill>
                <a:latin typeface="Arial"/>
              </a:rPr>
              <a:t> y </a:t>
            </a:r>
            <a:r>
              <a:rPr sz="1700" b="0" dirty="0" err="1">
                <a:solidFill>
                  <a:srgbClr val="181B27"/>
                </a:solidFill>
                <a:latin typeface="Arial"/>
              </a:rPr>
              <a:t>dar</a:t>
            </a:r>
            <a:r>
              <a:rPr sz="1700" b="0" dirty="0">
                <a:solidFill>
                  <a:srgbClr val="181B27"/>
                </a:solidFill>
                <a:latin typeface="Arial"/>
              </a:rPr>
              <a:t> </a:t>
            </a:r>
            <a:r>
              <a:rPr sz="1700" b="0" dirty="0" err="1">
                <a:solidFill>
                  <a:srgbClr val="181B27"/>
                </a:solidFill>
                <a:latin typeface="Arial"/>
              </a:rPr>
              <a:t>seguimiento</a:t>
            </a:r>
            <a:r>
              <a:rPr sz="1700" b="0" dirty="0">
                <a:solidFill>
                  <a:srgbClr val="181B27"/>
                </a:solidFill>
                <a:latin typeface="Arial"/>
              </a:rPr>
              <a:t> a las </a:t>
            </a:r>
            <a:r>
              <a:rPr sz="1700" b="0" dirty="0" err="1">
                <a:solidFill>
                  <a:srgbClr val="181B27"/>
                </a:solidFill>
                <a:latin typeface="Arial"/>
              </a:rPr>
              <a:t>actividades</a:t>
            </a:r>
            <a:r>
              <a:rPr sz="1700" b="0" dirty="0">
                <a:solidFill>
                  <a:srgbClr val="181B27"/>
                </a:solidFill>
                <a:latin typeface="Arial"/>
              </a:rPr>
              <a:t>. En </a:t>
            </a:r>
            <a:r>
              <a:rPr sz="1700" b="0" dirty="0" err="1">
                <a:solidFill>
                  <a:srgbClr val="181B27"/>
                </a:solidFill>
                <a:latin typeface="Arial"/>
              </a:rPr>
              <a:t>el</a:t>
            </a:r>
            <a:r>
              <a:rPr sz="1700" b="0" dirty="0">
                <a:solidFill>
                  <a:srgbClr val="181B27"/>
                </a:solidFill>
                <a:latin typeface="Arial"/>
              </a:rPr>
              <a:t> </a:t>
            </a:r>
            <a:r>
              <a:rPr sz="1700" b="0" dirty="0" err="1">
                <a:solidFill>
                  <a:srgbClr val="181B27"/>
                </a:solidFill>
                <a:latin typeface="Arial"/>
              </a:rPr>
              <a:t>caso</a:t>
            </a:r>
            <a:r>
              <a:rPr sz="1700" b="0" dirty="0">
                <a:solidFill>
                  <a:srgbClr val="181B27"/>
                </a:solidFill>
                <a:latin typeface="Arial"/>
              </a:rPr>
              <a:t> de </a:t>
            </a:r>
            <a:r>
              <a:rPr sz="1700" b="0" dirty="0" err="1">
                <a:solidFill>
                  <a:srgbClr val="181B27"/>
                </a:solidFill>
                <a:latin typeface="Arial"/>
              </a:rPr>
              <a:t>EstacionaTec</a:t>
            </a:r>
            <a:r>
              <a:rPr sz="1700" b="0" dirty="0">
                <a:solidFill>
                  <a:srgbClr val="181B27"/>
                </a:solidFill>
                <a:latin typeface="Arial"/>
              </a:rPr>
              <a:t> se </a:t>
            </a:r>
            <a:r>
              <a:rPr sz="1700" b="0" dirty="0" err="1">
                <a:solidFill>
                  <a:srgbClr val="181B27"/>
                </a:solidFill>
                <a:latin typeface="Arial"/>
              </a:rPr>
              <a:t>utilizó</a:t>
            </a:r>
            <a:r>
              <a:rPr sz="1700" b="0" dirty="0">
                <a:solidFill>
                  <a:srgbClr val="181B27"/>
                </a:solidFill>
                <a:latin typeface="Arial"/>
              </a:rPr>
              <a:t> PMBOK con </a:t>
            </a:r>
            <a:r>
              <a:rPr sz="1700" b="0" dirty="0" err="1">
                <a:solidFill>
                  <a:srgbClr val="181B27"/>
                </a:solidFill>
                <a:latin typeface="Arial"/>
              </a:rPr>
              <a:t>apoyo</a:t>
            </a:r>
            <a:r>
              <a:rPr sz="1700" b="0" dirty="0">
                <a:solidFill>
                  <a:srgbClr val="181B27"/>
                </a:solidFill>
                <a:latin typeface="Arial"/>
              </a:rPr>
              <a:t> de </a:t>
            </a:r>
            <a:r>
              <a:rPr sz="1700" b="0" dirty="0" err="1">
                <a:solidFill>
                  <a:srgbClr val="181B27"/>
                </a:solidFill>
                <a:latin typeface="Arial"/>
              </a:rPr>
              <a:t>ProjectLibre</a:t>
            </a:r>
            <a:r>
              <a:rPr sz="1700" b="0" dirty="0">
                <a:solidFill>
                  <a:srgbClr val="181B27"/>
                </a:solidFill>
                <a:latin typeface="Arial"/>
              </a:rPr>
              <a:t> para </a:t>
            </a:r>
            <a:r>
              <a:rPr sz="1700" b="0" dirty="0" err="1">
                <a:solidFill>
                  <a:srgbClr val="181B27"/>
                </a:solidFill>
                <a:latin typeface="Arial"/>
              </a:rPr>
              <a:t>ordenar</a:t>
            </a:r>
            <a:r>
              <a:rPr sz="1700" b="0" dirty="0">
                <a:solidFill>
                  <a:srgbClr val="181B27"/>
                </a:solidFill>
                <a:latin typeface="Arial"/>
              </a:rPr>
              <a:t> las </a:t>
            </a:r>
            <a:r>
              <a:rPr sz="1700" b="0" dirty="0" err="1">
                <a:solidFill>
                  <a:srgbClr val="181B27"/>
                </a:solidFill>
                <a:latin typeface="Arial"/>
              </a:rPr>
              <a:t>tareas</a:t>
            </a:r>
            <a:r>
              <a:rPr sz="1700" b="0" dirty="0">
                <a:solidFill>
                  <a:srgbClr val="181B27"/>
                </a:solidFill>
                <a:latin typeface="Arial"/>
              </a:rPr>
              <a:t> </a:t>
            </a:r>
            <a:r>
              <a:rPr sz="1700" b="0" dirty="0" err="1">
                <a:solidFill>
                  <a:srgbClr val="181B27"/>
                </a:solidFill>
                <a:latin typeface="Arial"/>
              </a:rPr>
              <a:t>mediante</a:t>
            </a:r>
            <a:r>
              <a:rPr sz="1700" b="0" dirty="0">
                <a:solidFill>
                  <a:srgbClr val="181B27"/>
                </a:solidFill>
                <a:latin typeface="Arial"/>
              </a:rPr>
              <a:t> un </a:t>
            </a:r>
            <a:r>
              <a:rPr sz="1700" b="0" dirty="0" err="1">
                <a:solidFill>
                  <a:srgbClr val="181B27"/>
                </a:solidFill>
                <a:latin typeface="Arial"/>
              </a:rPr>
              <a:t>cronograma</a:t>
            </a:r>
            <a:r>
              <a:rPr sz="1700" b="0" dirty="0">
                <a:solidFill>
                  <a:srgbClr val="181B27"/>
                </a:solidFill>
                <a:latin typeface="Arial"/>
              </a:rPr>
              <a:t> </a:t>
            </a:r>
            <a:r>
              <a:rPr sz="1700" b="0" dirty="0" err="1">
                <a:solidFill>
                  <a:srgbClr val="181B27"/>
                </a:solidFill>
                <a:latin typeface="Arial"/>
              </a:rPr>
              <a:t>tipo</a:t>
            </a:r>
            <a:r>
              <a:rPr sz="1700" b="0" dirty="0">
                <a:solidFill>
                  <a:srgbClr val="181B27"/>
                </a:solidFill>
                <a:latin typeface="Arial"/>
              </a:rPr>
              <a:t> Gantt. Para </a:t>
            </a:r>
            <a:r>
              <a:rPr sz="1700" b="0" dirty="0" err="1">
                <a:solidFill>
                  <a:srgbClr val="181B27"/>
                </a:solidFill>
                <a:latin typeface="Arial"/>
              </a:rPr>
              <a:t>Rinconcito</a:t>
            </a:r>
            <a:r>
              <a:rPr sz="1700" b="0" dirty="0">
                <a:solidFill>
                  <a:srgbClr val="181B27"/>
                </a:solidFill>
                <a:latin typeface="Arial"/>
              </a:rPr>
              <a:t> VC se </a:t>
            </a:r>
            <a:r>
              <a:rPr sz="1700" b="0" dirty="0" err="1">
                <a:solidFill>
                  <a:srgbClr val="181B27"/>
                </a:solidFill>
                <a:latin typeface="Arial"/>
              </a:rPr>
              <a:t>aplicó</a:t>
            </a:r>
            <a:r>
              <a:rPr sz="1700" b="0" dirty="0">
                <a:solidFill>
                  <a:srgbClr val="181B27"/>
                </a:solidFill>
                <a:latin typeface="Arial"/>
              </a:rPr>
              <a:t> Scrum </a:t>
            </a:r>
            <a:r>
              <a:rPr sz="1700" b="0" dirty="0" err="1">
                <a:solidFill>
                  <a:srgbClr val="181B27"/>
                </a:solidFill>
                <a:latin typeface="Arial"/>
              </a:rPr>
              <a:t>en</a:t>
            </a:r>
            <a:r>
              <a:rPr sz="1700" b="0" dirty="0">
                <a:solidFill>
                  <a:srgbClr val="181B27"/>
                </a:solidFill>
                <a:latin typeface="Arial"/>
              </a:rPr>
              <a:t> un </a:t>
            </a:r>
            <a:r>
              <a:rPr sz="1700" b="0" dirty="0" err="1">
                <a:solidFill>
                  <a:srgbClr val="181B27"/>
                </a:solidFill>
                <a:latin typeface="Arial"/>
              </a:rPr>
              <a:t>tablero</a:t>
            </a:r>
            <a:r>
              <a:rPr sz="1700" b="0" dirty="0">
                <a:solidFill>
                  <a:srgbClr val="181B27"/>
                </a:solidFill>
                <a:latin typeface="Arial"/>
              </a:rPr>
              <a:t> de Backlog de Jira, </a:t>
            </a:r>
            <a:r>
              <a:rPr sz="1700" b="0" dirty="0" err="1">
                <a:solidFill>
                  <a:srgbClr val="181B27"/>
                </a:solidFill>
                <a:latin typeface="Arial"/>
              </a:rPr>
              <a:t>dividiendo</a:t>
            </a:r>
            <a:r>
              <a:rPr sz="1700" b="0" dirty="0">
                <a:solidFill>
                  <a:srgbClr val="181B27"/>
                </a:solidFill>
                <a:latin typeface="Arial"/>
              </a:rPr>
              <a:t> </a:t>
            </a:r>
            <a:r>
              <a:rPr sz="1700" b="0" dirty="0" err="1">
                <a:solidFill>
                  <a:srgbClr val="181B27"/>
                </a:solidFill>
                <a:latin typeface="Arial"/>
              </a:rPr>
              <a:t>el</a:t>
            </a:r>
            <a:r>
              <a:rPr sz="1700" b="0" dirty="0">
                <a:solidFill>
                  <a:srgbClr val="181B27"/>
                </a:solidFill>
                <a:latin typeface="Arial"/>
              </a:rPr>
              <a:t> </a:t>
            </a:r>
            <a:r>
              <a:rPr sz="1700" b="0" dirty="0" err="1">
                <a:solidFill>
                  <a:srgbClr val="181B27"/>
                </a:solidFill>
                <a:latin typeface="Arial"/>
              </a:rPr>
              <a:t>trabajo</a:t>
            </a:r>
            <a:r>
              <a:rPr sz="1700" b="0" dirty="0">
                <a:solidFill>
                  <a:srgbClr val="181B27"/>
                </a:solidFill>
                <a:latin typeface="Arial"/>
              </a:rPr>
              <a:t> </a:t>
            </a:r>
            <a:r>
              <a:rPr sz="1700" b="0" dirty="0" err="1">
                <a:solidFill>
                  <a:srgbClr val="181B27"/>
                </a:solidFill>
                <a:latin typeface="Arial"/>
              </a:rPr>
              <a:t>en</a:t>
            </a:r>
            <a:r>
              <a:rPr sz="1700" b="0" dirty="0">
                <a:solidFill>
                  <a:srgbClr val="181B27"/>
                </a:solidFill>
                <a:latin typeface="Arial"/>
              </a:rPr>
              <a:t> Sprints y </a:t>
            </a:r>
            <a:r>
              <a:rPr sz="1700" b="0" dirty="0" err="1">
                <a:solidFill>
                  <a:srgbClr val="181B27"/>
                </a:solidFill>
                <a:latin typeface="Arial"/>
              </a:rPr>
              <a:t>actividades</a:t>
            </a:r>
            <a:r>
              <a:rPr sz="1700" b="0" dirty="0">
                <a:solidFill>
                  <a:srgbClr val="181B27"/>
                </a:solidFill>
                <a:latin typeface="Arial"/>
              </a:rPr>
              <a:t> </a:t>
            </a:r>
            <a:r>
              <a:rPr sz="1700" b="0" dirty="0" err="1">
                <a:solidFill>
                  <a:srgbClr val="181B27"/>
                </a:solidFill>
                <a:latin typeface="Arial"/>
              </a:rPr>
              <a:t>priorizadas</a:t>
            </a:r>
            <a:r>
              <a:rPr sz="1700" b="0" dirty="0">
                <a:solidFill>
                  <a:srgbClr val="181B27"/>
                </a:solidFill>
                <a:latin typeface="Arial"/>
              </a:rPr>
              <a:t>. </a:t>
            </a:r>
            <a:r>
              <a:rPr sz="1700" b="0" dirty="0" err="1">
                <a:solidFill>
                  <a:srgbClr val="181B27"/>
                </a:solidFill>
                <a:latin typeface="Arial"/>
              </a:rPr>
              <a:t>Finalmente</a:t>
            </a:r>
            <a:r>
              <a:rPr sz="1700" b="0" dirty="0">
                <a:solidFill>
                  <a:srgbClr val="181B27"/>
                </a:solidFill>
                <a:latin typeface="Arial"/>
              </a:rPr>
              <a:t>, </a:t>
            </a:r>
            <a:r>
              <a:rPr sz="1700" b="0" dirty="0" err="1">
                <a:solidFill>
                  <a:srgbClr val="181B27"/>
                </a:solidFill>
                <a:latin typeface="Arial"/>
              </a:rPr>
              <a:t>LocalMarket</a:t>
            </a:r>
            <a:r>
              <a:rPr sz="1700" b="0" dirty="0">
                <a:solidFill>
                  <a:srgbClr val="181B27"/>
                </a:solidFill>
                <a:latin typeface="Arial"/>
              </a:rPr>
              <a:t> se </a:t>
            </a:r>
            <a:r>
              <a:rPr sz="1700" b="0" dirty="0" err="1">
                <a:solidFill>
                  <a:srgbClr val="181B27"/>
                </a:solidFill>
                <a:latin typeface="Arial"/>
              </a:rPr>
              <a:t>organizó</a:t>
            </a:r>
            <a:r>
              <a:rPr sz="1700" b="0" dirty="0">
                <a:solidFill>
                  <a:srgbClr val="181B27"/>
                </a:solidFill>
                <a:latin typeface="Arial"/>
              </a:rPr>
              <a:t> con Kanban, </a:t>
            </a:r>
            <a:r>
              <a:rPr sz="1700" b="0" dirty="0" err="1">
                <a:solidFill>
                  <a:srgbClr val="181B27"/>
                </a:solidFill>
                <a:latin typeface="Arial"/>
              </a:rPr>
              <a:t>utilizando</a:t>
            </a:r>
            <a:r>
              <a:rPr sz="1700" b="0" dirty="0">
                <a:solidFill>
                  <a:srgbClr val="181B27"/>
                </a:solidFill>
                <a:latin typeface="Arial"/>
              </a:rPr>
              <a:t> </a:t>
            </a:r>
            <a:r>
              <a:rPr sz="1700" b="0" dirty="0" err="1">
                <a:solidFill>
                  <a:srgbClr val="181B27"/>
                </a:solidFill>
                <a:latin typeface="Arial"/>
              </a:rPr>
              <a:t>columnas</a:t>
            </a:r>
            <a:r>
              <a:rPr sz="1700" b="0" dirty="0">
                <a:solidFill>
                  <a:srgbClr val="181B27"/>
                </a:solidFill>
                <a:latin typeface="Arial"/>
              </a:rPr>
              <a:t> de </a:t>
            </a:r>
            <a:r>
              <a:rPr sz="1700" b="0" dirty="0" err="1">
                <a:solidFill>
                  <a:srgbClr val="181B27"/>
                </a:solidFill>
                <a:latin typeface="Arial"/>
              </a:rPr>
              <a:t>avance</a:t>
            </a:r>
            <a:r>
              <a:rPr sz="1700" b="0" dirty="0">
                <a:solidFill>
                  <a:srgbClr val="181B27"/>
                </a:solidFill>
                <a:latin typeface="Arial"/>
              </a:rPr>
              <a:t> para </a:t>
            </a:r>
            <a:r>
              <a:rPr sz="1700" b="0" dirty="0" err="1">
                <a:solidFill>
                  <a:srgbClr val="181B27"/>
                </a:solidFill>
                <a:latin typeface="Arial"/>
              </a:rPr>
              <a:t>representar</a:t>
            </a:r>
            <a:r>
              <a:rPr sz="1700" b="0" dirty="0">
                <a:solidFill>
                  <a:srgbClr val="181B27"/>
                </a:solidFill>
                <a:latin typeface="Arial"/>
              </a:rPr>
              <a:t> </a:t>
            </a:r>
            <a:r>
              <a:rPr sz="1700" b="0" dirty="0" err="1">
                <a:solidFill>
                  <a:srgbClr val="181B27"/>
                </a:solidFill>
                <a:latin typeface="Arial"/>
              </a:rPr>
              <a:t>el</a:t>
            </a:r>
            <a:r>
              <a:rPr sz="1700" b="0" dirty="0">
                <a:solidFill>
                  <a:srgbClr val="181B27"/>
                </a:solidFill>
                <a:latin typeface="Arial"/>
              </a:rPr>
              <a:t> </a:t>
            </a:r>
            <a:r>
              <a:rPr sz="1700" b="0" dirty="0" err="1">
                <a:solidFill>
                  <a:srgbClr val="181B27"/>
                </a:solidFill>
                <a:latin typeface="Arial"/>
              </a:rPr>
              <a:t>flujo</a:t>
            </a:r>
            <a:r>
              <a:rPr sz="1700" b="0" dirty="0">
                <a:solidFill>
                  <a:srgbClr val="181B27"/>
                </a:solidFill>
                <a:latin typeface="Arial"/>
              </a:rPr>
              <a:t> de </a:t>
            </a:r>
            <a:r>
              <a:rPr sz="1700" b="0" dirty="0" err="1">
                <a:solidFill>
                  <a:srgbClr val="181B27"/>
                </a:solidFill>
                <a:latin typeface="Arial"/>
              </a:rPr>
              <a:t>trabajo</a:t>
            </a:r>
            <a:r>
              <a:rPr sz="1700" b="0" dirty="0">
                <a:solidFill>
                  <a:srgbClr val="181B27"/>
                </a:solidFill>
                <a:latin typeface="Arial"/>
              </a:rPr>
              <a:t>.</a:t>
            </a:r>
          </a:p>
          <a:p>
            <a:pPr>
              <a:lnSpc>
                <a:spcPct val="115000"/>
              </a:lnSpc>
              <a:spcAft>
                <a:spcPts val="800"/>
              </a:spcAft>
            </a:pPr>
            <a:r>
              <a:rPr sz="1700" b="0" dirty="0">
                <a:solidFill>
                  <a:srgbClr val="181B27"/>
                </a:solidFill>
                <a:latin typeface="Arial"/>
              </a:rPr>
              <a:t>La </a:t>
            </a:r>
            <a:r>
              <a:rPr sz="1700" b="0" dirty="0" err="1">
                <a:solidFill>
                  <a:srgbClr val="181B27"/>
                </a:solidFill>
                <a:latin typeface="Arial"/>
              </a:rPr>
              <a:t>finalidad</a:t>
            </a:r>
            <a:r>
              <a:rPr sz="1700" b="0" dirty="0">
                <a:solidFill>
                  <a:srgbClr val="181B27"/>
                </a:solidFill>
                <a:latin typeface="Arial"/>
              </a:rPr>
              <a:t> de </a:t>
            </a:r>
            <a:r>
              <a:rPr sz="1700" b="0" dirty="0" err="1">
                <a:solidFill>
                  <a:srgbClr val="181B27"/>
                </a:solidFill>
                <a:latin typeface="Arial"/>
              </a:rPr>
              <a:t>este</a:t>
            </a:r>
            <a:r>
              <a:rPr sz="1700" b="0" dirty="0">
                <a:solidFill>
                  <a:srgbClr val="181B27"/>
                </a:solidFill>
                <a:latin typeface="Arial"/>
              </a:rPr>
              <a:t> </a:t>
            </a:r>
            <a:r>
              <a:rPr sz="1700" b="0" dirty="0" err="1">
                <a:solidFill>
                  <a:srgbClr val="181B27"/>
                </a:solidFill>
                <a:latin typeface="Arial"/>
              </a:rPr>
              <a:t>documento</a:t>
            </a:r>
            <a:r>
              <a:rPr sz="1700" b="0" dirty="0">
                <a:solidFill>
                  <a:srgbClr val="181B27"/>
                </a:solidFill>
                <a:latin typeface="Arial"/>
              </a:rPr>
              <a:t> es </a:t>
            </a:r>
            <a:r>
              <a:rPr sz="1700" b="0" dirty="0" err="1">
                <a:solidFill>
                  <a:srgbClr val="181B27"/>
                </a:solidFill>
                <a:latin typeface="Arial"/>
              </a:rPr>
              <a:t>demostrar</a:t>
            </a:r>
            <a:r>
              <a:rPr sz="1700" b="0" dirty="0">
                <a:solidFill>
                  <a:srgbClr val="181B27"/>
                </a:solidFill>
                <a:latin typeface="Arial"/>
              </a:rPr>
              <a:t>, con </a:t>
            </a:r>
            <a:r>
              <a:rPr sz="1700" b="0" dirty="0" err="1">
                <a:solidFill>
                  <a:srgbClr val="181B27"/>
                </a:solidFill>
                <a:latin typeface="Arial"/>
              </a:rPr>
              <a:t>explicaciones</a:t>
            </a:r>
            <a:r>
              <a:rPr sz="1700" b="0" dirty="0">
                <a:solidFill>
                  <a:srgbClr val="181B27"/>
                </a:solidFill>
                <a:latin typeface="Arial"/>
              </a:rPr>
              <a:t> e </a:t>
            </a:r>
            <a:r>
              <a:rPr sz="1700" b="0" dirty="0" err="1">
                <a:solidFill>
                  <a:srgbClr val="181B27"/>
                </a:solidFill>
                <a:latin typeface="Arial"/>
              </a:rPr>
              <a:t>imágenes</a:t>
            </a:r>
            <a:r>
              <a:rPr sz="1700" b="0" dirty="0">
                <a:solidFill>
                  <a:srgbClr val="181B27"/>
                </a:solidFill>
                <a:latin typeface="Arial"/>
              </a:rPr>
              <a:t>, </a:t>
            </a:r>
            <a:r>
              <a:rPr sz="1700" b="0" dirty="0" err="1">
                <a:solidFill>
                  <a:srgbClr val="181B27"/>
                </a:solidFill>
                <a:latin typeface="Arial"/>
              </a:rPr>
              <a:t>cómo</a:t>
            </a:r>
            <a:r>
              <a:rPr sz="1700" b="0" dirty="0">
                <a:solidFill>
                  <a:srgbClr val="181B27"/>
                </a:solidFill>
                <a:latin typeface="Arial"/>
              </a:rPr>
              <a:t> </a:t>
            </a:r>
            <a:r>
              <a:rPr sz="1700" b="0" dirty="0" err="1">
                <a:solidFill>
                  <a:srgbClr val="181B27"/>
                </a:solidFill>
                <a:latin typeface="Arial"/>
              </a:rPr>
              <a:t>cada</a:t>
            </a:r>
            <a:r>
              <a:rPr sz="1700" b="0" dirty="0">
                <a:solidFill>
                  <a:srgbClr val="181B27"/>
                </a:solidFill>
                <a:latin typeface="Arial"/>
              </a:rPr>
              <a:t> </a:t>
            </a:r>
            <a:r>
              <a:rPr sz="1700" b="0" dirty="0" err="1">
                <a:solidFill>
                  <a:srgbClr val="181B27"/>
                </a:solidFill>
                <a:latin typeface="Arial"/>
              </a:rPr>
              <a:t>herramienta</a:t>
            </a:r>
            <a:r>
              <a:rPr sz="1700" b="0" dirty="0">
                <a:solidFill>
                  <a:srgbClr val="181B27"/>
                </a:solidFill>
                <a:latin typeface="Arial"/>
              </a:rPr>
              <a:t> </a:t>
            </a:r>
            <a:r>
              <a:rPr sz="1700" b="0" dirty="0" err="1">
                <a:solidFill>
                  <a:srgbClr val="181B27"/>
                </a:solidFill>
                <a:latin typeface="Arial"/>
              </a:rPr>
              <a:t>permite</a:t>
            </a:r>
            <a:r>
              <a:rPr sz="1700" b="0" dirty="0">
                <a:solidFill>
                  <a:srgbClr val="181B27"/>
                </a:solidFill>
                <a:latin typeface="Arial"/>
              </a:rPr>
              <a:t> </a:t>
            </a:r>
            <a:r>
              <a:rPr sz="1700" b="0" dirty="0" err="1">
                <a:solidFill>
                  <a:srgbClr val="181B27"/>
                </a:solidFill>
                <a:latin typeface="Arial"/>
              </a:rPr>
              <a:t>controlar</a:t>
            </a:r>
            <a:r>
              <a:rPr sz="1700" b="0" dirty="0">
                <a:solidFill>
                  <a:srgbClr val="181B27"/>
                </a:solidFill>
                <a:latin typeface="Arial"/>
              </a:rPr>
              <a:t> </a:t>
            </a:r>
            <a:r>
              <a:rPr sz="1700" b="0" dirty="0" err="1">
                <a:solidFill>
                  <a:srgbClr val="181B27"/>
                </a:solidFill>
                <a:latin typeface="Arial"/>
              </a:rPr>
              <a:t>mejor</a:t>
            </a:r>
            <a:r>
              <a:rPr sz="1700" b="0" dirty="0">
                <a:solidFill>
                  <a:srgbClr val="181B27"/>
                </a:solidFill>
                <a:latin typeface="Arial"/>
              </a:rPr>
              <a:t> </a:t>
            </a:r>
            <a:r>
              <a:rPr sz="1700" b="0" dirty="0" err="1">
                <a:solidFill>
                  <a:srgbClr val="181B27"/>
                </a:solidFill>
                <a:latin typeface="Arial"/>
              </a:rPr>
              <a:t>el</a:t>
            </a:r>
            <a:r>
              <a:rPr sz="1700" b="0" dirty="0">
                <a:solidFill>
                  <a:srgbClr val="181B27"/>
                </a:solidFill>
                <a:latin typeface="Arial"/>
              </a:rPr>
              <a:t> </a:t>
            </a:r>
            <a:r>
              <a:rPr sz="1700" b="0" dirty="0" err="1">
                <a:solidFill>
                  <a:srgbClr val="181B27"/>
                </a:solidFill>
                <a:latin typeface="Arial"/>
              </a:rPr>
              <a:t>desarrollo</a:t>
            </a:r>
            <a:r>
              <a:rPr sz="1700" b="0" dirty="0">
                <a:solidFill>
                  <a:srgbClr val="181B27"/>
                </a:solidFill>
                <a:latin typeface="Arial"/>
              </a:rPr>
              <a:t> de un </a:t>
            </a:r>
            <a:r>
              <a:rPr sz="1700" b="0" dirty="0" err="1">
                <a:solidFill>
                  <a:srgbClr val="181B27"/>
                </a:solidFill>
                <a:latin typeface="Arial"/>
              </a:rPr>
              <a:t>proyecto</a:t>
            </a:r>
            <a:r>
              <a:rPr sz="1700" b="0" dirty="0">
                <a:solidFill>
                  <a:srgbClr val="181B27"/>
                </a:solidFill>
                <a:latin typeface="Arial"/>
              </a:rPr>
              <a:t> </a:t>
            </a:r>
            <a:r>
              <a:rPr sz="1700" b="0" dirty="0" err="1">
                <a:solidFill>
                  <a:srgbClr val="181B27"/>
                </a:solidFill>
                <a:latin typeface="Arial"/>
              </a:rPr>
              <a:t>tecnológico</a:t>
            </a:r>
            <a:r>
              <a:rPr sz="1700" b="0" dirty="0">
                <a:solidFill>
                  <a:srgbClr val="181B27"/>
                </a:solidFill>
                <a:latin typeface="Arial"/>
              </a:rPr>
              <a:t> y </a:t>
            </a:r>
            <a:r>
              <a:rPr sz="1700" b="0" dirty="0" err="1">
                <a:solidFill>
                  <a:srgbClr val="181B27"/>
                </a:solidFill>
                <a:latin typeface="Arial"/>
              </a:rPr>
              <a:t>facilita</a:t>
            </a:r>
            <a:r>
              <a:rPr sz="1700" b="0" dirty="0">
                <a:solidFill>
                  <a:srgbClr val="181B27"/>
                </a:solidFill>
                <a:latin typeface="Arial"/>
              </a:rPr>
              <a:t> la </a:t>
            </a:r>
            <a:r>
              <a:rPr sz="1700" b="0" dirty="0" err="1">
                <a:solidFill>
                  <a:srgbClr val="181B27"/>
                </a:solidFill>
                <a:latin typeface="Arial"/>
              </a:rPr>
              <a:t>toma</a:t>
            </a:r>
            <a:r>
              <a:rPr sz="1700" b="0" dirty="0">
                <a:solidFill>
                  <a:srgbClr val="181B27"/>
                </a:solidFill>
                <a:latin typeface="Arial"/>
              </a:rPr>
              <a:t> de </a:t>
            </a:r>
            <a:r>
              <a:rPr sz="1700" b="0" dirty="0" err="1">
                <a:solidFill>
                  <a:srgbClr val="181B27"/>
                </a:solidFill>
                <a:latin typeface="Arial"/>
              </a:rPr>
              <a:t>decisiones</a:t>
            </a:r>
            <a:r>
              <a:rPr sz="1700" b="0" dirty="0">
                <a:solidFill>
                  <a:srgbClr val="181B27"/>
                </a:solidFill>
                <a:latin typeface="Arial"/>
              </a:rPr>
              <a:t> </a:t>
            </a:r>
            <a:r>
              <a:rPr sz="1700" b="0" dirty="0" err="1">
                <a:solidFill>
                  <a:srgbClr val="181B27"/>
                </a:solidFill>
                <a:latin typeface="Arial"/>
              </a:rPr>
              <a:t>durante</a:t>
            </a:r>
            <a:r>
              <a:rPr sz="1700" b="0" dirty="0">
                <a:solidFill>
                  <a:srgbClr val="181B27"/>
                </a:solidFill>
                <a:latin typeface="Arial"/>
              </a:rPr>
              <a:t> </a:t>
            </a:r>
            <a:r>
              <a:rPr sz="1700" b="0" dirty="0" err="1">
                <a:solidFill>
                  <a:srgbClr val="181B27"/>
                </a:solidFill>
                <a:latin typeface="Arial"/>
              </a:rPr>
              <a:t>su</a:t>
            </a:r>
            <a:r>
              <a:rPr sz="1700" b="0" dirty="0">
                <a:solidFill>
                  <a:srgbClr val="181B27"/>
                </a:solidFill>
                <a:latin typeface="Arial"/>
              </a:rPr>
              <a:t> </a:t>
            </a:r>
            <a:r>
              <a:rPr sz="1700" b="0" dirty="0" err="1">
                <a:solidFill>
                  <a:srgbClr val="181B27"/>
                </a:solidFill>
                <a:latin typeface="Arial"/>
              </a:rPr>
              <a:t>ejecución</a:t>
            </a:r>
            <a:r>
              <a:rPr sz="1700" b="0" dirty="0">
                <a:solidFill>
                  <a:srgbClr val="181B27"/>
                </a:solidFill>
                <a:latin typeface="Aria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607040" cy="457200"/>
          </a:xfrm>
          <a:prstGeom prst="rect">
            <a:avLst/>
          </a:prstGeom>
          <a:noFill/>
        </p:spPr>
        <p:txBody>
          <a:bodyPr wrap="square">
            <a:spAutoFit/>
          </a:bodyPr>
          <a:lstStyle/>
          <a:p>
            <a:r>
              <a:rPr sz="2600" b="1">
                <a:solidFill>
                  <a:srgbClr val="1F2B67"/>
                </a:solidFill>
                <a:latin typeface="Arial"/>
              </a:rPr>
              <a:t>Justificación</a:t>
            </a:r>
          </a:p>
        </p:txBody>
      </p:sp>
      <p:sp>
        <p:nvSpPr>
          <p:cNvPr id="3" name="Rectangle 2"/>
          <p:cNvSpPr/>
          <p:nvPr/>
        </p:nvSpPr>
        <p:spPr>
          <a:xfrm>
            <a:off x="594360" y="896112"/>
            <a:ext cx="1188720" cy="36576"/>
          </a:xfrm>
          <a:prstGeom prst="rect">
            <a:avLst/>
          </a:prstGeom>
          <a:solidFill>
            <a:srgbClr val="3C4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97280"/>
            <a:ext cx="10972800" cy="5120640"/>
          </a:xfrm>
          <a:prstGeom prst="rect">
            <a:avLst/>
          </a:prstGeom>
          <a:noFill/>
        </p:spPr>
        <p:txBody>
          <a:bodyPr wrap="square">
            <a:spAutoFit/>
          </a:bodyPr>
          <a:lstStyle/>
          <a:p>
            <a:pPr>
              <a:lnSpc>
                <a:spcPct val="115000"/>
              </a:lnSpc>
              <a:spcAft>
                <a:spcPts val="800"/>
              </a:spcAft>
            </a:pPr>
            <a:r>
              <a:rPr sz="1700" b="0">
                <a:solidFill>
                  <a:srgbClr val="181B27"/>
                </a:solidFill>
                <a:latin typeface="Arial"/>
              </a:rPr>
              <a:t>La realización de este banco de ejercicios es importante porque permite llevar la teoría de la gestión de proyectos a una situación más cercana a la práctica. No basta con conocer los conceptos de PMBOK, Scrum y Kanban; también es necesario identificar cómo se aplican, qué elementos se organizan y qué evidencia se puede generar con cada enfoque.</a:t>
            </a:r>
          </a:p>
          <a:p>
            <a:pPr>
              <a:lnSpc>
                <a:spcPct val="115000"/>
              </a:lnSpc>
              <a:spcAft>
                <a:spcPts val="800"/>
              </a:spcAft>
            </a:pPr>
            <a:r>
              <a:rPr sz="1700" b="0">
                <a:solidFill>
                  <a:srgbClr val="181B27"/>
                </a:solidFill>
                <a:latin typeface="Arial"/>
              </a:rPr>
              <a:t>Con EstacionaTec, Rinconcito VC y LocalMarket se comparan tres formas distintas de administrar proyectos: una basada en planificación estructurada, otra en entregas por Sprints y otra en flujo visual de tareas. Esto ayuda a comprender que la elección de una metodología depende del tipo de proyecto, del nivel de control requerido, de la flexibilidad necesaria y de la manera en que se desea dar seguimiento al avance.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1560" y="320040"/>
            <a:ext cx="10607040" cy="457200"/>
          </a:xfrm>
          <a:prstGeom prst="rect">
            <a:avLst/>
          </a:prstGeom>
          <a:noFill/>
        </p:spPr>
        <p:txBody>
          <a:bodyPr wrap="square">
            <a:spAutoFit/>
          </a:bodyPr>
          <a:lstStyle/>
          <a:p>
            <a:r>
              <a:rPr sz="2600" b="1">
                <a:solidFill>
                  <a:srgbClr val="1F2B67"/>
                </a:solidFill>
                <a:latin typeface="Arial"/>
              </a:rPr>
              <a:t>Ejercicio PMBOK – Proyecto EstacionaTec</a:t>
            </a:r>
          </a:p>
        </p:txBody>
      </p:sp>
      <p:sp>
        <p:nvSpPr>
          <p:cNvPr id="5" name="Rectangle 4"/>
          <p:cNvSpPr/>
          <p:nvPr/>
        </p:nvSpPr>
        <p:spPr>
          <a:xfrm>
            <a:off x="1051560" y="896112"/>
            <a:ext cx="1188720" cy="36576"/>
          </a:xfrm>
          <a:prstGeom prst="rect">
            <a:avLst/>
          </a:prstGeom>
          <a:solidFill>
            <a:srgbClr val="3C4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097280"/>
            <a:ext cx="10972800" cy="5120640"/>
          </a:xfrm>
          <a:prstGeom prst="rect">
            <a:avLst/>
          </a:prstGeom>
          <a:noFill/>
        </p:spPr>
        <p:txBody>
          <a:bodyPr wrap="square">
            <a:spAutoFit/>
          </a:bodyPr>
          <a:lstStyle/>
          <a:p>
            <a:pPr>
              <a:lnSpc>
                <a:spcPct val="115000"/>
              </a:lnSpc>
              <a:spcAft>
                <a:spcPts val="800"/>
              </a:spcAft>
            </a:pPr>
            <a:endParaRPr/>
          </a:p>
        </p:txBody>
      </p:sp>
      <p:sp>
        <p:nvSpPr>
          <p:cNvPr id="7" name="TextBox 6"/>
          <p:cNvSpPr txBox="1"/>
          <p:nvPr/>
        </p:nvSpPr>
        <p:spPr>
          <a:xfrm>
            <a:off x="640080" y="1143000"/>
            <a:ext cx="10972800" cy="5029200"/>
          </a:xfrm>
          <a:prstGeom prst="rect">
            <a:avLst/>
          </a:prstGeom>
          <a:noFill/>
        </p:spPr>
        <p:txBody>
          <a:bodyPr wrap="square">
            <a:spAutoFit/>
          </a:bodyPr>
          <a:lstStyle/>
          <a:p>
            <a:pPr>
              <a:spcAft>
                <a:spcPts val="900"/>
              </a:spcAft>
            </a:pPr>
            <a:r>
              <a:rPr sz="1600" b="0" dirty="0">
                <a:solidFill>
                  <a:srgbClr val="181B27"/>
                </a:solidFill>
                <a:latin typeface="Arial"/>
              </a:rPr>
              <a:t>• En </a:t>
            </a:r>
            <a:r>
              <a:rPr sz="1600" b="0" dirty="0" err="1">
                <a:solidFill>
                  <a:srgbClr val="181B27"/>
                </a:solidFill>
                <a:latin typeface="Arial"/>
              </a:rPr>
              <a:t>EstacionaTec</a:t>
            </a:r>
            <a:r>
              <a:rPr sz="1600" b="0" dirty="0">
                <a:solidFill>
                  <a:srgbClr val="181B27"/>
                </a:solidFill>
                <a:latin typeface="Arial"/>
              </a:rPr>
              <a:t> se </a:t>
            </a:r>
            <a:r>
              <a:rPr sz="1600" b="0" dirty="0" err="1">
                <a:solidFill>
                  <a:srgbClr val="181B27"/>
                </a:solidFill>
                <a:latin typeface="Arial"/>
              </a:rPr>
              <a:t>aplicó</a:t>
            </a:r>
            <a:r>
              <a:rPr sz="1600" b="0" dirty="0">
                <a:solidFill>
                  <a:srgbClr val="181B27"/>
                </a:solidFill>
                <a:latin typeface="Arial"/>
              </a:rPr>
              <a:t> PMBOK para </a:t>
            </a:r>
            <a:r>
              <a:rPr sz="1600" b="0" dirty="0" err="1">
                <a:solidFill>
                  <a:srgbClr val="181B27"/>
                </a:solidFill>
                <a:latin typeface="Arial"/>
              </a:rPr>
              <a:t>organizar</a:t>
            </a:r>
            <a:r>
              <a:rPr sz="1600" b="0" dirty="0">
                <a:solidFill>
                  <a:srgbClr val="181B27"/>
                </a:solidFill>
                <a:latin typeface="Arial"/>
              </a:rPr>
              <a:t> </a:t>
            </a:r>
            <a:r>
              <a:rPr sz="1600" b="0" dirty="0" err="1">
                <a:solidFill>
                  <a:srgbClr val="181B27"/>
                </a:solidFill>
                <a:latin typeface="Arial"/>
              </a:rPr>
              <a:t>el</a:t>
            </a:r>
            <a:r>
              <a:rPr sz="1600" b="0" dirty="0">
                <a:solidFill>
                  <a:srgbClr val="181B27"/>
                </a:solidFill>
                <a:latin typeface="Arial"/>
              </a:rPr>
              <a:t> </a:t>
            </a:r>
            <a:r>
              <a:rPr sz="1600" b="0" dirty="0" err="1">
                <a:solidFill>
                  <a:srgbClr val="181B27"/>
                </a:solidFill>
                <a:latin typeface="Arial"/>
              </a:rPr>
              <a:t>proyecto</a:t>
            </a:r>
            <a:r>
              <a:rPr sz="1600" b="0" dirty="0">
                <a:solidFill>
                  <a:srgbClr val="181B27"/>
                </a:solidFill>
                <a:latin typeface="Arial"/>
              </a:rPr>
              <a:t> de </a:t>
            </a:r>
            <a:r>
              <a:rPr sz="1600" b="0" dirty="0" err="1">
                <a:solidFill>
                  <a:srgbClr val="181B27"/>
                </a:solidFill>
                <a:latin typeface="Arial"/>
              </a:rPr>
              <a:t>manera</a:t>
            </a:r>
            <a:r>
              <a:rPr sz="1600" b="0" dirty="0">
                <a:solidFill>
                  <a:srgbClr val="181B27"/>
                </a:solidFill>
                <a:latin typeface="Arial"/>
              </a:rPr>
              <a:t> </a:t>
            </a:r>
            <a:r>
              <a:rPr sz="1600" b="0" dirty="0" err="1">
                <a:solidFill>
                  <a:srgbClr val="181B27"/>
                </a:solidFill>
                <a:latin typeface="Arial"/>
              </a:rPr>
              <a:t>predictiva</a:t>
            </a:r>
            <a:r>
              <a:rPr sz="1600" b="0" dirty="0">
                <a:solidFill>
                  <a:srgbClr val="181B27"/>
                </a:solidFill>
                <a:latin typeface="Arial"/>
              </a:rPr>
              <a:t>, </a:t>
            </a:r>
            <a:r>
              <a:rPr sz="1600" b="0" dirty="0" err="1">
                <a:solidFill>
                  <a:srgbClr val="181B27"/>
                </a:solidFill>
                <a:latin typeface="Arial"/>
              </a:rPr>
              <a:t>estableciendo</a:t>
            </a:r>
            <a:r>
              <a:rPr sz="1600" b="0" dirty="0">
                <a:solidFill>
                  <a:srgbClr val="181B27"/>
                </a:solidFill>
                <a:latin typeface="Arial"/>
              </a:rPr>
              <a:t> primero </a:t>
            </a:r>
            <a:r>
              <a:rPr sz="1600" b="0" dirty="0" err="1">
                <a:solidFill>
                  <a:srgbClr val="181B27"/>
                </a:solidFill>
                <a:latin typeface="Arial"/>
              </a:rPr>
              <a:t>el</a:t>
            </a:r>
            <a:r>
              <a:rPr sz="1600" b="0" dirty="0">
                <a:solidFill>
                  <a:srgbClr val="181B27"/>
                </a:solidFill>
                <a:latin typeface="Arial"/>
              </a:rPr>
              <a:t> </a:t>
            </a:r>
            <a:r>
              <a:rPr sz="1600" b="0" dirty="0" err="1">
                <a:solidFill>
                  <a:srgbClr val="181B27"/>
                </a:solidFill>
                <a:latin typeface="Arial"/>
              </a:rPr>
              <a:t>alcance</a:t>
            </a:r>
            <a:r>
              <a:rPr sz="1600" b="0" dirty="0">
                <a:solidFill>
                  <a:srgbClr val="181B27"/>
                </a:solidFill>
                <a:latin typeface="Arial"/>
              </a:rPr>
              <a:t> general y </a:t>
            </a:r>
            <a:r>
              <a:rPr sz="1600" b="0" dirty="0" err="1">
                <a:solidFill>
                  <a:srgbClr val="181B27"/>
                </a:solidFill>
                <a:latin typeface="Arial"/>
              </a:rPr>
              <a:t>después</a:t>
            </a:r>
            <a:r>
              <a:rPr sz="1600" b="0" dirty="0">
                <a:solidFill>
                  <a:srgbClr val="181B27"/>
                </a:solidFill>
                <a:latin typeface="Arial"/>
              </a:rPr>
              <a:t> las </a:t>
            </a:r>
            <a:r>
              <a:rPr sz="1600" b="0" dirty="0" err="1">
                <a:solidFill>
                  <a:srgbClr val="181B27"/>
                </a:solidFill>
                <a:latin typeface="Arial"/>
              </a:rPr>
              <a:t>actividades</a:t>
            </a:r>
            <a:r>
              <a:rPr sz="1600" b="0" dirty="0">
                <a:solidFill>
                  <a:srgbClr val="181B27"/>
                </a:solidFill>
                <a:latin typeface="Arial"/>
              </a:rPr>
              <a:t> </a:t>
            </a:r>
            <a:r>
              <a:rPr sz="1600" b="0" dirty="0" err="1">
                <a:solidFill>
                  <a:srgbClr val="181B27"/>
                </a:solidFill>
                <a:latin typeface="Arial"/>
              </a:rPr>
              <a:t>necesarias</a:t>
            </a:r>
            <a:r>
              <a:rPr sz="1600" b="0" dirty="0">
                <a:solidFill>
                  <a:srgbClr val="181B27"/>
                </a:solidFill>
                <a:latin typeface="Arial"/>
              </a:rPr>
              <a:t> para </a:t>
            </a:r>
            <a:r>
              <a:rPr sz="1600" b="0" dirty="0" err="1">
                <a:solidFill>
                  <a:srgbClr val="181B27"/>
                </a:solidFill>
                <a:latin typeface="Arial"/>
              </a:rPr>
              <a:t>cumplirlo</a:t>
            </a:r>
            <a:r>
              <a:rPr sz="1600" b="0" dirty="0">
                <a:solidFill>
                  <a:srgbClr val="181B27"/>
                </a:solidFill>
                <a:latin typeface="Arial"/>
              </a:rPr>
              <a:t>.</a:t>
            </a:r>
          </a:p>
          <a:p>
            <a:pPr>
              <a:spcAft>
                <a:spcPts val="900"/>
              </a:spcAft>
            </a:pPr>
            <a:r>
              <a:rPr sz="1600" b="0" dirty="0">
                <a:solidFill>
                  <a:srgbClr val="181B27"/>
                </a:solidFill>
                <a:latin typeface="Arial"/>
              </a:rPr>
              <a:t>• La imagen del </a:t>
            </a:r>
            <a:r>
              <a:rPr sz="1600" b="0" dirty="0" err="1">
                <a:solidFill>
                  <a:srgbClr val="181B27"/>
                </a:solidFill>
                <a:latin typeface="Arial"/>
              </a:rPr>
              <a:t>cronograma</a:t>
            </a:r>
            <a:r>
              <a:rPr sz="1600" b="0" dirty="0">
                <a:solidFill>
                  <a:srgbClr val="181B27"/>
                </a:solidFill>
                <a:latin typeface="Arial"/>
              </a:rPr>
              <a:t> </a:t>
            </a:r>
            <a:r>
              <a:rPr sz="1600" b="0" dirty="0" err="1">
                <a:solidFill>
                  <a:srgbClr val="181B27"/>
                </a:solidFill>
                <a:latin typeface="Arial"/>
              </a:rPr>
              <a:t>elaborado</a:t>
            </a:r>
            <a:r>
              <a:rPr sz="1600" b="0" dirty="0">
                <a:solidFill>
                  <a:srgbClr val="181B27"/>
                </a:solidFill>
                <a:latin typeface="Arial"/>
              </a:rPr>
              <a:t> </a:t>
            </a:r>
            <a:r>
              <a:rPr sz="1600" b="0" dirty="0" err="1">
                <a:solidFill>
                  <a:srgbClr val="181B27"/>
                </a:solidFill>
                <a:latin typeface="Arial"/>
              </a:rPr>
              <a:t>en</a:t>
            </a:r>
            <a:r>
              <a:rPr sz="1600" b="0" dirty="0">
                <a:solidFill>
                  <a:srgbClr val="181B27"/>
                </a:solidFill>
                <a:latin typeface="Arial"/>
              </a:rPr>
              <a:t> </a:t>
            </a:r>
            <a:r>
              <a:rPr sz="1600" b="0" dirty="0" err="1">
                <a:solidFill>
                  <a:srgbClr val="181B27"/>
                </a:solidFill>
                <a:latin typeface="Arial"/>
              </a:rPr>
              <a:t>ProjectLibre</a:t>
            </a:r>
            <a:r>
              <a:rPr sz="1600" b="0" dirty="0">
                <a:solidFill>
                  <a:srgbClr val="181B27"/>
                </a:solidFill>
                <a:latin typeface="Arial"/>
              </a:rPr>
              <a:t> </a:t>
            </a:r>
            <a:r>
              <a:rPr sz="1600" b="0" dirty="0" err="1">
                <a:solidFill>
                  <a:srgbClr val="181B27"/>
                </a:solidFill>
                <a:latin typeface="Arial"/>
              </a:rPr>
              <a:t>muestra</a:t>
            </a:r>
            <a:r>
              <a:rPr sz="1600" b="0" dirty="0">
                <a:solidFill>
                  <a:srgbClr val="181B27"/>
                </a:solidFill>
                <a:latin typeface="Arial"/>
              </a:rPr>
              <a:t> </a:t>
            </a:r>
            <a:r>
              <a:rPr sz="1600" b="0" dirty="0" err="1">
                <a:solidFill>
                  <a:srgbClr val="181B27"/>
                </a:solidFill>
                <a:latin typeface="Arial"/>
              </a:rPr>
              <a:t>una</a:t>
            </a:r>
            <a:r>
              <a:rPr sz="1600" b="0" dirty="0">
                <a:solidFill>
                  <a:srgbClr val="181B27"/>
                </a:solidFill>
                <a:latin typeface="Arial"/>
              </a:rPr>
              <a:t> </a:t>
            </a:r>
            <a:r>
              <a:rPr sz="1600" b="0" dirty="0" err="1">
                <a:solidFill>
                  <a:srgbClr val="181B27"/>
                </a:solidFill>
                <a:latin typeface="Arial"/>
              </a:rPr>
              <a:t>planificación</a:t>
            </a:r>
            <a:r>
              <a:rPr sz="1600" b="0" dirty="0">
                <a:solidFill>
                  <a:srgbClr val="181B27"/>
                </a:solidFill>
                <a:latin typeface="Arial"/>
              </a:rPr>
              <a:t> </a:t>
            </a:r>
            <a:r>
              <a:rPr sz="1600" b="0" dirty="0" err="1">
                <a:solidFill>
                  <a:srgbClr val="181B27"/>
                </a:solidFill>
                <a:latin typeface="Arial"/>
              </a:rPr>
              <a:t>secuencial</a:t>
            </a:r>
            <a:r>
              <a:rPr sz="1600" b="0" dirty="0">
                <a:solidFill>
                  <a:srgbClr val="181B27"/>
                </a:solidFill>
                <a:latin typeface="Arial"/>
              </a:rPr>
              <a:t>, </a:t>
            </a:r>
            <a:r>
              <a:rPr sz="1600" b="0" dirty="0" err="1">
                <a:solidFill>
                  <a:srgbClr val="181B27"/>
                </a:solidFill>
                <a:latin typeface="Arial"/>
              </a:rPr>
              <a:t>donde</a:t>
            </a:r>
            <a:r>
              <a:rPr sz="1600" b="0" dirty="0">
                <a:solidFill>
                  <a:srgbClr val="181B27"/>
                </a:solidFill>
                <a:latin typeface="Arial"/>
              </a:rPr>
              <a:t> </a:t>
            </a:r>
            <a:r>
              <a:rPr sz="1600" b="0" dirty="0" err="1">
                <a:solidFill>
                  <a:srgbClr val="181B27"/>
                </a:solidFill>
                <a:latin typeface="Arial"/>
              </a:rPr>
              <a:t>cada</a:t>
            </a:r>
            <a:r>
              <a:rPr sz="1600" b="0" dirty="0">
                <a:solidFill>
                  <a:srgbClr val="181B27"/>
                </a:solidFill>
                <a:latin typeface="Arial"/>
              </a:rPr>
              <a:t> </a:t>
            </a:r>
            <a:r>
              <a:rPr sz="1600" b="0" dirty="0" err="1">
                <a:solidFill>
                  <a:srgbClr val="181B27"/>
                </a:solidFill>
                <a:latin typeface="Arial"/>
              </a:rPr>
              <a:t>tarea</a:t>
            </a:r>
            <a:r>
              <a:rPr sz="1600" b="0" dirty="0">
                <a:solidFill>
                  <a:srgbClr val="181B27"/>
                </a:solidFill>
                <a:latin typeface="Arial"/>
              </a:rPr>
              <a:t> </a:t>
            </a:r>
            <a:r>
              <a:rPr sz="1600" b="0" dirty="0" err="1">
                <a:solidFill>
                  <a:srgbClr val="181B27"/>
                </a:solidFill>
                <a:latin typeface="Arial"/>
              </a:rPr>
              <a:t>inicia</a:t>
            </a:r>
            <a:r>
              <a:rPr sz="1600" b="0" dirty="0">
                <a:solidFill>
                  <a:srgbClr val="181B27"/>
                </a:solidFill>
                <a:latin typeface="Arial"/>
              </a:rPr>
              <a:t> </a:t>
            </a:r>
            <a:r>
              <a:rPr sz="1600" b="0" dirty="0" err="1">
                <a:solidFill>
                  <a:srgbClr val="181B27"/>
                </a:solidFill>
                <a:latin typeface="Arial"/>
              </a:rPr>
              <a:t>cuando</a:t>
            </a:r>
            <a:r>
              <a:rPr sz="1600" b="0" dirty="0">
                <a:solidFill>
                  <a:srgbClr val="181B27"/>
                </a:solidFill>
                <a:latin typeface="Arial"/>
              </a:rPr>
              <a:t> termina la anterior. </a:t>
            </a:r>
            <a:r>
              <a:rPr sz="1600" b="0" dirty="0" err="1">
                <a:solidFill>
                  <a:srgbClr val="181B27"/>
                </a:solidFill>
                <a:latin typeface="Arial"/>
              </a:rPr>
              <a:t>Esto</a:t>
            </a:r>
            <a:r>
              <a:rPr sz="1600" b="0" dirty="0">
                <a:solidFill>
                  <a:srgbClr val="181B27"/>
                </a:solidFill>
                <a:latin typeface="Arial"/>
              </a:rPr>
              <a:t> </a:t>
            </a:r>
            <a:r>
              <a:rPr sz="1600" b="0" dirty="0" err="1">
                <a:solidFill>
                  <a:srgbClr val="181B27"/>
                </a:solidFill>
                <a:latin typeface="Arial"/>
              </a:rPr>
              <a:t>permite</a:t>
            </a:r>
            <a:r>
              <a:rPr sz="1600" b="0" dirty="0">
                <a:solidFill>
                  <a:srgbClr val="181B27"/>
                </a:solidFill>
                <a:latin typeface="Arial"/>
              </a:rPr>
              <a:t> </a:t>
            </a:r>
            <a:r>
              <a:rPr sz="1600" b="0" dirty="0" err="1">
                <a:solidFill>
                  <a:srgbClr val="181B27"/>
                </a:solidFill>
                <a:latin typeface="Arial"/>
              </a:rPr>
              <a:t>observar</a:t>
            </a:r>
            <a:r>
              <a:rPr sz="1600" b="0" dirty="0">
                <a:solidFill>
                  <a:srgbClr val="181B27"/>
                </a:solidFill>
                <a:latin typeface="Arial"/>
              </a:rPr>
              <a:t> con </a:t>
            </a:r>
            <a:r>
              <a:rPr sz="1600" b="0" dirty="0" err="1">
                <a:solidFill>
                  <a:srgbClr val="181B27"/>
                </a:solidFill>
                <a:latin typeface="Arial"/>
              </a:rPr>
              <a:t>claridad</a:t>
            </a:r>
            <a:r>
              <a:rPr sz="1600" b="0" dirty="0">
                <a:solidFill>
                  <a:srgbClr val="181B27"/>
                </a:solidFill>
                <a:latin typeface="Arial"/>
              </a:rPr>
              <a:t> las </a:t>
            </a:r>
            <a:r>
              <a:rPr sz="1600" b="0" dirty="0" err="1">
                <a:solidFill>
                  <a:srgbClr val="181B27"/>
                </a:solidFill>
                <a:latin typeface="Arial"/>
              </a:rPr>
              <a:t>fechas</a:t>
            </a:r>
            <a:r>
              <a:rPr sz="1600" b="0" dirty="0">
                <a:solidFill>
                  <a:srgbClr val="181B27"/>
                </a:solidFill>
                <a:latin typeface="Arial"/>
              </a:rPr>
              <a:t>, la </a:t>
            </a:r>
            <a:r>
              <a:rPr sz="1600" b="0" dirty="0" err="1">
                <a:solidFill>
                  <a:srgbClr val="181B27"/>
                </a:solidFill>
                <a:latin typeface="Arial"/>
              </a:rPr>
              <a:t>duración</a:t>
            </a:r>
            <a:r>
              <a:rPr sz="1600" b="0" dirty="0">
                <a:solidFill>
                  <a:srgbClr val="181B27"/>
                </a:solidFill>
                <a:latin typeface="Arial"/>
              </a:rPr>
              <a:t> y la </a:t>
            </a:r>
            <a:r>
              <a:rPr sz="1600" b="0" dirty="0" err="1">
                <a:solidFill>
                  <a:srgbClr val="181B27"/>
                </a:solidFill>
                <a:latin typeface="Arial"/>
              </a:rPr>
              <a:t>dependencia</a:t>
            </a:r>
            <a:r>
              <a:rPr sz="1600" b="0" dirty="0">
                <a:solidFill>
                  <a:srgbClr val="181B27"/>
                </a:solidFill>
                <a:latin typeface="Arial"/>
              </a:rPr>
              <a:t> entre </a:t>
            </a:r>
            <a:r>
              <a:rPr sz="1600" b="0" dirty="0" err="1">
                <a:solidFill>
                  <a:srgbClr val="181B27"/>
                </a:solidFill>
                <a:latin typeface="Arial"/>
              </a:rPr>
              <a:t>actividades</a:t>
            </a:r>
            <a:r>
              <a:rPr sz="1600" b="0" dirty="0">
                <a:solidFill>
                  <a:srgbClr val="181B27"/>
                </a:solidFill>
                <a:latin typeface="Arial"/>
              </a:rPr>
              <a:t>.</a:t>
            </a:r>
          </a:p>
          <a:p>
            <a:pPr>
              <a:spcAft>
                <a:spcPts val="900"/>
              </a:spcAft>
            </a:pPr>
            <a:r>
              <a:rPr sz="1600" b="0" dirty="0">
                <a:solidFill>
                  <a:srgbClr val="181B27"/>
                </a:solidFill>
                <a:latin typeface="Arial"/>
              </a:rPr>
              <a:t>• Las </a:t>
            </a:r>
            <a:r>
              <a:rPr sz="1600" b="0" dirty="0" err="1">
                <a:solidFill>
                  <a:srgbClr val="181B27"/>
                </a:solidFill>
                <a:latin typeface="Arial"/>
              </a:rPr>
              <a:t>principales</a:t>
            </a:r>
            <a:r>
              <a:rPr sz="1600" b="0" dirty="0">
                <a:solidFill>
                  <a:srgbClr val="181B27"/>
                </a:solidFill>
                <a:latin typeface="Arial"/>
              </a:rPr>
              <a:t> </a:t>
            </a:r>
            <a:r>
              <a:rPr sz="1600" b="0" dirty="0" err="1">
                <a:solidFill>
                  <a:srgbClr val="181B27"/>
                </a:solidFill>
                <a:latin typeface="Arial"/>
              </a:rPr>
              <a:t>tareas</a:t>
            </a:r>
            <a:r>
              <a:rPr sz="1600" b="0" dirty="0">
                <a:solidFill>
                  <a:srgbClr val="181B27"/>
                </a:solidFill>
                <a:latin typeface="Arial"/>
              </a:rPr>
              <a:t> </a:t>
            </a:r>
            <a:r>
              <a:rPr sz="1600" b="0" dirty="0" err="1">
                <a:solidFill>
                  <a:srgbClr val="181B27"/>
                </a:solidFill>
                <a:latin typeface="Arial"/>
              </a:rPr>
              <a:t>consideradas</a:t>
            </a:r>
            <a:r>
              <a:rPr sz="1600" b="0" dirty="0">
                <a:solidFill>
                  <a:srgbClr val="181B27"/>
                </a:solidFill>
                <a:latin typeface="Arial"/>
              </a:rPr>
              <a:t> </a:t>
            </a:r>
            <a:r>
              <a:rPr sz="1600" b="0" dirty="0" err="1">
                <a:solidFill>
                  <a:srgbClr val="181B27"/>
                </a:solidFill>
                <a:latin typeface="Arial"/>
              </a:rPr>
              <a:t>fueron</a:t>
            </a:r>
            <a:r>
              <a:rPr sz="1600" b="0" dirty="0">
                <a:solidFill>
                  <a:srgbClr val="181B27"/>
                </a:solidFill>
                <a:latin typeface="Arial"/>
              </a:rPr>
              <a:t> </a:t>
            </a:r>
            <a:r>
              <a:rPr sz="1600" b="0" dirty="0" err="1">
                <a:solidFill>
                  <a:srgbClr val="181B27"/>
                </a:solidFill>
                <a:latin typeface="Arial"/>
              </a:rPr>
              <a:t>el</a:t>
            </a:r>
            <a:r>
              <a:rPr sz="1600" b="0" dirty="0">
                <a:solidFill>
                  <a:srgbClr val="181B27"/>
                </a:solidFill>
                <a:latin typeface="Arial"/>
              </a:rPr>
              <a:t> </a:t>
            </a:r>
            <a:r>
              <a:rPr sz="1600" b="0" dirty="0" err="1">
                <a:solidFill>
                  <a:srgbClr val="181B27"/>
                </a:solidFill>
                <a:latin typeface="Arial"/>
              </a:rPr>
              <a:t>diseño</a:t>
            </a:r>
            <a:r>
              <a:rPr sz="1600" b="0" dirty="0">
                <a:solidFill>
                  <a:srgbClr val="181B27"/>
                </a:solidFill>
                <a:latin typeface="Arial"/>
              </a:rPr>
              <a:t> del </a:t>
            </a:r>
            <a:r>
              <a:rPr sz="1600" b="0" dirty="0" err="1">
                <a:solidFill>
                  <a:srgbClr val="181B27"/>
                </a:solidFill>
                <a:latin typeface="Arial"/>
              </a:rPr>
              <a:t>módulo</a:t>
            </a:r>
            <a:r>
              <a:rPr sz="1600" b="0" dirty="0">
                <a:solidFill>
                  <a:srgbClr val="181B27"/>
                </a:solidFill>
                <a:latin typeface="Arial"/>
              </a:rPr>
              <a:t> de </a:t>
            </a:r>
            <a:r>
              <a:rPr sz="1600" b="0" dirty="0" err="1">
                <a:solidFill>
                  <a:srgbClr val="181B27"/>
                </a:solidFill>
                <a:latin typeface="Arial"/>
              </a:rPr>
              <a:t>registro</a:t>
            </a:r>
            <a:r>
              <a:rPr sz="1600" b="0" dirty="0">
                <a:solidFill>
                  <a:srgbClr val="181B27"/>
                </a:solidFill>
                <a:latin typeface="Arial"/>
              </a:rPr>
              <a:t> QR, </a:t>
            </a:r>
            <a:r>
              <a:rPr sz="1600" b="0" dirty="0" err="1">
                <a:solidFill>
                  <a:srgbClr val="181B27"/>
                </a:solidFill>
                <a:latin typeface="Arial"/>
              </a:rPr>
              <a:t>el</a:t>
            </a:r>
            <a:r>
              <a:rPr sz="1600" b="0" dirty="0">
                <a:solidFill>
                  <a:srgbClr val="181B27"/>
                </a:solidFill>
                <a:latin typeface="Arial"/>
              </a:rPr>
              <a:t> </a:t>
            </a:r>
            <a:r>
              <a:rPr sz="1600" b="0" dirty="0" err="1">
                <a:solidFill>
                  <a:srgbClr val="181B27"/>
                </a:solidFill>
                <a:latin typeface="Arial"/>
              </a:rPr>
              <a:t>desarrollo</a:t>
            </a:r>
            <a:r>
              <a:rPr sz="1600" b="0" dirty="0">
                <a:solidFill>
                  <a:srgbClr val="181B27"/>
                </a:solidFill>
                <a:latin typeface="Arial"/>
              </a:rPr>
              <a:t> del panel de </a:t>
            </a:r>
            <a:r>
              <a:rPr sz="1600" b="0" dirty="0" err="1">
                <a:solidFill>
                  <a:srgbClr val="181B27"/>
                </a:solidFill>
                <a:latin typeface="Arial"/>
              </a:rPr>
              <a:t>disponibilidad</a:t>
            </a:r>
            <a:r>
              <a:rPr sz="1600" b="0" dirty="0">
                <a:solidFill>
                  <a:srgbClr val="181B27"/>
                </a:solidFill>
                <a:latin typeface="Arial"/>
              </a:rPr>
              <a:t>, la </a:t>
            </a:r>
            <a:r>
              <a:rPr sz="1600" b="0" dirty="0" err="1">
                <a:solidFill>
                  <a:srgbClr val="181B27"/>
                </a:solidFill>
                <a:latin typeface="Arial"/>
              </a:rPr>
              <a:t>integración</a:t>
            </a:r>
            <a:r>
              <a:rPr sz="1600" b="0" dirty="0">
                <a:solidFill>
                  <a:srgbClr val="181B27"/>
                </a:solidFill>
                <a:latin typeface="Arial"/>
              </a:rPr>
              <a:t> con </a:t>
            </a:r>
            <a:r>
              <a:rPr sz="1600" b="0" dirty="0" err="1">
                <a:solidFill>
                  <a:srgbClr val="181B27"/>
                </a:solidFill>
                <a:latin typeface="Arial"/>
              </a:rPr>
              <a:t>el</a:t>
            </a:r>
            <a:r>
              <a:rPr sz="1600" b="0" dirty="0">
                <a:solidFill>
                  <a:srgbClr val="181B27"/>
                </a:solidFill>
                <a:latin typeface="Arial"/>
              </a:rPr>
              <a:t> hardware de </a:t>
            </a:r>
            <a:r>
              <a:rPr sz="1600" b="0" dirty="0" err="1">
                <a:solidFill>
                  <a:srgbClr val="181B27"/>
                </a:solidFill>
                <a:latin typeface="Arial"/>
              </a:rPr>
              <a:t>lectura</a:t>
            </a:r>
            <a:r>
              <a:rPr sz="1600" b="0" dirty="0">
                <a:solidFill>
                  <a:srgbClr val="181B27"/>
                </a:solidFill>
                <a:latin typeface="Arial"/>
              </a:rPr>
              <a:t> y las </a:t>
            </a:r>
            <a:r>
              <a:rPr sz="1600" b="0" dirty="0" err="1">
                <a:solidFill>
                  <a:srgbClr val="181B27"/>
                </a:solidFill>
                <a:latin typeface="Arial"/>
              </a:rPr>
              <a:t>pruebas</a:t>
            </a:r>
            <a:r>
              <a:rPr sz="1600" b="0" dirty="0">
                <a:solidFill>
                  <a:srgbClr val="181B27"/>
                </a:solidFill>
                <a:latin typeface="Arial"/>
              </a:rPr>
              <a:t> con </a:t>
            </a:r>
            <a:r>
              <a:rPr sz="1600" b="0" dirty="0" err="1">
                <a:solidFill>
                  <a:srgbClr val="181B27"/>
                </a:solidFill>
                <a:latin typeface="Arial"/>
              </a:rPr>
              <a:t>documentación</a:t>
            </a:r>
            <a:r>
              <a:rPr sz="1600" b="0" dirty="0">
                <a:solidFill>
                  <a:srgbClr val="181B27"/>
                </a:solidFill>
                <a:latin typeface="Arial"/>
              </a:rPr>
              <a:t> final.</a:t>
            </a:r>
          </a:p>
          <a:p>
            <a:pPr>
              <a:spcAft>
                <a:spcPts val="900"/>
              </a:spcAft>
            </a:pPr>
            <a:r>
              <a:rPr sz="1600" b="0" dirty="0">
                <a:solidFill>
                  <a:srgbClr val="181B27"/>
                </a:solidFill>
                <a:latin typeface="Arial"/>
              </a:rPr>
              <a:t>• Este </a:t>
            </a:r>
            <a:r>
              <a:rPr sz="1600" b="0" dirty="0" err="1">
                <a:solidFill>
                  <a:srgbClr val="181B27"/>
                </a:solidFill>
                <a:latin typeface="Arial"/>
              </a:rPr>
              <a:t>ejercicio</a:t>
            </a:r>
            <a:r>
              <a:rPr sz="1600" b="0" dirty="0">
                <a:solidFill>
                  <a:srgbClr val="181B27"/>
                </a:solidFill>
                <a:latin typeface="Arial"/>
              </a:rPr>
              <a:t> </a:t>
            </a:r>
            <a:r>
              <a:rPr sz="1600" b="0" dirty="0" err="1">
                <a:solidFill>
                  <a:srgbClr val="181B27"/>
                </a:solidFill>
                <a:latin typeface="Arial"/>
              </a:rPr>
              <a:t>permite</a:t>
            </a:r>
            <a:r>
              <a:rPr sz="1600" b="0" dirty="0">
                <a:solidFill>
                  <a:srgbClr val="181B27"/>
                </a:solidFill>
                <a:latin typeface="Arial"/>
              </a:rPr>
              <a:t> </a:t>
            </a:r>
            <a:r>
              <a:rPr sz="1600" b="0" dirty="0" err="1">
                <a:solidFill>
                  <a:srgbClr val="181B27"/>
                </a:solidFill>
                <a:latin typeface="Arial"/>
              </a:rPr>
              <a:t>comprobar</a:t>
            </a:r>
            <a:r>
              <a:rPr sz="1600" b="0" dirty="0">
                <a:solidFill>
                  <a:srgbClr val="181B27"/>
                </a:solidFill>
                <a:latin typeface="Arial"/>
              </a:rPr>
              <a:t> que PMBOK es </a:t>
            </a:r>
            <a:r>
              <a:rPr sz="1600" b="0" dirty="0" err="1">
                <a:solidFill>
                  <a:srgbClr val="181B27"/>
                </a:solidFill>
                <a:latin typeface="Arial"/>
              </a:rPr>
              <a:t>útil</a:t>
            </a:r>
            <a:r>
              <a:rPr sz="1600" b="0" dirty="0">
                <a:solidFill>
                  <a:srgbClr val="181B27"/>
                </a:solidFill>
                <a:latin typeface="Arial"/>
              </a:rPr>
              <a:t> </a:t>
            </a:r>
            <a:r>
              <a:rPr sz="1600" b="0" dirty="0" err="1">
                <a:solidFill>
                  <a:srgbClr val="181B27"/>
                </a:solidFill>
                <a:latin typeface="Arial"/>
              </a:rPr>
              <a:t>cuando</a:t>
            </a:r>
            <a:r>
              <a:rPr sz="1600" b="0" dirty="0">
                <a:solidFill>
                  <a:srgbClr val="181B27"/>
                </a:solidFill>
                <a:latin typeface="Arial"/>
              </a:rPr>
              <a:t> </a:t>
            </a:r>
            <a:r>
              <a:rPr sz="1600" b="0" dirty="0" err="1">
                <a:solidFill>
                  <a:srgbClr val="181B27"/>
                </a:solidFill>
                <a:latin typeface="Arial"/>
              </a:rPr>
              <a:t>el</a:t>
            </a:r>
            <a:r>
              <a:rPr sz="1600" b="0" dirty="0">
                <a:solidFill>
                  <a:srgbClr val="181B27"/>
                </a:solidFill>
                <a:latin typeface="Arial"/>
              </a:rPr>
              <a:t> </a:t>
            </a:r>
            <a:r>
              <a:rPr sz="1600" b="0" dirty="0" err="1">
                <a:solidFill>
                  <a:srgbClr val="181B27"/>
                </a:solidFill>
                <a:latin typeface="Arial"/>
              </a:rPr>
              <a:t>proyecto</a:t>
            </a:r>
            <a:r>
              <a:rPr sz="1600" b="0" dirty="0">
                <a:solidFill>
                  <a:srgbClr val="181B27"/>
                </a:solidFill>
                <a:latin typeface="Arial"/>
              </a:rPr>
              <a:t> </a:t>
            </a:r>
            <a:r>
              <a:rPr sz="1600" b="0" dirty="0" err="1">
                <a:solidFill>
                  <a:srgbClr val="181B27"/>
                </a:solidFill>
                <a:latin typeface="Arial"/>
              </a:rPr>
              <a:t>requiere</a:t>
            </a:r>
            <a:r>
              <a:rPr sz="1600" b="0" dirty="0">
                <a:solidFill>
                  <a:srgbClr val="181B27"/>
                </a:solidFill>
                <a:latin typeface="Arial"/>
              </a:rPr>
              <a:t> control </a:t>
            </a:r>
            <a:r>
              <a:rPr sz="1600" b="0" dirty="0" err="1">
                <a:solidFill>
                  <a:srgbClr val="181B27"/>
                </a:solidFill>
                <a:latin typeface="Arial"/>
              </a:rPr>
              <a:t>estricto</a:t>
            </a:r>
            <a:r>
              <a:rPr sz="1600" b="0" dirty="0">
                <a:solidFill>
                  <a:srgbClr val="181B27"/>
                </a:solidFill>
                <a:latin typeface="Arial"/>
              </a:rPr>
              <a:t>, </a:t>
            </a:r>
            <a:r>
              <a:rPr sz="1600" b="0" dirty="0" err="1">
                <a:solidFill>
                  <a:srgbClr val="181B27"/>
                </a:solidFill>
                <a:latin typeface="Arial"/>
              </a:rPr>
              <a:t>seguimiento</a:t>
            </a:r>
            <a:r>
              <a:rPr sz="1600" b="0" dirty="0">
                <a:solidFill>
                  <a:srgbClr val="181B27"/>
                </a:solidFill>
                <a:latin typeface="Arial"/>
              </a:rPr>
              <a:t> de </a:t>
            </a:r>
            <a:r>
              <a:rPr sz="1600" b="0" dirty="0" err="1">
                <a:solidFill>
                  <a:srgbClr val="181B27"/>
                </a:solidFill>
                <a:latin typeface="Arial"/>
              </a:rPr>
              <a:t>tiempos</a:t>
            </a:r>
            <a:r>
              <a:rPr sz="1600" b="0" dirty="0">
                <a:solidFill>
                  <a:srgbClr val="181B27"/>
                </a:solidFill>
                <a:latin typeface="Arial"/>
              </a:rPr>
              <a:t> y </a:t>
            </a:r>
            <a:r>
              <a:rPr sz="1600" b="0" dirty="0" err="1">
                <a:solidFill>
                  <a:srgbClr val="181B27"/>
                </a:solidFill>
                <a:latin typeface="Arial"/>
              </a:rPr>
              <a:t>una</a:t>
            </a:r>
            <a:r>
              <a:rPr sz="1600" b="0" dirty="0">
                <a:solidFill>
                  <a:srgbClr val="181B27"/>
                </a:solidFill>
                <a:latin typeface="Arial"/>
              </a:rPr>
              <a:t> </a:t>
            </a:r>
            <a:r>
              <a:rPr sz="1600" b="0" dirty="0" err="1">
                <a:solidFill>
                  <a:srgbClr val="181B27"/>
                </a:solidFill>
                <a:latin typeface="Arial"/>
              </a:rPr>
              <a:t>ruta</a:t>
            </a:r>
            <a:r>
              <a:rPr sz="1600" b="0" dirty="0">
                <a:solidFill>
                  <a:srgbClr val="181B27"/>
                </a:solidFill>
                <a:latin typeface="Arial"/>
              </a:rPr>
              <a:t> de </a:t>
            </a:r>
            <a:r>
              <a:rPr sz="1600" b="0" dirty="0" err="1">
                <a:solidFill>
                  <a:srgbClr val="181B27"/>
                </a:solidFill>
                <a:latin typeface="Arial"/>
              </a:rPr>
              <a:t>trabajo</a:t>
            </a:r>
            <a:r>
              <a:rPr sz="1600" b="0" dirty="0">
                <a:solidFill>
                  <a:srgbClr val="181B27"/>
                </a:solidFill>
                <a:latin typeface="Arial"/>
              </a:rPr>
              <a:t> bien </a:t>
            </a:r>
            <a:r>
              <a:rPr sz="1600" b="0" dirty="0" err="1">
                <a:solidFill>
                  <a:srgbClr val="181B27"/>
                </a:solidFill>
                <a:latin typeface="Arial"/>
              </a:rPr>
              <a:t>definida</a:t>
            </a:r>
            <a:r>
              <a:rPr sz="1600" b="0" dirty="0">
                <a:solidFill>
                  <a:srgbClr val="181B27"/>
                </a:solidFill>
                <a:latin typeface="Arial"/>
              </a:rPr>
              <a:t> </a:t>
            </a:r>
            <a:r>
              <a:rPr sz="1600" b="0" dirty="0" err="1">
                <a:solidFill>
                  <a:srgbClr val="181B27"/>
                </a:solidFill>
                <a:latin typeface="Arial"/>
              </a:rPr>
              <a:t>desde</a:t>
            </a:r>
            <a:r>
              <a:rPr sz="1600" b="0" dirty="0">
                <a:solidFill>
                  <a:srgbClr val="181B27"/>
                </a:solidFill>
                <a:latin typeface="Arial"/>
              </a:rPr>
              <a:t> </a:t>
            </a:r>
            <a:r>
              <a:rPr sz="1600" b="0" dirty="0" err="1">
                <a:solidFill>
                  <a:srgbClr val="181B27"/>
                </a:solidFill>
                <a:latin typeface="Arial"/>
              </a:rPr>
              <a:t>el</a:t>
            </a:r>
            <a:r>
              <a:rPr sz="1600" b="0" dirty="0">
                <a:solidFill>
                  <a:srgbClr val="181B27"/>
                </a:solidFill>
                <a:latin typeface="Arial"/>
              </a:rPr>
              <a:t> </a:t>
            </a:r>
            <a:r>
              <a:rPr sz="1600" b="0" dirty="0" err="1">
                <a:solidFill>
                  <a:srgbClr val="181B27"/>
                </a:solidFill>
                <a:latin typeface="Arial"/>
              </a:rPr>
              <a:t>inicio</a:t>
            </a:r>
            <a:r>
              <a:rPr sz="1600" b="0" dirty="0">
                <a:solidFill>
                  <a:srgbClr val="181B27"/>
                </a:solidFill>
                <a:latin typeface="Aria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411480"/>
          </a:xfrm>
          <a:prstGeom prst="rect">
            <a:avLst/>
          </a:prstGeom>
          <a:noFill/>
        </p:spPr>
        <p:txBody>
          <a:bodyPr wrap="square">
            <a:spAutoFit/>
          </a:bodyPr>
          <a:lstStyle/>
          <a:p>
            <a:r>
              <a:rPr sz="2600" b="1">
                <a:solidFill>
                  <a:srgbClr val="1F2B67"/>
                </a:solidFill>
                <a:latin typeface="Arial"/>
              </a:rPr>
              <a:t>Evidencia PMBOK en ProjectLibre</a:t>
            </a:r>
          </a:p>
        </p:txBody>
      </p:sp>
      <p:pic>
        <p:nvPicPr>
          <p:cNvPr id="3" name="Picture 2" descr="interfaz_gantt_de_estacionatec_en_español.png"/>
          <p:cNvPicPr>
            <a:picLocks noChangeAspect="1"/>
          </p:cNvPicPr>
          <p:nvPr/>
        </p:nvPicPr>
        <p:blipFill>
          <a:blip r:embed="rId2"/>
          <a:stretch>
            <a:fillRect/>
          </a:stretch>
        </p:blipFill>
        <p:spPr>
          <a:xfrm>
            <a:off x="1066937" y="914400"/>
            <a:ext cx="10073364" cy="5669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1560" y="320040"/>
            <a:ext cx="10607040" cy="457200"/>
          </a:xfrm>
          <a:prstGeom prst="rect">
            <a:avLst/>
          </a:prstGeom>
          <a:noFill/>
        </p:spPr>
        <p:txBody>
          <a:bodyPr wrap="square">
            <a:spAutoFit/>
          </a:bodyPr>
          <a:lstStyle/>
          <a:p>
            <a:r>
              <a:rPr sz="2600" b="1">
                <a:solidFill>
                  <a:srgbClr val="1F2B67"/>
                </a:solidFill>
                <a:latin typeface="Arial"/>
              </a:rPr>
              <a:t>Ejercicio Scrum – Proyecto Rinconcito VC</a:t>
            </a:r>
          </a:p>
        </p:txBody>
      </p:sp>
      <p:sp>
        <p:nvSpPr>
          <p:cNvPr id="6" name="TextBox 5"/>
          <p:cNvSpPr txBox="1"/>
          <p:nvPr/>
        </p:nvSpPr>
        <p:spPr>
          <a:xfrm>
            <a:off x="594360" y="1097280"/>
            <a:ext cx="10972800" cy="5120640"/>
          </a:xfrm>
          <a:prstGeom prst="rect">
            <a:avLst/>
          </a:prstGeom>
          <a:noFill/>
        </p:spPr>
        <p:txBody>
          <a:bodyPr wrap="square">
            <a:spAutoFit/>
          </a:bodyPr>
          <a:lstStyle/>
          <a:p>
            <a:pPr>
              <a:lnSpc>
                <a:spcPct val="115000"/>
              </a:lnSpc>
              <a:spcAft>
                <a:spcPts val="800"/>
              </a:spcAft>
            </a:pPr>
            <a:endParaRPr/>
          </a:p>
        </p:txBody>
      </p:sp>
      <p:sp>
        <p:nvSpPr>
          <p:cNvPr id="7" name="TextBox 6"/>
          <p:cNvSpPr txBox="1"/>
          <p:nvPr/>
        </p:nvSpPr>
        <p:spPr>
          <a:xfrm>
            <a:off x="640080" y="1143000"/>
            <a:ext cx="10972800" cy="5029200"/>
          </a:xfrm>
          <a:prstGeom prst="rect">
            <a:avLst/>
          </a:prstGeom>
          <a:noFill/>
        </p:spPr>
        <p:txBody>
          <a:bodyPr wrap="square">
            <a:spAutoFit/>
          </a:bodyPr>
          <a:lstStyle/>
          <a:p>
            <a:pPr>
              <a:spcAft>
                <a:spcPts val="900"/>
              </a:spcAft>
            </a:pPr>
            <a:r>
              <a:rPr sz="1600" b="0">
                <a:solidFill>
                  <a:srgbClr val="181B27"/>
                </a:solidFill>
                <a:latin typeface="Arial"/>
              </a:rPr>
              <a:t>• En Rinconcito VC se aplicó Scrum para dividir el desarrollo del marketplace de café en bloques cortos de trabajo llamados Sprints.</a:t>
            </a:r>
          </a:p>
          <a:p>
            <a:pPr>
              <a:spcAft>
                <a:spcPts val="900"/>
              </a:spcAft>
            </a:pPr>
            <a:r>
              <a:rPr sz="1600" b="0">
                <a:solidFill>
                  <a:srgbClr val="181B27"/>
                </a:solidFill>
                <a:latin typeface="Arial"/>
              </a:rPr>
              <a:t>• La imagen del Backlog en Jira muestra las historias de usuario organizadas por Sprint, lo que permite identificar qué actividades se trabajarán primero y cuáles forman parte de entregas posteriores.</a:t>
            </a:r>
          </a:p>
          <a:p>
            <a:pPr>
              <a:spcAft>
                <a:spcPts val="900"/>
              </a:spcAft>
            </a:pPr>
            <a:r>
              <a:rPr sz="1600" b="0">
                <a:solidFill>
                  <a:srgbClr val="181B27"/>
                </a:solidFill>
                <a:latin typeface="Arial"/>
              </a:rPr>
              <a:t>• El Product Backlog se estructuró en actividades relacionadas con vendedores, catálogo de productos, pagos en línea y sistema de calificaciones. Cada grupo representa una parte funcional del proyecto.</a:t>
            </a:r>
          </a:p>
          <a:p>
            <a:pPr>
              <a:spcAft>
                <a:spcPts val="900"/>
              </a:spcAft>
            </a:pPr>
            <a:r>
              <a:rPr sz="1600" b="0">
                <a:solidFill>
                  <a:srgbClr val="181B27"/>
                </a:solidFill>
                <a:latin typeface="Arial"/>
              </a:rPr>
              <a:t>• Este ejercicio demuestra que Scrum facilita avanzar por incrementos, revisar resultados al terminar cada Sprint y ajustar el producto conforme se identifican mejoras o nuevas necesidades.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411480"/>
          </a:xfrm>
          <a:prstGeom prst="rect">
            <a:avLst/>
          </a:prstGeom>
          <a:noFill/>
        </p:spPr>
        <p:txBody>
          <a:bodyPr wrap="square">
            <a:spAutoFit/>
          </a:bodyPr>
          <a:lstStyle/>
          <a:p>
            <a:r>
              <a:rPr sz="2600" b="1">
                <a:solidFill>
                  <a:srgbClr val="1F2B67"/>
                </a:solidFill>
                <a:latin typeface="Arial"/>
              </a:rPr>
              <a:t>Evidencia Scrum en Jira Backlog</a:t>
            </a:r>
          </a:p>
        </p:txBody>
      </p:sp>
      <p:pic>
        <p:nvPicPr>
          <p:cNvPr id="3" name="Picture 2" descr="tablero_de_backlog_jira_en_español.png"/>
          <p:cNvPicPr>
            <a:picLocks noChangeAspect="1"/>
          </p:cNvPicPr>
          <p:nvPr/>
        </p:nvPicPr>
        <p:blipFill>
          <a:blip r:embed="rId2"/>
          <a:stretch>
            <a:fillRect/>
          </a:stretch>
        </p:blipFill>
        <p:spPr>
          <a:xfrm>
            <a:off x="1066937" y="914400"/>
            <a:ext cx="10073364" cy="5669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411480" y="320040"/>
            <a:ext cx="502920" cy="502920"/>
          </a:xfrm>
          <a:prstGeom prst="ellipse">
            <a:avLst/>
          </a:prstGeom>
          <a:solidFill>
            <a:srgbClr val="3C4ED2"/>
          </a:solidFill>
          <a:ln>
            <a:solidFill>
              <a:srgbClr val="3C4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429768"/>
            <a:ext cx="502920" cy="228600"/>
          </a:xfrm>
          <a:prstGeom prst="rect">
            <a:avLst/>
          </a:prstGeom>
          <a:noFill/>
        </p:spPr>
        <p:txBody>
          <a:bodyPr wrap="square">
            <a:spAutoFit/>
          </a:bodyPr>
          <a:lstStyle/>
          <a:p>
            <a:pPr algn="ctr"/>
            <a:r>
              <a:rPr sz="1800" b="1">
                <a:solidFill>
                  <a:srgbClr val="FFFFFF"/>
                </a:solidFill>
                <a:latin typeface="Arial"/>
              </a:rPr>
              <a:t>K</a:t>
            </a:r>
          </a:p>
        </p:txBody>
      </p:sp>
      <p:sp>
        <p:nvSpPr>
          <p:cNvPr id="4" name="TextBox 3"/>
          <p:cNvSpPr txBox="1"/>
          <p:nvPr/>
        </p:nvSpPr>
        <p:spPr>
          <a:xfrm>
            <a:off x="1051560" y="320040"/>
            <a:ext cx="10607040" cy="457200"/>
          </a:xfrm>
          <a:prstGeom prst="rect">
            <a:avLst/>
          </a:prstGeom>
          <a:noFill/>
        </p:spPr>
        <p:txBody>
          <a:bodyPr wrap="square">
            <a:spAutoFit/>
          </a:bodyPr>
          <a:lstStyle/>
          <a:p>
            <a:r>
              <a:rPr sz="2600" b="1">
                <a:solidFill>
                  <a:srgbClr val="1F2B67"/>
                </a:solidFill>
                <a:latin typeface="Arial"/>
              </a:rPr>
              <a:t>Ejercicio Kanban – Proyecto LocalMarket</a:t>
            </a:r>
          </a:p>
        </p:txBody>
      </p:sp>
      <p:sp>
        <p:nvSpPr>
          <p:cNvPr id="5" name="Rectangle 4"/>
          <p:cNvSpPr/>
          <p:nvPr/>
        </p:nvSpPr>
        <p:spPr>
          <a:xfrm>
            <a:off x="1051560" y="896112"/>
            <a:ext cx="1188720" cy="36576"/>
          </a:xfrm>
          <a:prstGeom prst="rect">
            <a:avLst/>
          </a:prstGeom>
          <a:solidFill>
            <a:srgbClr val="3C4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097280"/>
            <a:ext cx="10972800" cy="5120640"/>
          </a:xfrm>
          <a:prstGeom prst="rect">
            <a:avLst/>
          </a:prstGeom>
          <a:noFill/>
        </p:spPr>
        <p:txBody>
          <a:bodyPr wrap="square">
            <a:spAutoFit/>
          </a:bodyPr>
          <a:lstStyle/>
          <a:p>
            <a:pPr>
              <a:lnSpc>
                <a:spcPct val="115000"/>
              </a:lnSpc>
              <a:spcAft>
                <a:spcPts val="800"/>
              </a:spcAft>
            </a:pPr>
            <a:endParaRPr/>
          </a:p>
        </p:txBody>
      </p:sp>
      <p:sp>
        <p:nvSpPr>
          <p:cNvPr id="7" name="TextBox 6"/>
          <p:cNvSpPr txBox="1"/>
          <p:nvPr/>
        </p:nvSpPr>
        <p:spPr>
          <a:xfrm>
            <a:off x="640080" y="1143000"/>
            <a:ext cx="10972800" cy="5029200"/>
          </a:xfrm>
          <a:prstGeom prst="rect">
            <a:avLst/>
          </a:prstGeom>
          <a:noFill/>
        </p:spPr>
        <p:txBody>
          <a:bodyPr wrap="square">
            <a:spAutoFit/>
          </a:bodyPr>
          <a:lstStyle/>
          <a:p>
            <a:pPr>
              <a:spcAft>
                <a:spcPts val="900"/>
              </a:spcAft>
            </a:pPr>
            <a:r>
              <a:rPr sz="1600" b="0">
                <a:solidFill>
                  <a:srgbClr val="181B27"/>
                </a:solidFill>
                <a:latin typeface="Arial"/>
              </a:rPr>
              <a:t>• En LocalMarket se aplicó Kanban para representar el avance de las tareas mediante un tablero visual de trabajo.</a:t>
            </a:r>
          </a:p>
          <a:p>
            <a:pPr>
              <a:spcAft>
                <a:spcPts val="900"/>
              </a:spcAft>
            </a:pPr>
            <a:r>
              <a:rPr sz="1600" b="0">
                <a:solidFill>
                  <a:srgbClr val="181B27"/>
                </a:solidFill>
                <a:latin typeface="Arial"/>
              </a:rPr>
              <a:t>• La imagen del tablero en Jira muestra columnas como Por Hacer, En Proceso, En Revisión y Terminado. Cada tarjeta corresponde a una actividad del marketplace local.</a:t>
            </a:r>
          </a:p>
          <a:p>
            <a:pPr>
              <a:spcAft>
                <a:spcPts val="900"/>
              </a:spcAft>
            </a:pPr>
            <a:r>
              <a:rPr sz="1600" b="0">
                <a:solidFill>
                  <a:srgbClr val="181B27"/>
                </a:solidFill>
                <a:latin typeface="Arial"/>
              </a:rPr>
              <a:t>• Las actividades incluyen diseñar el chat interno, definir categorías, publicar artículos, integrar mapas, revisar solicitudes de envío y completar funciones ya terminadas.</a:t>
            </a:r>
          </a:p>
          <a:p>
            <a:pPr>
              <a:spcAft>
                <a:spcPts val="900"/>
              </a:spcAft>
            </a:pPr>
            <a:r>
              <a:rPr sz="1600" b="0">
                <a:solidFill>
                  <a:srgbClr val="181B27"/>
                </a:solidFill>
                <a:latin typeface="Arial"/>
              </a:rPr>
              <a:t>• Este ejercicio permite observar que Kanban es útil para conocer el estado actual del proyecto, detectar posibles bloqueos y mover las tareas conforme avanzan sin depender de fechas rígidas.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411480"/>
          </a:xfrm>
          <a:prstGeom prst="rect">
            <a:avLst/>
          </a:prstGeom>
          <a:noFill/>
        </p:spPr>
        <p:txBody>
          <a:bodyPr wrap="square">
            <a:spAutoFit/>
          </a:bodyPr>
          <a:lstStyle/>
          <a:p>
            <a:r>
              <a:rPr sz="2600" b="1">
                <a:solidFill>
                  <a:srgbClr val="1F2B67"/>
                </a:solidFill>
                <a:latin typeface="Arial"/>
              </a:rPr>
              <a:t>Evidencia Kanban en Jira Board</a:t>
            </a:r>
          </a:p>
        </p:txBody>
      </p:sp>
      <p:pic>
        <p:nvPicPr>
          <p:cNvPr id="3" name="Picture 2" descr="tablero_kanban_de_localmarket.png"/>
          <p:cNvPicPr>
            <a:picLocks noChangeAspect="1"/>
          </p:cNvPicPr>
          <p:nvPr/>
        </p:nvPicPr>
        <p:blipFill>
          <a:blip r:embed="rId2"/>
          <a:stretch>
            <a:fillRect/>
          </a:stretch>
        </p:blipFill>
        <p:spPr>
          <a:xfrm>
            <a:off x="1066937" y="914400"/>
            <a:ext cx="10073364" cy="5669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457200"/>
          </a:xfrm>
          <a:prstGeom prst="rect">
            <a:avLst/>
          </a:prstGeom>
          <a:noFill/>
        </p:spPr>
        <p:txBody>
          <a:bodyPr wrap="square">
            <a:spAutoFit/>
          </a:bodyPr>
          <a:lstStyle/>
          <a:p>
            <a:r>
              <a:rPr sz="2600" b="1">
                <a:solidFill>
                  <a:srgbClr val="1F2B67"/>
                </a:solidFill>
                <a:latin typeface="Arial"/>
              </a:rPr>
              <a:t>Ejemplo comparativo</a:t>
            </a:r>
          </a:p>
        </p:txBody>
      </p:sp>
      <p:sp>
        <p:nvSpPr>
          <p:cNvPr id="23" name="TextBox 22"/>
          <p:cNvSpPr txBox="1"/>
          <p:nvPr/>
        </p:nvSpPr>
        <p:spPr>
          <a:xfrm>
            <a:off x="777240" y="4617720"/>
            <a:ext cx="10607040" cy="731520"/>
          </a:xfrm>
          <a:prstGeom prst="rect">
            <a:avLst/>
          </a:prstGeom>
          <a:noFill/>
        </p:spPr>
        <p:txBody>
          <a:bodyPr wrap="square">
            <a:spAutoFit/>
          </a:bodyPr>
          <a:lstStyle/>
          <a:p>
            <a:r>
              <a:rPr sz="1600" b="0">
                <a:solidFill>
                  <a:srgbClr val="181B27"/>
                </a:solidFill>
                <a:latin typeface="Arial"/>
              </a:rPr>
              <a:t>Comparar las metodologías permite reconocer que cada una responde a necesidades distintas: PMBOK favorece la planeación formal, Scrum permite entregar por incrementos y Kanban facilita el seguimiento visual del trabajo diario.</a:t>
            </a:r>
          </a:p>
        </p:txBody>
      </p:sp>
      <p:pic>
        <p:nvPicPr>
          <p:cNvPr id="25" name="Imagen 24">
            <a:extLst>
              <a:ext uri="{FF2B5EF4-FFF2-40B4-BE49-F238E27FC236}">
                <a16:creationId xmlns:a16="http://schemas.microsoft.com/office/drawing/2014/main" id="{360DF47B-165C-5BCA-F0E5-85B027E23A34}"/>
              </a:ext>
            </a:extLst>
          </p:cNvPr>
          <p:cNvPicPr>
            <a:picLocks noChangeAspect="1"/>
          </p:cNvPicPr>
          <p:nvPr/>
        </p:nvPicPr>
        <p:blipFill>
          <a:blip r:embed="rId2"/>
          <a:stretch>
            <a:fillRect/>
          </a:stretch>
        </p:blipFill>
        <p:spPr>
          <a:xfrm>
            <a:off x="3082295" y="937107"/>
            <a:ext cx="5555461" cy="35207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662F402-D17B-5BB1-E5D7-93907E8B3BAD}"/>
              </a:ext>
            </a:extLst>
          </p:cNvPr>
          <p:cNvSpPr txBox="1"/>
          <p:nvPr/>
        </p:nvSpPr>
        <p:spPr>
          <a:xfrm>
            <a:off x="2432958" y="2523072"/>
            <a:ext cx="6097554" cy="923330"/>
          </a:xfrm>
          <a:prstGeom prst="rect">
            <a:avLst/>
          </a:prstGeom>
          <a:noFill/>
        </p:spPr>
        <p:txBody>
          <a:bodyPr wrap="square">
            <a:spAutoFit/>
          </a:bodyPr>
          <a:lstStyle/>
          <a:p>
            <a:r>
              <a:rPr lang="es-MX" dirty="0"/>
              <a:t>Anexo link con el formulario utilizado https://github.com/eddiCastS/Formulario-Gestion-de-proyectos-TI.git</a:t>
            </a:r>
          </a:p>
        </p:txBody>
      </p:sp>
      <p:sp>
        <p:nvSpPr>
          <p:cNvPr id="5" name="CuadroTexto 4">
            <a:extLst>
              <a:ext uri="{FF2B5EF4-FFF2-40B4-BE49-F238E27FC236}">
                <a16:creationId xmlns:a16="http://schemas.microsoft.com/office/drawing/2014/main" id="{5A8C7D95-A050-CE28-E4F6-72424D440B69}"/>
              </a:ext>
            </a:extLst>
          </p:cNvPr>
          <p:cNvSpPr txBox="1"/>
          <p:nvPr/>
        </p:nvSpPr>
        <p:spPr>
          <a:xfrm>
            <a:off x="1369268" y="529126"/>
            <a:ext cx="6097554" cy="369332"/>
          </a:xfrm>
          <a:prstGeom prst="rect">
            <a:avLst/>
          </a:prstGeom>
          <a:noFill/>
        </p:spPr>
        <p:txBody>
          <a:bodyPr wrap="square">
            <a:spAutoFit/>
          </a:bodyPr>
          <a:lstStyle/>
          <a:p>
            <a:pPr marL="0" indent="0">
              <a:buNone/>
            </a:pPr>
            <a:r>
              <a:rPr lang="en-US" sz="1800" b="1" dirty="0">
                <a:solidFill>
                  <a:srgbClr val="111111"/>
                </a:solidFill>
                <a:latin typeface="Arial" pitchFamily="34" charset="0"/>
                <a:ea typeface="Arial" pitchFamily="34" charset="-122"/>
                <a:cs typeface="Arial" pitchFamily="34" charset="-120"/>
              </a:rPr>
              <a:t>Link de git hub</a:t>
            </a:r>
            <a:endParaRPr lang="en-US" sz="1800" dirty="0"/>
          </a:p>
        </p:txBody>
      </p:sp>
    </p:spTree>
    <p:extLst>
      <p:ext uri="{BB962C8B-B14F-4D97-AF65-F5344CB8AC3E}">
        <p14:creationId xmlns:p14="http://schemas.microsoft.com/office/powerpoint/2010/main" val="1485932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607040" cy="457200"/>
          </a:xfrm>
          <a:prstGeom prst="rect">
            <a:avLst/>
          </a:prstGeom>
          <a:noFill/>
        </p:spPr>
        <p:txBody>
          <a:bodyPr wrap="square">
            <a:spAutoFit/>
          </a:bodyPr>
          <a:lstStyle/>
          <a:p>
            <a:r>
              <a:rPr sz="2600" b="1">
                <a:solidFill>
                  <a:srgbClr val="1F2B67"/>
                </a:solidFill>
                <a:latin typeface="Arial"/>
              </a:rPr>
              <a:t>Conclusión</a:t>
            </a:r>
          </a:p>
        </p:txBody>
      </p:sp>
      <p:sp>
        <p:nvSpPr>
          <p:cNvPr id="3" name="Rectangle 2"/>
          <p:cNvSpPr/>
          <p:nvPr/>
        </p:nvSpPr>
        <p:spPr>
          <a:xfrm>
            <a:off x="594360" y="896112"/>
            <a:ext cx="1188720" cy="36576"/>
          </a:xfrm>
          <a:prstGeom prst="rect">
            <a:avLst/>
          </a:prstGeom>
          <a:solidFill>
            <a:srgbClr val="3C4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97280"/>
            <a:ext cx="10972800" cy="5120640"/>
          </a:xfrm>
          <a:prstGeom prst="rect">
            <a:avLst/>
          </a:prstGeom>
          <a:noFill/>
        </p:spPr>
        <p:txBody>
          <a:bodyPr wrap="square">
            <a:spAutoFit/>
          </a:bodyPr>
          <a:lstStyle/>
          <a:p>
            <a:pPr>
              <a:lnSpc>
                <a:spcPct val="115000"/>
              </a:lnSpc>
              <a:spcAft>
                <a:spcPts val="800"/>
              </a:spcAft>
            </a:pPr>
            <a:r>
              <a:rPr sz="1700" b="0">
                <a:solidFill>
                  <a:srgbClr val="181B27"/>
                </a:solidFill>
                <a:latin typeface="Arial"/>
              </a:rPr>
              <a:t>Los ejercicios realizados permiten concluir que la gestión de proyectos tecnológicos puede adaptarse de acuerdo con las necesidades de cada caso. PMBOK fue adecuado para EstacionaTec porque permitió planificar actividades con fechas, duración y relaciones de dependencia. Scrum funcionó para Rinconcito VC porque dividió el desarrollo en Sprints y ayudó a organizar el producto por entregas pequeñas. Kanban fue útil en LocalMarket porque permitió visualizar el avance de las tareas y controlar el flujo de trabajo de forma sencilla.</a:t>
            </a:r>
          </a:p>
          <a:p>
            <a:pPr>
              <a:lnSpc>
                <a:spcPct val="115000"/>
              </a:lnSpc>
              <a:spcAft>
                <a:spcPts val="800"/>
              </a:spcAft>
            </a:pPr>
            <a:r>
              <a:rPr sz="1700" b="0">
                <a:solidFill>
                  <a:srgbClr val="181B27"/>
                </a:solidFill>
                <a:latin typeface="Arial"/>
              </a:rPr>
              <a:t>En conjunto, las tres metodologías muestran que administrar un proyecto no consiste únicamente en completar actividades, sino en organizar el proceso, dar seguimiento al avance, identificar problemas a tiempo y seleccionar la herramienta más conveniente según el objetivo del proyecto.</a:t>
            </a:r>
          </a:p>
        </p:txBody>
      </p:sp>
    </p:spTree>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10</TotalTime>
  <Words>924</Words>
  <Application>Microsoft Office PowerPoint</Application>
  <PresentationFormat>Panorámica</PresentationFormat>
  <Paragraphs>48</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-apple-system</vt:lpstr>
      <vt:lpstr>Arial</vt:lpstr>
      <vt:lpstr>Century Gothic</vt:lpstr>
      <vt:lpstr>Wingdings 3</vt:lpstr>
      <vt:lpstr>Espiral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2</cp:revision>
  <dcterms:created xsi:type="dcterms:W3CDTF">2013-01-27T09:14:16Z</dcterms:created>
  <dcterms:modified xsi:type="dcterms:W3CDTF">2026-09-15T06:21:13Z</dcterms:modified>
  <cp:category/>
</cp:coreProperties>
</file>