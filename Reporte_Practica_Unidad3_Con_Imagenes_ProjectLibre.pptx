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1965960" y="1005840"/>
            <a:ext cx="8138160" cy="5212080"/>
          </a:xfrm>
          <a:prstGeom prst="rect">
            <a:avLst/>
          </a:prstGeom>
          <a:noFill/>
        </p:spPr>
        <p:txBody>
          <a:bodyPr wrap="none">
            <a:spAutoFit/>
          </a:bodyPr>
          <a:lstStyle/>
          <a:p>
            <a:pPr algn="ctr"/>
            <a:r>
              <a:rPr sz="1800" b="1">
                <a:solidFill>
                  <a:srgbClr val="181818"/>
                </a:solidFill>
                <a:latin typeface="Arial"/>
              </a:rPr>
              <a:t>TECNOLÓGICO NACIONAL DE MÉXICO</a:t>
            </a:r>
          </a:p>
          <a:p>
            <a:pPr algn="ctr"/>
            <a:r>
              <a:rPr sz="1500" b="1">
                <a:solidFill>
                  <a:srgbClr val="181818"/>
                </a:solidFill>
                <a:latin typeface="Arial"/>
              </a:rPr>
              <a:t>INSTITUTO TECNOLÓGICO DE FRONTERA COMALAPA</a:t>
            </a:r>
          </a:p>
          <a:p>
            <a:pPr algn="ctr"/>
          </a:p>
          <a:p>
            <a:pPr algn="ctr"/>
            <a:r>
              <a:rPr sz="1300" b="1">
                <a:solidFill>
                  <a:srgbClr val="181818"/>
                </a:solidFill>
                <a:latin typeface="Arial"/>
              </a:rPr>
              <a:t>NOMBRE DE LA MATERIA</a:t>
            </a:r>
          </a:p>
          <a:p>
            <a:pPr algn="ctr"/>
            <a:r>
              <a:rPr sz="1500" b="0">
                <a:solidFill>
                  <a:srgbClr val="181818"/>
                </a:solidFill>
                <a:latin typeface="Arial"/>
              </a:rPr>
              <a:t>Gestión de proyectos de TI</a:t>
            </a:r>
          </a:p>
          <a:p>
            <a:pPr algn="ctr"/>
          </a:p>
          <a:p>
            <a:pPr algn="ctr"/>
            <a:r>
              <a:rPr sz="1300" b="1">
                <a:solidFill>
                  <a:srgbClr val="181818"/>
                </a:solidFill>
                <a:latin typeface="Arial"/>
              </a:rPr>
              <a:t>NOMBRE DEL ESTUDIANTE</a:t>
            </a:r>
          </a:p>
          <a:p>
            <a:pPr algn="ctr"/>
            <a:r>
              <a:rPr sz="1500" b="0">
                <a:solidFill>
                  <a:srgbClr val="181818"/>
                </a:solidFill>
                <a:latin typeface="Arial"/>
              </a:rPr>
              <a:t>EDDI URIEL CASTILLO SÁNCHEZ</a:t>
            </a:r>
          </a:p>
          <a:p>
            <a:pPr algn="ctr"/>
          </a:p>
          <a:p>
            <a:pPr algn="ctr"/>
            <a:r>
              <a:rPr sz="1300" b="1">
                <a:solidFill>
                  <a:srgbClr val="181818"/>
                </a:solidFill>
                <a:latin typeface="Arial"/>
              </a:rPr>
              <a:t>CARRERA</a:t>
            </a:r>
          </a:p>
          <a:p>
            <a:pPr algn="ctr"/>
            <a:r>
              <a:rPr sz="1500" b="0">
                <a:solidFill>
                  <a:srgbClr val="181818"/>
                </a:solidFill>
                <a:latin typeface="Arial"/>
              </a:rPr>
              <a:t>INGENIERÍA EN SISTEMAS COMPUTACIONALES</a:t>
            </a:r>
          </a:p>
          <a:p>
            <a:pPr algn="ctr"/>
          </a:p>
          <a:p>
            <a:pPr algn="ctr"/>
            <a:r>
              <a:rPr sz="1300" b="1">
                <a:solidFill>
                  <a:srgbClr val="181818"/>
                </a:solidFill>
                <a:latin typeface="Arial"/>
              </a:rPr>
              <a:t>SEMESTRE</a:t>
            </a:r>
          </a:p>
          <a:p>
            <a:pPr algn="ctr"/>
            <a:r>
              <a:rPr sz="1500" b="0">
                <a:solidFill>
                  <a:srgbClr val="181818"/>
                </a:solidFill>
                <a:latin typeface="Arial"/>
              </a:rPr>
              <a:t>SÉPTIMO SEMESTRE</a:t>
            </a:r>
          </a:p>
          <a:p>
            <a:pPr algn="ctr"/>
          </a:p>
          <a:p>
            <a:pPr algn="ctr"/>
            <a:r>
              <a:rPr sz="1300" b="1">
                <a:solidFill>
                  <a:srgbClr val="181818"/>
                </a:solidFill>
                <a:latin typeface="Arial"/>
              </a:rPr>
              <a:t>NOMBRE DEL DOCENTE</a:t>
            </a:r>
          </a:p>
          <a:p>
            <a:pPr algn="ctr"/>
            <a:r>
              <a:rPr sz="1500" b="0">
                <a:solidFill>
                  <a:srgbClr val="181818"/>
                </a:solidFill>
                <a:latin typeface="Arial"/>
              </a:rPr>
              <a:t>Ing. Javier Francisco Mingo Velázquez</a:t>
            </a:r>
          </a:p>
          <a:p>
            <a:pPr algn="ctr"/>
          </a:p>
          <a:p>
            <a:pPr algn="ctr"/>
            <a:r>
              <a:rPr sz="1300" b="1">
                <a:solidFill>
                  <a:srgbClr val="181818"/>
                </a:solidFill>
                <a:latin typeface="Arial"/>
              </a:rPr>
              <a:t>NOMBRE DEL TRABAJO</a:t>
            </a:r>
          </a:p>
          <a:p>
            <a:pPr algn="ctr"/>
            <a:r>
              <a:rPr sz="1500" b="0">
                <a:solidFill>
                  <a:srgbClr val="181818"/>
                </a:solidFill>
                <a:latin typeface="Arial"/>
              </a:rPr>
              <a:t>Actividad 3 Reporte de práctica</a:t>
            </a:r>
          </a:p>
          <a:p>
            <a:pPr algn="ctr"/>
          </a:p>
          <a:p>
            <a:pPr algn="ctr"/>
            <a:r>
              <a:rPr sz="1300" b="1">
                <a:solidFill>
                  <a:srgbClr val="181818"/>
                </a:solidFill>
                <a:latin typeface="Arial"/>
              </a:rPr>
              <a:t>LUGAR Y FECHA</a:t>
            </a:r>
          </a:p>
          <a:p>
            <a:pPr algn="ctr"/>
            <a:r>
              <a:rPr sz="1500" b="0">
                <a:solidFill>
                  <a:srgbClr val="181818"/>
                </a:solidFill>
                <a:latin typeface="Arial"/>
              </a:rPr>
              <a:t>Frontera Comalapa, Chiapas · septiembre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Introducción</a:t>
            </a:r>
          </a:p>
        </p:txBody>
      </p:sp>
      <p:sp>
        <p:nvSpPr>
          <p:cNvPr id="5" name="TextBox 4"/>
          <p:cNvSpPr txBox="1"/>
          <p:nvPr/>
        </p:nvSpPr>
        <p:spPr>
          <a:xfrm>
            <a:off x="877824" y="1078992"/>
            <a:ext cx="10332720" cy="4389120"/>
          </a:xfrm>
          <a:prstGeom prst="rect">
            <a:avLst/>
          </a:prstGeom>
          <a:noFill/>
        </p:spPr>
        <p:txBody>
          <a:bodyPr wrap="square" lIns="25400" rIns="25400" tIns="12700" bIns="12700">
            <a:spAutoFit/>
          </a:bodyPr>
          <a:lstStyle/>
          <a:p>
            <a:r>
              <a:rPr sz="1450" b="0">
                <a:solidFill>
                  <a:srgbClr val="303030"/>
                </a:solidFill>
                <a:latin typeface="Arial"/>
              </a:rPr>
              <a:t>ProjectLibre es una herramienta que permite organizar proyectos mediante cronogramas, tareas, recursos y seguimiento del avance. En esta práctica se tomó como base dicha herramienta para representar de forma visual cómo podrían estructurarse los proyectos trabajados en la materia.
Para este reporte se incorporaron imágenes de ProjectLibre sin información capturada. Estas vistas se utilizaron como plantillas visuales para explicar dónde se realizaría cada proceso de planeación, como el registro de tareas, la elaboración del cronograma, la organización de recursos y el análisis de la ruta crítica.</a:t>
            </a:r>
          </a:p>
        </p:txBody>
      </p:sp>
      <p:sp>
        <p:nvSpPr>
          <p:cNvPr id="6" name="TextBox 5"/>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Justificación</a:t>
            </a:r>
          </a:p>
        </p:txBody>
      </p:sp>
      <p:sp>
        <p:nvSpPr>
          <p:cNvPr id="5" name="TextBox 4"/>
          <p:cNvSpPr txBox="1"/>
          <p:nvPr/>
        </p:nvSpPr>
        <p:spPr>
          <a:xfrm>
            <a:off x="877824" y="1078992"/>
            <a:ext cx="10332720" cy="4389120"/>
          </a:xfrm>
          <a:prstGeom prst="rect">
            <a:avLst/>
          </a:prstGeom>
          <a:noFill/>
        </p:spPr>
        <p:txBody>
          <a:bodyPr wrap="square" lIns="25400" rIns="25400" tIns="12700" bIns="12700">
            <a:spAutoFit/>
          </a:bodyPr>
          <a:lstStyle/>
          <a:p>
            <a:r>
              <a:rPr sz="1420" b="0">
                <a:solidFill>
                  <a:srgbClr val="303030"/>
                </a:solidFill>
                <a:latin typeface="Arial"/>
              </a:rPr>
              <a:t>La práctica se realizó de esta manera para mostrar el procedimiento sin llenar todavía la información definitiva de cada proyecto. Esto permite explicar con claridad el uso del programa y el lugar donde se captura cada elemento de la planeación.
Al utilizar imágenes vacías de ProjectLibre, el reporte se centra en el proceso seguido: reconocer la herramienta, ubicar sus secciones principales y explicar cómo se usaría para organizar actividades, tiempos, recursos y seguimiento. De esta forma, el documento sirve como evidencia del trabajo realizado y al mismo tiempo deja una base visual ordenada.</a:t>
            </a:r>
          </a:p>
        </p:txBody>
      </p:sp>
      <p:sp>
        <p:nvSpPr>
          <p:cNvPr id="6" name="TextBox 5"/>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Interfaz general de ProjectLibre</a:t>
            </a:r>
          </a:p>
        </p:txBody>
      </p:sp>
      <p:sp>
        <p:nvSpPr>
          <p:cNvPr id="5" name="TextBox 4"/>
          <p:cNvSpPr txBox="1"/>
          <p:nvPr/>
        </p:nvSpPr>
        <p:spPr>
          <a:xfrm>
            <a:off x="713232" y="804672"/>
            <a:ext cx="10607040" cy="320040"/>
          </a:xfrm>
          <a:prstGeom prst="rect">
            <a:avLst/>
          </a:prstGeom>
          <a:noFill/>
        </p:spPr>
        <p:txBody>
          <a:bodyPr wrap="square" lIns="25400" rIns="25400" tIns="12700" bIns="12700">
            <a:spAutoFit/>
          </a:bodyPr>
          <a:lstStyle/>
          <a:p>
            <a:r>
              <a:rPr sz="1030" b="0">
                <a:solidFill>
                  <a:srgbClr val="545454"/>
                </a:solidFill>
                <a:latin typeface="Arial"/>
              </a:rPr>
              <a:t>Vista general del programa utilizada como referencia para ubicar las áreas principales de trabajo.</a:t>
            </a:r>
          </a:p>
        </p:txBody>
      </p:sp>
      <p:pic>
        <p:nvPicPr>
          <p:cNvPr id="6" name="Picture 5" descr="interfaz_vacía_de_projectlibre.png"/>
          <p:cNvPicPr>
            <a:picLocks noChangeAspect="1"/>
          </p:cNvPicPr>
          <p:nvPr/>
        </p:nvPicPr>
        <p:blipFill>
          <a:blip r:embed="rId2"/>
          <a:stretch>
            <a:fillRect/>
          </a:stretch>
        </p:blipFill>
        <p:spPr>
          <a:xfrm>
            <a:off x="713232" y="1170432"/>
            <a:ext cx="6583680" cy="3705288"/>
          </a:xfrm>
          <a:prstGeom prst="rect">
            <a:avLst/>
          </a:prstGeom>
        </p:spPr>
      </p:pic>
      <p:sp>
        <p:nvSpPr>
          <p:cNvPr id="7" name="Rounded Rectangle 6"/>
          <p:cNvSpPr/>
          <p:nvPr/>
        </p:nvSpPr>
        <p:spPr>
          <a:xfrm>
            <a:off x="7479792" y="1170432"/>
            <a:ext cx="4050791" cy="4919472"/>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53312"/>
            <a:ext cx="3566160" cy="274320"/>
          </a:xfrm>
          <a:prstGeom prst="rect">
            <a:avLst/>
          </a:prstGeom>
          <a:noFill/>
        </p:spPr>
        <p:txBody>
          <a:bodyPr wrap="square" lIns="25400" rIns="25400" tIns="12700" bIns="12700">
            <a:spAutoFit/>
          </a:bodyPr>
          <a:lstStyle/>
          <a:p>
            <a:r>
              <a:rPr sz="1250" b="1">
                <a:solidFill>
                  <a:srgbClr val="27486E"/>
                </a:solidFill>
                <a:latin typeface="Arial"/>
              </a:rPr>
              <a:t>Descripción de lo realizado</a:t>
            </a:r>
          </a:p>
        </p:txBody>
      </p:sp>
      <p:sp>
        <p:nvSpPr>
          <p:cNvPr id="9" name="TextBox 8"/>
          <p:cNvSpPr txBox="1"/>
          <p:nvPr/>
        </p:nvSpPr>
        <p:spPr>
          <a:xfrm>
            <a:off x="7699248" y="1673352"/>
            <a:ext cx="3493008" cy="1645920"/>
          </a:xfrm>
          <a:prstGeom prst="rect">
            <a:avLst/>
          </a:prstGeom>
          <a:noFill/>
        </p:spPr>
        <p:txBody>
          <a:bodyPr wrap="square" lIns="25400" rIns="25400" tIns="12700" bIns="12700">
            <a:spAutoFit/>
          </a:bodyPr>
          <a:lstStyle/>
          <a:p>
            <a:r>
              <a:rPr sz="1030" b="0">
                <a:solidFill>
                  <a:srgbClr val="303030"/>
                </a:solidFill>
                <a:latin typeface="Arial"/>
              </a:rPr>
              <a:t>Primero se identificó la interfaz general de ProjectLibre para reconocer las herramientas básicas del programa. En esta vista se puede observar el área donde se registran las tareas y el espacio del cronograma. Aunque la imagen se encuentra vacía, se utilizó para explicar cómo se inicia la planeación de un proyecto dentro del software.</a:t>
            </a:r>
          </a:p>
        </p:txBody>
      </p:sp>
      <p:sp>
        <p:nvSpPr>
          <p:cNvPr id="10" name="TextBox 9"/>
          <p:cNvSpPr txBox="1"/>
          <p:nvPr/>
        </p:nvSpPr>
        <p:spPr>
          <a:xfrm>
            <a:off x="7680960" y="3401568"/>
            <a:ext cx="3474720" cy="256032"/>
          </a:xfrm>
          <a:prstGeom prst="rect">
            <a:avLst/>
          </a:prstGeom>
          <a:noFill/>
        </p:spPr>
        <p:txBody>
          <a:bodyPr wrap="square" lIns="25400" rIns="25400" tIns="12700" bIns="12700">
            <a:spAutoFit/>
          </a:bodyPr>
          <a:lstStyle/>
          <a:p>
            <a:r>
              <a:rPr sz="1220" b="1">
                <a:solidFill>
                  <a:srgbClr val="27486E"/>
                </a:solidFill>
                <a:latin typeface="Arial"/>
              </a:rPr>
              <a:t>Puntos a explicar</a:t>
            </a:r>
          </a:p>
        </p:txBody>
      </p:sp>
      <p:sp>
        <p:nvSpPr>
          <p:cNvPr id="11" name="TextBox 10"/>
          <p:cNvSpPr txBox="1"/>
          <p:nvPr/>
        </p:nvSpPr>
        <p:spPr>
          <a:xfrm>
            <a:off x="7772400" y="3675887"/>
            <a:ext cx="3429000" cy="2011680"/>
          </a:xfrm>
          <a:prstGeom prst="rect">
            <a:avLst/>
          </a:prstGeom>
          <a:noFill/>
        </p:spPr>
        <p:txBody>
          <a:bodyPr wrap="square" lIns="25400" rIns="25400" tIns="12700" bIns="12700">
            <a:spAutoFit/>
          </a:bodyPr>
          <a:lstStyle/>
          <a:p>
            <a:pPr>
              <a:spcAft>
                <a:spcPts val="300"/>
              </a:spcAft>
              <a:defRPr sz="1019">
                <a:solidFill>
                  <a:srgbClr val="303030"/>
                </a:solidFill>
                <a:latin typeface="Arial"/>
              </a:defRPr>
            </a:pPr>
            <a:r>
              <a:t>Se reconocieron las pestañas principales del programa.</a:t>
            </a:r>
          </a:p>
          <a:p>
            <a:pPr>
              <a:spcAft>
                <a:spcPts val="300"/>
              </a:spcAft>
              <a:defRPr sz="1019">
                <a:solidFill>
                  <a:srgbClr val="303030"/>
                </a:solidFill>
                <a:latin typeface="Arial"/>
              </a:defRPr>
            </a:pPr>
            <a:r>
              <a:t>Se ubicó la tabla de tareas y la zona del diagrama de Gantt.</a:t>
            </a:r>
          </a:p>
          <a:p>
            <a:pPr>
              <a:spcAft>
                <a:spcPts val="300"/>
              </a:spcAft>
              <a:defRPr sz="1019">
                <a:solidFill>
                  <a:srgbClr val="303030"/>
                </a:solidFill>
                <a:latin typeface="Arial"/>
              </a:defRPr>
            </a:pPr>
            <a:r>
              <a:t>Se explicó que en esta parte se capturan actividades, duraciones y fechas.</a:t>
            </a:r>
          </a:p>
          <a:p>
            <a:pPr>
              <a:spcAft>
                <a:spcPts val="300"/>
              </a:spcAft>
              <a:defRPr sz="1019">
                <a:solidFill>
                  <a:srgbClr val="303030"/>
                </a:solidFill>
                <a:latin typeface="Arial"/>
              </a:defRPr>
            </a:pPr>
            <a:r>
              <a:t>La imagen funciona como plantilla para futuras evidencias del proyecto.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Plantilla para elaborar el cronograma</a:t>
            </a:r>
          </a:p>
        </p:txBody>
      </p:sp>
      <p:sp>
        <p:nvSpPr>
          <p:cNvPr id="5" name="TextBox 4"/>
          <p:cNvSpPr txBox="1"/>
          <p:nvPr/>
        </p:nvSpPr>
        <p:spPr>
          <a:xfrm>
            <a:off x="713232" y="804672"/>
            <a:ext cx="10607040" cy="320040"/>
          </a:xfrm>
          <a:prstGeom prst="rect">
            <a:avLst/>
          </a:prstGeom>
          <a:noFill/>
        </p:spPr>
        <p:txBody>
          <a:bodyPr wrap="square" lIns="25400" rIns="25400" tIns="12700" bIns="12700">
            <a:spAutoFit/>
          </a:bodyPr>
          <a:lstStyle/>
          <a:p>
            <a:r>
              <a:rPr sz="1030" b="0">
                <a:solidFill>
                  <a:srgbClr val="545454"/>
                </a:solidFill>
                <a:latin typeface="Arial"/>
              </a:rPr>
              <a:t>Vista vacía del diagrama de Gantt empleada para explicar cómo se organizarían las actividades del proyecto.</a:t>
            </a:r>
          </a:p>
        </p:txBody>
      </p:sp>
      <p:pic>
        <p:nvPicPr>
          <p:cNvPr id="6" name="Picture 5" descr="plantilla_gantt_vacía_en_projectlibre.png"/>
          <p:cNvPicPr>
            <a:picLocks noChangeAspect="1"/>
          </p:cNvPicPr>
          <p:nvPr/>
        </p:nvPicPr>
        <p:blipFill>
          <a:blip r:embed="rId2"/>
          <a:stretch>
            <a:fillRect/>
          </a:stretch>
        </p:blipFill>
        <p:spPr>
          <a:xfrm>
            <a:off x="713232" y="1170432"/>
            <a:ext cx="6583680" cy="3705288"/>
          </a:xfrm>
          <a:prstGeom prst="rect">
            <a:avLst/>
          </a:prstGeom>
        </p:spPr>
      </p:pic>
      <p:sp>
        <p:nvSpPr>
          <p:cNvPr id="7" name="Rounded Rectangle 6"/>
          <p:cNvSpPr/>
          <p:nvPr/>
        </p:nvSpPr>
        <p:spPr>
          <a:xfrm>
            <a:off x="7479792" y="1170432"/>
            <a:ext cx="4050791" cy="4919472"/>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53312"/>
            <a:ext cx="3566160" cy="274320"/>
          </a:xfrm>
          <a:prstGeom prst="rect">
            <a:avLst/>
          </a:prstGeom>
          <a:noFill/>
        </p:spPr>
        <p:txBody>
          <a:bodyPr wrap="square" lIns="25400" rIns="25400" tIns="12700" bIns="12700">
            <a:spAutoFit/>
          </a:bodyPr>
          <a:lstStyle/>
          <a:p>
            <a:r>
              <a:rPr sz="1250" b="1">
                <a:solidFill>
                  <a:srgbClr val="27486E"/>
                </a:solidFill>
                <a:latin typeface="Arial"/>
              </a:rPr>
              <a:t>Descripción de lo realizado</a:t>
            </a:r>
          </a:p>
        </p:txBody>
      </p:sp>
      <p:sp>
        <p:nvSpPr>
          <p:cNvPr id="9" name="TextBox 8"/>
          <p:cNvSpPr txBox="1"/>
          <p:nvPr/>
        </p:nvSpPr>
        <p:spPr>
          <a:xfrm>
            <a:off x="7699248" y="1673352"/>
            <a:ext cx="3493008" cy="1645920"/>
          </a:xfrm>
          <a:prstGeom prst="rect">
            <a:avLst/>
          </a:prstGeom>
          <a:noFill/>
        </p:spPr>
        <p:txBody>
          <a:bodyPr wrap="square" lIns="25400" rIns="25400" tIns="12700" bIns="12700">
            <a:spAutoFit/>
          </a:bodyPr>
          <a:lstStyle/>
          <a:p>
            <a:r>
              <a:rPr sz="1030" b="0">
                <a:solidFill>
                  <a:srgbClr val="303030"/>
                </a:solidFill>
                <a:latin typeface="Arial"/>
              </a:rPr>
              <a:t>Después se tomó una plantilla vacía del cronograma en ProjectLibre para mostrar de qué manera se acomodan las actividades en el tiempo. En esta parte del programa se registran el nombre de la actividad, la duración, la fecha de inicio, la fecha de término y las predecesoras. Aunque la información no fue capturada en la imagen, se explicó el orden en que se llenaría cada apartado.</a:t>
            </a:r>
          </a:p>
        </p:txBody>
      </p:sp>
      <p:sp>
        <p:nvSpPr>
          <p:cNvPr id="10" name="TextBox 9"/>
          <p:cNvSpPr txBox="1"/>
          <p:nvPr/>
        </p:nvSpPr>
        <p:spPr>
          <a:xfrm>
            <a:off x="7680960" y="3401568"/>
            <a:ext cx="3474720" cy="256032"/>
          </a:xfrm>
          <a:prstGeom prst="rect">
            <a:avLst/>
          </a:prstGeom>
          <a:noFill/>
        </p:spPr>
        <p:txBody>
          <a:bodyPr wrap="square" lIns="25400" rIns="25400" tIns="12700" bIns="12700">
            <a:spAutoFit/>
          </a:bodyPr>
          <a:lstStyle/>
          <a:p>
            <a:r>
              <a:rPr sz="1220" b="1">
                <a:solidFill>
                  <a:srgbClr val="27486E"/>
                </a:solidFill>
                <a:latin typeface="Arial"/>
              </a:rPr>
              <a:t>Puntos a explicar</a:t>
            </a:r>
          </a:p>
        </p:txBody>
      </p:sp>
      <p:sp>
        <p:nvSpPr>
          <p:cNvPr id="11" name="TextBox 10"/>
          <p:cNvSpPr txBox="1"/>
          <p:nvPr/>
        </p:nvSpPr>
        <p:spPr>
          <a:xfrm>
            <a:off x="7772400" y="3675887"/>
            <a:ext cx="3429000" cy="2011680"/>
          </a:xfrm>
          <a:prstGeom prst="rect">
            <a:avLst/>
          </a:prstGeom>
          <a:noFill/>
        </p:spPr>
        <p:txBody>
          <a:bodyPr wrap="square" lIns="25400" rIns="25400" tIns="12700" bIns="12700">
            <a:spAutoFit/>
          </a:bodyPr>
          <a:lstStyle/>
          <a:p>
            <a:pPr>
              <a:spcAft>
                <a:spcPts val="300"/>
              </a:spcAft>
              <a:defRPr sz="1019">
                <a:solidFill>
                  <a:srgbClr val="303030"/>
                </a:solidFill>
                <a:latin typeface="Arial"/>
              </a:defRPr>
            </a:pPr>
            <a:r>
              <a:t>Aquí se colocan las actividades del proyecto.</a:t>
            </a:r>
          </a:p>
          <a:p>
            <a:pPr>
              <a:spcAft>
                <a:spcPts val="300"/>
              </a:spcAft>
              <a:defRPr sz="1019">
                <a:solidFill>
                  <a:srgbClr val="303030"/>
                </a:solidFill>
                <a:latin typeface="Arial"/>
              </a:defRPr>
            </a:pPr>
            <a:r>
              <a:t>También se registran duraciones, fechas y relaciones entre tareas.</a:t>
            </a:r>
          </a:p>
          <a:p>
            <a:pPr>
              <a:spcAft>
                <a:spcPts val="300"/>
              </a:spcAft>
              <a:defRPr sz="1019">
                <a:solidFill>
                  <a:srgbClr val="303030"/>
                </a:solidFill>
                <a:latin typeface="Arial"/>
              </a:defRPr>
            </a:pPr>
            <a:r>
              <a:t>El diagrama de la derecha permite visualizar el avance en el tiempo.</a:t>
            </a:r>
          </a:p>
          <a:p>
            <a:pPr>
              <a:spcAft>
                <a:spcPts val="300"/>
              </a:spcAft>
              <a:defRPr sz="1019">
                <a:solidFill>
                  <a:srgbClr val="303030"/>
                </a:solidFill>
                <a:latin typeface="Arial"/>
              </a:defRPr>
            </a:pPr>
            <a:r>
              <a:t>Es la base para construir el cronograma de cada proyecto.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Organización de recursos en ProjectLibre</a:t>
            </a:r>
          </a:p>
        </p:txBody>
      </p:sp>
      <p:sp>
        <p:nvSpPr>
          <p:cNvPr id="5" name="TextBox 4"/>
          <p:cNvSpPr txBox="1"/>
          <p:nvPr/>
        </p:nvSpPr>
        <p:spPr>
          <a:xfrm>
            <a:off x="713232" y="804672"/>
            <a:ext cx="10607040" cy="320040"/>
          </a:xfrm>
          <a:prstGeom prst="rect">
            <a:avLst/>
          </a:prstGeom>
          <a:noFill/>
        </p:spPr>
        <p:txBody>
          <a:bodyPr wrap="square" lIns="25400" rIns="25400" tIns="12700" bIns="12700">
            <a:spAutoFit/>
          </a:bodyPr>
          <a:lstStyle/>
          <a:p>
            <a:r>
              <a:rPr sz="1030" b="0">
                <a:solidFill>
                  <a:srgbClr val="545454"/>
                </a:solidFill>
                <a:latin typeface="Arial"/>
              </a:rPr>
              <a:t>Hoja de recursos en blanco utilizada para explicar dónde se asignan las personas o elementos de apoyo del proyecto.</a:t>
            </a:r>
          </a:p>
        </p:txBody>
      </p:sp>
      <p:pic>
        <p:nvPicPr>
          <p:cNvPr id="6" name="Picture 5" descr="interfaz_de_projectlibre_vacía_en_windows_11.png"/>
          <p:cNvPicPr>
            <a:picLocks noChangeAspect="1"/>
          </p:cNvPicPr>
          <p:nvPr/>
        </p:nvPicPr>
        <p:blipFill>
          <a:blip r:embed="rId2"/>
          <a:stretch>
            <a:fillRect/>
          </a:stretch>
        </p:blipFill>
        <p:spPr>
          <a:xfrm>
            <a:off x="713232" y="1170432"/>
            <a:ext cx="6583680" cy="3705288"/>
          </a:xfrm>
          <a:prstGeom prst="rect">
            <a:avLst/>
          </a:prstGeom>
        </p:spPr>
      </p:pic>
      <p:sp>
        <p:nvSpPr>
          <p:cNvPr id="7" name="Rounded Rectangle 6"/>
          <p:cNvSpPr/>
          <p:nvPr/>
        </p:nvSpPr>
        <p:spPr>
          <a:xfrm>
            <a:off x="7479792" y="1170432"/>
            <a:ext cx="4050791" cy="4919472"/>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53312"/>
            <a:ext cx="3566160" cy="274320"/>
          </a:xfrm>
          <a:prstGeom prst="rect">
            <a:avLst/>
          </a:prstGeom>
          <a:noFill/>
        </p:spPr>
        <p:txBody>
          <a:bodyPr wrap="square" lIns="25400" rIns="25400" tIns="12700" bIns="12700">
            <a:spAutoFit/>
          </a:bodyPr>
          <a:lstStyle/>
          <a:p>
            <a:r>
              <a:rPr sz="1250" b="1">
                <a:solidFill>
                  <a:srgbClr val="27486E"/>
                </a:solidFill>
                <a:latin typeface="Arial"/>
              </a:rPr>
              <a:t>Descripción de lo realizado</a:t>
            </a:r>
          </a:p>
        </p:txBody>
      </p:sp>
      <p:sp>
        <p:nvSpPr>
          <p:cNvPr id="9" name="TextBox 8"/>
          <p:cNvSpPr txBox="1"/>
          <p:nvPr/>
        </p:nvSpPr>
        <p:spPr>
          <a:xfrm>
            <a:off x="7699248" y="1673352"/>
            <a:ext cx="3493008" cy="1645920"/>
          </a:xfrm>
          <a:prstGeom prst="rect">
            <a:avLst/>
          </a:prstGeom>
          <a:noFill/>
        </p:spPr>
        <p:txBody>
          <a:bodyPr wrap="square" lIns="25400" rIns="25400" tIns="12700" bIns="12700">
            <a:spAutoFit/>
          </a:bodyPr>
          <a:lstStyle/>
          <a:p>
            <a:r>
              <a:rPr sz="1030" b="0">
                <a:solidFill>
                  <a:srgbClr val="303030"/>
                </a:solidFill>
                <a:latin typeface="Arial"/>
              </a:rPr>
              <a:t>Otra parte revisada fue la vista de recursos. En esta sección se explicó que el programa permite registrar los recursos necesarios para el proyecto, como personas, responsables o recursos de apoyo. La imagen está vacía porque se dejó únicamente como ejemplo de la estructura del programa, pero sirve para señalar el espacio donde se administrarían los recursos y costos básicos.</a:t>
            </a:r>
          </a:p>
        </p:txBody>
      </p:sp>
      <p:sp>
        <p:nvSpPr>
          <p:cNvPr id="10" name="TextBox 9"/>
          <p:cNvSpPr txBox="1"/>
          <p:nvPr/>
        </p:nvSpPr>
        <p:spPr>
          <a:xfrm>
            <a:off x="7680960" y="3401568"/>
            <a:ext cx="3474720" cy="256032"/>
          </a:xfrm>
          <a:prstGeom prst="rect">
            <a:avLst/>
          </a:prstGeom>
          <a:noFill/>
        </p:spPr>
        <p:txBody>
          <a:bodyPr wrap="square" lIns="25400" rIns="25400" tIns="12700" bIns="12700">
            <a:spAutoFit/>
          </a:bodyPr>
          <a:lstStyle/>
          <a:p>
            <a:r>
              <a:rPr sz="1220" b="1">
                <a:solidFill>
                  <a:srgbClr val="27486E"/>
                </a:solidFill>
                <a:latin typeface="Arial"/>
              </a:rPr>
              <a:t>Puntos a explicar</a:t>
            </a:r>
          </a:p>
        </p:txBody>
      </p:sp>
      <p:sp>
        <p:nvSpPr>
          <p:cNvPr id="11" name="TextBox 10"/>
          <p:cNvSpPr txBox="1"/>
          <p:nvPr/>
        </p:nvSpPr>
        <p:spPr>
          <a:xfrm>
            <a:off x="7772400" y="3675887"/>
            <a:ext cx="3429000" cy="2011680"/>
          </a:xfrm>
          <a:prstGeom prst="rect">
            <a:avLst/>
          </a:prstGeom>
          <a:noFill/>
        </p:spPr>
        <p:txBody>
          <a:bodyPr wrap="square" lIns="25400" rIns="25400" tIns="12700" bIns="12700">
            <a:spAutoFit/>
          </a:bodyPr>
          <a:lstStyle/>
          <a:p>
            <a:pPr>
              <a:spcAft>
                <a:spcPts val="300"/>
              </a:spcAft>
              <a:defRPr sz="1019">
                <a:solidFill>
                  <a:srgbClr val="303030"/>
                </a:solidFill>
                <a:latin typeface="Arial"/>
              </a:defRPr>
            </a:pPr>
            <a:r>
              <a:t>Se ubica la hoja de recursos dentro del programa.</a:t>
            </a:r>
          </a:p>
          <a:p>
            <a:pPr>
              <a:spcAft>
                <a:spcPts val="300"/>
              </a:spcAft>
              <a:defRPr sz="1019">
                <a:solidFill>
                  <a:srgbClr val="303030"/>
                </a:solidFill>
                <a:latin typeface="Arial"/>
              </a:defRPr>
            </a:pPr>
            <a:r>
              <a:t>Aquí se registrarían responsables, tipo de recurso y costos.</a:t>
            </a:r>
          </a:p>
          <a:p>
            <a:pPr>
              <a:spcAft>
                <a:spcPts val="300"/>
              </a:spcAft>
              <a:defRPr sz="1019">
                <a:solidFill>
                  <a:srgbClr val="303030"/>
                </a:solidFill>
                <a:latin typeface="Arial"/>
              </a:defRPr>
            </a:pPr>
            <a:r>
              <a:t>La vista permite relacionar recursos con las tareas del proyecto.</a:t>
            </a:r>
          </a:p>
          <a:p>
            <a:pPr>
              <a:spcAft>
                <a:spcPts val="300"/>
              </a:spcAft>
              <a:defRPr sz="1019">
                <a:solidFill>
                  <a:srgbClr val="303030"/>
                </a:solidFill>
                <a:latin typeface="Arial"/>
              </a:defRPr>
            </a:pPr>
            <a:r>
              <a:t>Ayuda a comprender que la planeación también considera personal y apoyo técnico.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Diagrama de red y ruta crítica</a:t>
            </a:r>
          </a:p>
        </p:txBody>
      </p:sp>
      <p:sp>
        <p:nvSpPr>
          <p:cNvPr id="5" name="TextBox 4"/>
          <p:cNvSpPr txBox="1"/>
          <p:nvPr/>
        </p:nvSpPr>
        <p:spPr>
          <a:xfrm>
            <a:off x="713232" y="804672"/>
            <a:ext cx="10607040" cy="320040"/>
          </a:xfrm>
          <a:prstGeom prst="rect">
            <a:avLst/>
          </a:prstGeom>
          <a:noFill/>
        </p:spPr>
        <p:txBody>
          <a:bodyPr wrap="square" lIns="25400" rIns="25400" tIns="12700" bIns="12700">
            <a:spAutoFit/>
          </a:bodyPr>
          <a:lstStyle/>
          <a:p>
            <a:r>
              <a:rPr sz="1030" b="0">
                <a:solidFill>
                  <a:srgbClr val="545454"/>
                </a:solidFill>
                <a:latin typeface="Arial"/>
              </a:rPr>
              <a:t>Vista de diagrama de red empleada para explicar el seguimiento lógico de actividades y la ruta crítica.</a:t>
            </a:r>
          </a:p>
        </p:txBody>
      </p:sp>
      <p:pic>
        <p:nvPicPr>
          <p:cNvPr id="6" name="Picture 5" descr="plantilla_de_diagrama_de_red_en_projectlibre.png"/>
          <p:cNvPicPr>
            <a:picLocks noChangeAspect="1"/>
          </p:cNvPicPr>
          <p:nvPr/>
        </p:nvPicPr>
        <p:blipFill>
          <a:blip r:embed="rId2"/>
          <a:stretch>
            <a:fillRect/>
          </a:stretch>
        </p:blipFill>
        <p:spPr>
          <a:xfrm>
            <a:off x="713232" y="1170432"/>
            <a:ext cx="6583680" cy="3705288"/>
          </a:xfrm>
          <a:prstGeom prst="rect">
            <a:avLst/>
          </a:prstGeom>
        </p:spPr>
      </p:pic>
      <p:sp>
        <p:nvSpPr>
          <p:cNvPr id="7" name="Rounded Rectangle 6"/>
          <p:cNvSpPr/>
          <p:nvPr/>
        </p:nvSpPr>
        <p:spPr>
          <a:xfrm>
            <a:off x="7479792" y="1170432"/>
            <a:ext cx="4050791" cy="4919472"/>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53312"/>
            <a:ext cx="3566160" cy="274320"/>
          </a:xfrm>
          <a:prstGeom prst="rect">
            <a:avLst/>
          </a:prstGeom>
          <a:noFill/>
        </p:spPr>
        <p:txBody>
          <a:bodyPr wrap="square" lIns="25400" rIns="25400" tIns="12700" bIns="12700">
            <a:spAutoFit/>
          </a:bodyPr>
          <a:lstStyle/>
          <a:p>
            <a:r>
              <a:rPr sz="1250" b="1">
                <a:solidFill>
                  <a:srgbClr val="27486E"/>
                </a:solidFill>
                <a:latin typeface="Arial"/>
              </a:rPr>
              <a:t>Descripción de lo realizado</a:t>
            </a:r>
          </a:p>
        </p:txBody>
      </p:sp>
      <p:sp>
        <p:nvSpPr>
          <p:cNvPr id="9" name="TextBox 8"/>
          <p:cNvSpPr txBox="1"/>
          <p:nvPr/>
        </p:nvSpPr>
        <p:spPr>
          <a:xfrm>
            <a:off x="7699248" y="1673352"/>
            <a:ext cx="3493008" cy="1645920"/>
          </a:xfrm>
          <a:prstGeom prst="rect">
            <a:avLst/>
          </a:prstGeom>
          <a:noFill/>
        </p:spPr>
        <p:txBody>
          <a:bodyPr wrap="square" lIns="25400" rIns="25400" tIns="12700" bIns="12700">
            <a:spAutoFit/>
          </a:bodyPr>
          <a:lstStyle/>
          <a:p>
            <a:r>
              <a:rPr sz="1030" b="0">
                <a:solidFill>
                  <a:srgbClr val="303030"/>
                </a:solidFill>
                <a:latin typeface="Arial"/>
              </a:rPr>
              <a:t>Finalmente se revisó la vista del diagrama de red, que sirve para representar la secuencia lógica de las actividades. En esta práctica se utilizó solo como plantilla visual, sin datos dentro de los nodos, para señalar que en este espacio puede analizarse el orden del proyecto y la ruta crítica. De esta manera se explicó dónde se observarían las dependencias y qué actividades requieren mayor atención.</a:t>
            </a:r>
          </a:p>
        </p:txBody>
      </p:sp>
      <p:sp>
        <p:nvSpPr>
          <p:cNvPr id="10" name="TextBox 9"/>
          <p:cNvSpPr txBox="1"/>
          <p:nvPr/>
        </p:nvSpPr>
        <p:spPr>
          <a:xfrm>
            <a:off x="7680960" y="3401568"/>
            <a:ext cx="3474720" cy="256032"/>
          </a:xfrm>
          <a:prstGeom prst="rect">
            <a:avLst/>
          </a:prstGeom>
          <a:noFill/>
        </p:spPr>
        <p:txBody>
          <a:bodyPr wrap="square" lIns="25400" rIns="25400" tIns="12700" bIns="12700">
            <a:spAutoFit/>
          </a:bodyPr>
          <a:lstStyle/>
          <a:p>
            <a:r>
              <a:rPr sz="1220" b="1">
                <a:solidFill>
                  <a:srgbClr val="27486E"/>
                </a:solidFill>
                <a:latin typeface="Arial"/>
              </a:rPr>
              <a:t>Puntos a explicar</a:t>
            </a:r>
          </a:p>
        </p:txBody>
      </p:sp>
      <p:sp>
        <p:nvSpPr>
          <p:cNvPr id="11" name="TextBox 10"/>
          <p:cNvSpPr txBox="1"/>
          <p:nvPr/>
        </p:nvSpPr>
        <p:spPr>
          <a:xfrm>
            <a:off x="7772400" y="3675887"/>
            <a:ext cx="3429000" cy="2011680"/>
          </a:xfrm>
          <a:prstGeom prst="rect">
            <a:avLst/>
          </a:prstGeom>
          <a:noFill/>
        </p:spPr>
        <p:txBody>
          <a:bodyPr wrap="square" lIns="25400" rIns="25400" tIns="12700" bIns="12700">
            <a:spAutoFit/>
          </a:bodyPr>
          <a:lstStyle/>
          <a:p>
            <a:pPr>
              <a:spcAft>
                <a:spcPts val="300"/>
              </a:spcAft>
              <a:defRPr sz="1019">
                <a:solidFill>
                  <a:srgbClr val="303030"/>
                </a:solidFill>
                <a:latin typeface="Arial"/>
              </a:defRPr>
            </a:pPr>
            <a:r>
              <a:t>La red representa actividades y relaciones de dependencia.</a:t>
            </a:r>
          </a:p>
          <a:p>
            <a:pPr>
              <a:spcAft>
                <a:spcPts val="300"/>
              </a:spcAft>
              <a:defRPr sz="1019">
                <a:solidFill>
                  <a:srgbClr val="303030"/>
                </a:solidFill>
                <a:latin typeface="Arial"/>
              </a:defRPr>
            </a:pPr>
            <a:r>
              <a:t>Permite analizar el orden lógico del proyecto.</a:t>
            </a:r>
          </a:p>
          <a:p>
            <a:pPr>
              <a:spcAft>
                <a:spcPts val="300"/>
              </a:spcAft>
              <a:defRPr sz="1019">
                <a:solidFill>
                  <a:srgbClr val="303030"/>
                </a:solidFill>
                <a:latin typeface="Arial"/>
              </a:defRPr>
            </a:pPr>
            <a:r>
              <a:t>En esta vista se puede identificar la ruta crítica.</a:t>
            </a:r>
          </a:p>
          <a:p>
            <a:pPr>
              <a:spcAft>
                <a:spcPts val="300"/>
              </a:spcAft>
              <a:defRPr sz="1019">
                <a:solidFill>
                  <a:srgbClr val="303030"/>
                </a:solidFill>
                <a:latin typeface="Arial"/>
              </a:defRPr>
            </a:pPr>
            <a:r>
              <a:t>Se utilizó como apoyo visual para explicar el control del tiempo.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Aplicación de la herramienta a los proyectos</a:t>
            </a:r>
          </a:p>
        </p:txBody>
      </p:sp>
      <p:sp>
        <p:nvSpPr>
          <p:cNvPr id="5" name="Rounded Rectangle 4"/>
          <p:cNvSpPr/>
          <p:nvPr/>
        </p:nvSpPr>
        <p:spPr>
          <a:xfrm>
            <a:off x="822960" y="1234440"/>
            <a:ext cx="3291840" cy="443484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34840" y="1234440"/>
            <a:ext cx="3291840" cy="443484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0" y="1234440"/>
            <a:ext cx="3291840" cy="443484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481328"/>
            <a:ext cx="2377440" cy="228600"/>
          </a:xfrm>
          <a:prstGeom prst="rect">
            <a:avLst/>
          </a:prstGeom>
          <a:noFill/>
        </p:spPr>
        <p:txBody>
          <a:bodyPr wrap="square" lIns="25400" rIns="25400" tIns="12700" bIns="12700">
            <a:spAutoFit/>
          </a:bodyPr>
          <a:lstStyle/>
          <a:p>
            <a:r>
              <a:rPr sz="1300" b="1">
                <a:solidFill>
                  <a:srgbClr val="27486E"/>
                </a:solidFill>
                <a:latin typeface="Arial"/>
              </a:rPr>
              <a:t>EstacionaTec</a:t>
            </a:r>
          </a:p>
        </p:txBody>
      </p:sp>
      <p:sp>
        <p:nvSpPr>
          <p:cNvPr id="9" name="TextBox 8"/>
          <p:cNvSpPr txBox="1"/>
          <p:nvPr/>
        </p:nvSpPr>
        <p:spPr>
          <a:xfrm>
            <a:off x="960120" y="1847088"/>
            <a:ext cx="2834640" cy="2377440"/>
          </a:xfrm>
          <a:prstGeom prst="rect">
            <a:avLst/>
          </a:prstGeom>
          <a:noFill/>
        </p:spPr>
        <p:txBody>
          <a:bodyPr wrap="square" lIns="25400" rIns="25400" tIns="12700" bIns="12700">
            <a:spAutoFit/>
          </a:bodyPr>
          <a:lstStyle/>
          <a:p>
            <a:pPr>
              <a:spcAft>
                <a:spcPts val="300"/>
              </a:spcAft>
              <a:defRPr sz="1040">
                <a:solidFill>
                  <a:srgbClr val="303030"/>
                </a:solidFill>
                <a:latin typeface="Arial"/>
              </a:defRPr>
            </a:pPr>
            <a:r>
              <a:t>Se tomaría la plantilla del cronograma para organizar el sistema de estacionamiento.</a:t>
            </a:r>
          </a:p>
          <a:p>
            <a:pPr>
              <a:spcAft>
                <a:spcPts val="300"/>
              </a:spcAft>
              <a:defRPr sz="1040">
                <a:solidFill>
                  <a:srgbClr val="303030"/>
                </a:solidFill>
                <a:latin typeface="Arial"/>
              </a:defRPr>
            </a:pPr>
            <a:r>
              <a:t>Ahí se registrarían actividades como requerimientos, diseño, desarrollo, pruebas y entrega.</a:t>
            </a:r>
          </a:p>
        </p:txBody>
      </p:sp>
      <p:sp>
        <p:nvSpPr>
          <p:cNvPr id="10" name="TextBox 9"/>
          <p:cNvSpPr txBox="1"/>
          <p:nvPr/>
        </p:nvSpPr>
        <p:spPr>
          <a:xfrm>
            <a:off x="4663440" y="1481328"/>
            <a:ext cx="2377440" cy="228600"/>
          </a:xfrm>
          <a:prstGeom prst="rect">
            <a:avLst/>
          </a:prstGeom>
          <a:noFill/>
        </p:spPr>
        <p:txBody>
          <a:bodyPr wrap="square" lIns="25400" rIns="25400" tIns="12700" bIns="12700">
            <a:spAutoFit/>
          </a:bodyPr>
          <a:lstStyle/>
          <a:p>
            <a:r>
              <a:rPr sz="1300" b="1">
                <a:solidFill>
                  <a:srgbClr val="27486E"/>
                </a:solidFill>
                <a:latin typeface="Arial"/>
              </a:rPr>
              <a:t>Rinconcito VC</a:t>
            </a:r>
          </a:p>
        </p:txBody>
      </p:sp>
      <p:sp>
        <p:nvSpPr>
          <p:cNvPr id="11" name="TextBox 10"/>
          <p:cNvSpPr txBox="1"/>
          <p:nvPr/>
        </p:nvSpPr>
        <p:spPr>
          <a:xfrm>
            <a:off x="4572000" y="1847088"/>
            <a:ext cx="2834640" cy="2377440"/>
          </a:xfrm>
          <a:prstGeom prst="rect">
            <a:avLst/>
          </a:prstGeom>
          <a:noFill/>
        </p:spPr>
        <p:txBody>
          <a:bodyPr wrap="square" lIns="25400" rIns="25400" tIns="12700" bIns="12700">
            <a:spAutoFit/>
          </a:bodyPr>
          <a:lstStyle/>
          <a:p>
            <a:pPr>
              <a:spcAft>
                <a:spcPts val="300"/>
              </a:spcAft>
              <a:defRPr sz="1040">
                <a:solidFill>
                  <a:srgbClr val="303030"/>
                </a:solidFill>
                <a:latin typeface="Arial"/>
              </a:defRPr>
            </a:pPr>
            <a:r>
              <a:t>La herramienta serviría para organizar fases del marketplace de café.</a:t>
            </a:r>
          </a:p>
          <a:p>
            <a:pPr>
              <a:spcAft>
                <a:spcPts val="300"/>
              </a:spcAft>
              <a:defRPr sz="1040">
                <a:solidFill>
                  <a:srgbClr val="303030"/>
                </a:solidFill>
                <a:latin typeface="Arial"/>
              </a:defRPr>
            </a:pPr>
            <a:r>
              <a:t>También ayudaría a visualizar tiempos y posibles responsables del proyecto.</a:t>
            </a:r>
          </a:p>
        </p:txBody>
      </p:sp>
      <p:sp>
        <p:nvSpPr>
          <p:cNvPr id="12" name="TextBox 11"/>
          <p:cNvSpPr txBox="1"/>
          <p:nvPr/>
        </p:nvSpPr>
        <p:spPr>
          <a:xfrm>
            <a:off x="8275320" y="1481328"/>
            <a:ext cx="2377440" cy="228600"/>
          </a:xfrm>
          <a:prstGeom prst="rect">
            <a:avLst/>
          </a:prstGeom>
          <a:noFill/>
        </p:spPr>
        <p:txBody>
          <a:bodyPr wrap="square" lIns="25400" rIns="25400" tIns="12700" bIns="12700">
            <a:spAutoFit/>
          </a:bodyPr>
          <a:lstStyle/>
          <a:p>
            <a:r>
              <a:rPr sz="1300" b="1">
                <a:solidFill>
                  <a:srgbClr val="27486E"/>
                </a:solidFill>
                <a:latin typeface="Arial"/>
              </a:rPr>
              <a:t>LocalMarket</a:t>
            </a:r>
          </a:p>
        </p:txBody>
      </p:sp>
      <p:sp>
        <p:nvSpPr>
          <p:cNvPr id="13" name="TextBox 12"/>
          <p:cNvSpPr txBox="1"/>
          <p:nvPr/>
        </p:nvSpPr>
        <p:spPr>
          <a:xfrm>
            <a:off x="8183879" y="1847088"/>
            <a:ext cx="2834640" cy="2377440"/>
          </a:xfrm>
          <a:prstGeom prst="rect">
            <a:avLst/>
          </a:prstGeom>
          <a:noFill/>
        </p:spPr>
        <p:txBody>
          <a:bodyPr wrap="square" lIns="25400" rIns="25400" tIns="12700" bIns="12700">
            <a:spAutoFit/>
          </a:bodyPr>
          <a:lstStyle/>
          <a:p>
            <a:pPr>
              <a:spcAft>
                <a:spcPts val="300"/>
              </a:spcAft>
              <a:defRPr sz="1040">
                <a:solidFill>
                  <a:srgbClr val="303030"/>
                </a:solidFill>
                <a:latin typeface="Arial"/>
              </a:defRPr>
            </a:pPr>
            <a:r>
              <a:t>Se usaría para ordenar las actividades del sistema de ventas y entregas.</a:t>
            </a:r>
          </a:p>
          <a:p>
            <a:pPr>
              <a:spcAft>
                <a:spcPts val="300"/>
              </a:spcAft>
              <a:defRPr sz="1040">
                <a:solidFill>
                  <a:srgbClr val="303030"/>
                </a:solidFill>
                <a:latin typeface="Arial"/>
              </a:defRPr>
            </a:pPr>
            <a:r>
              <a:t>El diagrama de red apoyaría el seguimiento de dependencias y control del tiempo.</a:t>
            </a:r>
          </a:p>
        </p:txBody>
      </p:sp>
      <p:sp>
        <p:nvSpPr>
          <p:cNvPr id="14" name="TextBox 13"/>
          <p:cNvSpPr txBox="1"/>
          <p:nvPr/>
        </p:nvSpPr>
        <p:spPr>
          <a:xfrm>
            <a:off x="896112" y="5760720"/>
            <a:ext cx="10287000" cy="384048"/>
          </a:xfrm>
          <a:prstGeom prst="rect">
            <a:avLst/>
          </a:prstGeom>
          <a:noFill/>
        </p:spPr>
        <p:txBody>
          <a:bodyPr wrap="square" lIns="25400" rIns="25400" tIns="12700" bIns="12700">
            <a:spAutoFit/>
          </a:bodyPr>
          <a:lstStyle/>
          <a:p>
            <a:r>
              <a:rPr sz="1060" b="0">
                <a:solidFill>
                  <a:srgbClr val="545454"/>
                </a:solidFill>
                <a:latin typeface="Arial"/>
              </a:rPr>
              <a:t>De esta manera, las imágenes vacías de ProjectLibre se utilizaron como base visual para explicar en qué parte del programa se trabajaría cada elemento de la planeación de los tres proyectos.</a:t>
            </a:r>
          </a:p>
        </p:txBody>
      </p:sp>
      <p:sp>
        <p:nvSpPr>
          <p:cNvPr id="15" name="TextBox 14"/>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Conclusión</a:t>
            </a:r>
          </a:p>
        </p:txBody>
      </p:sp>
      <p:sp>
        <p:nvSpPr>
          <p:cNvPr id="5" name="TextBox 4"/>
          <p:cNvSpPr txBox="1"/>
          <p:nvPr/>
        </p:nvSpPr>
        <p:spPr>
          <a:xfrm>
            <a:off x="877824" y="1078992"/>
            <a:ext cx="10332720" cy="4389120"/>
          </a:xfrm>
          <a:prstGeom prst="rect">
            <a:avLst/>
          </a:prstGeom>
          <a:noFill/>
        </p:spPr>
        <p:txBody>
          <a:bodyPr wrap="square" lIns="25400" rIns="25400" tIns="12700" bIns="12700">
            <a:spAutoFit/>
          </a:bodyPr>
          <a:lstStyle/>
          <a:p>
            <a:r>
              <a:rPr sz="1410" b="0">
                <a:solidFill>
                  <a:srgbClr val="303030"/>
                </a:solidFill>
                <a:latin typeface="Arial"/>
              </a:rPr>
              <a:t>Con este reporte se logró explicar el uso básico de ProjectLibre como herramienta de apoyo para la planificación de proyectos de TI. Aunque las imágenes no contienen información capturada, sí permiten identificar claramente las secciones del programa y comprender cómo se utilizarían para registrar tareas, elaborar cronogramas, organizar recursos y analizar la ruta crítica.
En conclusión, la práctica permitió reconocer la estructura del programa y relacionarla con los proyectos trabajados en clase. Esto ayuda a que, al momento de llenar la información real, ya se tenga claro qué se hace en cada vista y cómo puede apoyarse la organización del proyecto.</a:t>
            </a:r>
          </a:p>
        </p:txBody>
      </p:sp>
      <p:sp>
        <p:nvSpPr>
          <p:cNvPr id="6" name="TextBox 5"/>
          <p:cNvSpPr txBox="1"/>
          <p:nvPr/>
        </p:nvSpPr>
        <p:spPr>
          <a:xfrm>
            <a:off x="877824" y="5623560"/>
            <a:ext cx="10149840" cy="320040"/>
          </a:xfrm>
          <a:prstGeom prst="rect">
            <a:avLst/>
          </a:prstGeom>
          <a:noFill/>
        </p:spPr>
        <p:txBody>
          <a:bodyPr wrap="square" lIns="25400" rIns="25400" tIns="12700" bIns="12700">
            <a:spAutoFit/>
          </a:bodyPr>
          <a:lstStyle/>
          <a:p>
            <a:r>
              <a:rPr sz="1000" b="0">
                <a:solidFill>
                  <a:srgbClr val="545454"/>
                </a:solidFill>
                <a:latin typeface="Arial"/>
              </a:rPr>
              <a:t>Fuentes de apoyo: materiales de la Unidad 3 de Gestión de Proyectos de TI y referencia visual de ProjectLibre utilizada como plantilla.</a:t>
            </a:r>
          </a:p>
        </p:txBody>
      </p:sp>
      <p:sp>
        <p:nvSpPr>
          <p:cNvPr id="7" name="TextBox 6"/>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